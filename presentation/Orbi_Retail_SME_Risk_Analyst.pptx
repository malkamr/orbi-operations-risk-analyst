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Trebuchet MS Bold" charset="1" panose="020B0703020202020204"/>
      <p:regular r:id="rId17"/>
    </p:embeddedFont>
    <p:embeddedFont>
      <p:font typeface="Calibri (MS)" charset="1" panose="020F050202020403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24" Target="notesSlides/notesSlide7.xml" Type="http://schemas.openxmlformats.org/officeDocument/2006/relationships/notesSlide"/><Relationship Id="rId25"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Orbi is an AI Agent built to help retail SMEs detect, prioritize, and respond to operational risks before they disrupt customer orders, inventory availability, or supplier commitments. Core inputs: Sales, Inventory, Customer Orders, Suppliers, Purchase Orders. Core output: Risks → Evidence → Priority → Recommended Action. All numeric examples in this deck are synthetic demo data, not real-company claims.</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Examples: a delayed supplier shipment might only become visible when inventory is already running low. A sudden demand increase might not be connected to an upcoming customer order. Orbi connects these signals and turns them into early, prioritized operational intelligence without requiring a dedicated data science or analytics team.</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workflow replaced: Collect → Compare → Investigate → Prioritize → Report becomes Scan → Analyze → Prioritize → Recommend. Human approval remains required.</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Orbi recommends. Humans decide. The agent does not automatically place orders, cancel orders, or contact customers. Synthetic demonstration only. Estimated coverage is indicative. The demo flagged an incomplete 14-day lookback and a P003 data discrepancy; the verified unfulfilled quantity is 25 units, and the available data may not support a reliable conclusion in every case.</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Business impact is presented as capabilities, not measured results. The demo does not measure time saved, financial losses, or percentage reductions; no such claims are made.</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Synthetic dataset: 10 SKUs, 6 suppliers, 8 customer orders, 6 inbound purchase orders. Includes supplier reliability and delays; fulfillment status and priority; PO quantities, suppliers, ETAs and statuses. Findings: 1 Critical, 3 High, 2 Medium-level watchlist signals. P003: 45 units on hand; 25 verified unfulfilled units; 80-unit inbound delayed; supplier at 68% on-time; estimated coverage ~4.1 days. P007: 35 units on hand; 15-unit high-priority order pending; ~3.9 days. P001: 120 units on hand; 10-unit priority order pending; ~4.2 days. The agent flags data limitations: incomplete 14-day lookback and a P003 discrepancy. These are scenario findings, not measured real-company performance, time savings or financial-loss reductions.</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responsible team approves or adjusts the recommended action. Orbi recommends; humans decide. It does not automatically place or cancel orders or contact customers. The loop repeats with updated business data. Orbi also tells the operator when the available data is not enough to make a reliable conclusion.</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Closing. Retail SMEs do not need more data; they need to know what their data is telling them before it is too late. Orbi turns scattered operational signals into prioritized actions. Detect earlier. Decide faster. Act before disruption. Numeric findings throughout are indicative synthetic demonstration data, not live business performance metrics.</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02C30"/>
        </a:solidFill>
      </p:bgPr>
    </p:bg>
    <p:spTree>
      <p:nvGrpSpPr>
        <p:cNvPr id="1" name=""/>
        <p:cNvGrpSpPr/>
        <p:nvPr/>
      </p:nvGrpSpPr>
      <p:grpSpPr>
        <a:xfrm>
          <a:off x="0" y="0"/>
          <a:ext cx="0" cy="0"/>
          <a:chOff x="0" y="0"/>
          <a:chExt cx="0" cy="0"/>
        </a:xfrm>
      </p:grpSpPr>
      <p:grpSp>
        <p:nvGrpSpPr>
          <p:cNvPr name="Group 2" id="2"/>
          <p:cNvGrpSpPr/>
          <p:nvPr/>
        </p:nvGrpSpPr>
        <p:grpSpPr>
          <a:xfrm rot="0">
            <a:off x="822960" y="370332"/>
            <a:ext cx="1371600" cy="411480"/>
            <a:chOff x="0" y="0"/>
            <a:chExt cx="1828800" cy="548640"/>
          </a:xfrm>
        </p:grpSpPr>
        <p:sp>
          <p:nvSpPr>
            <p:cNvPr name="Freeform 3" id="3"/>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4" id="4"/>
            <p:cNvSpPr txBox="true"/>
            <p:nvPr/>
          </p:nvSpPr>
          <p:spPr>
            <a:xfrm>
              <a:off x="0" y="-19050"/>
              <a:ext cx="1828800" cy="567690"/>
            </a:xfrm>
            <a:prstGeom prst="rect">
              <a:avLst/>
            </a:prstGeom>
          </p:spPr>
          <p:txBody>
            <a:bodyPr anchor="ctr" rtlCol="false" tIns="0" lIns="0" bIns="0" rIns="0"/>
            <a:lstStyle/>
            <a:p>
              <a:pPr algn="l">
                <a:lnSpc>
                  <a:spcPts val="2700"/>
                </a:lnSpc>
              </a:pPr>
              <a:r>
                <a:rPr lang="en-US" sz="2250" b="true">
                  <a:solidFill>
                    <a:srgbClr val="CFE8E3"/>
                  </a:solidFill>
                  <a:latin typeface="Trebuchet MS Bold"/>
                  <a:ea typeface="Trebuchet MS Bold"/>
                  <a:cs typeface="Trebuchet MS Bold"/>
                  <a:sym typeface="Trebuchet MS Bold"/>
                </a:rPr>
                <a:t>ORBI</a:t>
              </a:r>
            </a:p>
          </p:txBody>
        </p:sp>
      </p:grpSp>
      <p:grpSp>
        <p:nvGrpSpPr>
          <p:cNvPr name="Group 5" id="5"/>
          <p:cNvGrpSpPr/>
          <p:nvPr/>
        </p:nvGrpSpPr>
        <p:grpSpPr>
          <a:xfrm rot="0">
            <a:off x="2263140" y="370332"/>
            <a:ext cx="13716000" cy="411480"/>
            <a:chOff x="0" y="0"/>
            <a:chExt cx="18288000" cy="548640"/>
          </a:xfrm>
        </p:grpSpPr>
        <p:sp>
          <p:nvSpPr>
            <p:cNvPr name="Freeform 6" id="6"/>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7" id="7"/>
            <p:cNvSpPr txBox="true"/>
            <p:nvPr/>
          </p:nvSpPr>
          <p:spPr>
            <a:xfrm>
              <a:off x="0" y="-47625"/>
              <a:ext cx="18288000" cy="596265"/>
            </a:xfrm>
            <a:prstGeom prst="rect">
              <a:avLst/>
            </a:prstGeom>
          </p:spPr>
          <p:txBody>
            <a:bodyPr anchor="ctr" rtlCol="false" tIns="0" lIns="0" bIns="0" rIns="0"/>
            <a:lstStyle/>
            <a:p>
              <a:pPr algn="l">
                <a:lnSpc>
                  <a:spcPts val="2340"/>
                </a:lnSpc>
              </a:pPr>
              <a:r>
                <a:rPr lang="en-US" sz="1950">
                  <a:solidFill>
                    <a:srgbClr val="B9CED1"/>
                  </a:solidFill>
                  <a:latin typeface="Calibri (MS)"/>
                  <a:ea typeface="Calibri (MS)"/>
                  <a:cs typeface="Calibri (MS)"/>
                  <a:sym typeface="Calibri (MS)"/>
                </a:rPr>
                <a:t>OPERATIONS RISK ANALYST</a:t>
              </a:r>
            </a:p>
          </p:txBody>
        </p:sp>
      </p:grpSp>
      <p:sp>
        <p:nvSpPr>
          <p:cNvPr name="AutoShape 8" id="8"/>
          <p:cNvSpPr/>
          <p:nvPr/>
        </p:nvSpPr>
        <p:spPr>
          <a:xfrm rot="5880">
            <a:off x="808663" y="9632823"/>
            <a:ext cx="16624964" cy="0"/>
          </a:xfrm>
          <a:prstGeom prst="line">
            <a:avLst/>
          </a:prstGeom>
          <a:ln cap="rnd" w="19050">
            <a:solidFill>
              <a:srgbClr val="46565B"/>
            </a:solidFill>
            <a:prstDash val="solid"/>
            <a:headEnd type="none" len="sm" w="sm"/>
            <a:tailEnd type="none" len="sm" w="sm"/>
          </a:ln>
        </p:spPr>
      </p:sp>
      <p:grpSp>
        <p:nvGrpSpPr>
          <p:cNvPr name="Group 9" id="9"/>
          <p:cNvGrpSpPr/>
          <p:nvPr/>
        </p:nvGrpSpPr>
        <p:grpSpPr>
          <a:xfrm rot="0">
            <a:off x="808675" y="9562338"/>
            <a:ext cx="12344400" cy="795528"/>
            <a:chOff x="0" y="0"/>
            <a:chExt cx="16459200" cy="1060704"/>
          </a:xfrm>
        </p:grpSpPr>
        <p:sp>
          <p:nvSpPr>
            <p:cNvPr name="Freeform 10" id="10"/>
            <p:cNvSpPr/>
            <p:nvPr/>
          </p:nvSpPr>
          <p:spPr>
            <a:xfrm flipH="false" flipV="false" rot="0">
              <a:off x="0" y="0"/>
              <a:ext cx="16459200" cy="1060704"/>
            </a:xfrm>
            <a:custGeom>
              <a:avLst/>
              <a:gdLst/>
              <a:ahLst/>
              <a:cxnLst/>
              <a:rect r="r" b="b" t="t" l="l"/>
              <a:pathLst>
                <a:path h="1060704" w="16459200">
                  <a:moveTo>
                    <a:pt x="0" y="0"/>
                  </a:moveTo>
                  <a:lnTo>
                    <a:pt x="16459200" y="0"/>
                  </a:lnTo>
                  <a:lnTo>
                    <a:pt x="16459200" y="1060704"/>
                  </a:lnTo>
                  <a:lnTo>
                    <a:pt x="0" y="1060704"/>
                  </a:lnTo>
                  <a:close/>
                </a:path>
              </a:pathLst>
            </a:custGeom>
            <a:blipFill>
              <a:blip r:embed="rId3">
                <a:alphaModFix amt="0"/>
              </a:blip>
              <a:stretch>
                <a:fillRect l="0" t="-285112" r="0" b="-219595"/>
              </a:stretch>
            </a:blipFill>
          </p:spPr>
        </p:sp>
        <p:sp>
          <p:nvSpPr>
            <p:cNvPr name="TextBox 11" id="11"/>
            <p:cNvSpPr txBox="true"/>
            <p:nvPr/>
          </p:nvSpPr>
          <p:spPr>
            <a:xfrm>
              <a:off x="0" y="-66675"/>
              <a:ext cx="16459200" cy="1127379"/>
            </a:xfrm>
            <a:prstGeom prst="rect">
              <a:avLst/>
            </a:prstGeom>
          </p:spPr>
          <p:txBody>
            <a:bodyPr anchor="ctr" rtlCol="false" tIns="0" lIns="0" bIns="0" rIns="0"/>
            <a:lstStyle/>
            <a:p>
              <a:pPr algn="l">
                <a:lnSpc>
                  <a:spcPts val="3659"/>
                </a:lnSpc>
              </a:pPr>
              <a:r>
                <a:rPr lang="en-US" sz="3049">
                  <a:solidFill>
                    <a:srgbClr val="B9CED1"/>
                  </a:solidFill>
                  <a:latin typeface="Calibri (MS)"/>
                  <a:ea typeface="Calibri (MS)"/>
                  <a:cs typeface="Calibri (MS)"/>
                  <a:sym typeface="Calibri (MS)"/>
                </a:rPr>
                <a:t>Created by Malk Amr </a:t>
              </a:r>
            </a:p>
          </p:txBody>
        </p:sp>
      </p:grpSp>
      <p:grpSp>
        <p:nvGrpSpPr>
          <p:cNvPr name="Group 12" id="12"/>
          <p:cNvGrpSpPr/>
          <p:nvPr/>
        </p:nvGrpSpPr>
        <p:grpSpPr>
          <a:xfrm rot="0">
            <a:off x="15979140" y="9752076"/>
            <a:ext cx="1440180" cy="342900"/>
            <a:chOff x="0" y="0"/>
            <a:chExt cx="1920240" cy="457200"/>
          </a:xfrm>
        </p:grpSpPr>
        <p:sp>
          <p:nvSpPr>
            <p:cNvPr name="Freeform 13" id="13"/>
            <p:cNvSpPr/>
            <p:nvPr/>
          </p:nvSpPr>
          <p:spPr>
            <a:xfrm flipH="false" flipV="false" rot="0">
              <a:off x="0" y="0"/>
              <a:ext cx="1920240" cy="457200"/>
            </a:xfrm>
            <a:custGeom>
              <a:avLst/>
              <a:gdLst/>
              <a:ahLst/>
              <a:cxnLst/>
              <a:rect r="r" b="b" t="t" l="l"/>
              <a:pathLst>
                <a:path h="457200" w="1920240">
                  <a:moveTo>
                    <a:pt x="0" y="0"/>
                  </a:moveTo>
                  <a:lnTo>
                    <a:pt x="1920240" y="0"/>
                  </a:lnTo>
                  <a:lnTo>
                    <a:pt x="1920240" y="457200"/>
                  </a:lnTo>
                  <a:lnTo>
                    <a:pt x="0" y="457200"/>
                  </a:lnTo>
                  <a:close/>
                </a:path>
              </a:pathLst>
            </a:custGeom>
            <a:blipFill>
              <a:blip r:embed="rId3">
                <a:alphaModFix amt="0"/>
              </a:blip>
              <a:stretch>
                <a:fillRect l="0" t="-31837" r="0" b="-31837"/>
              </a:stretch>
            </a:blipFill>
          </p:spPr>
        </p:sp>
        <p:sp>
          <p:nvSpPr>
            <p:cNvPr name="TextBox 14" id="14"/>
            <p:cNvSpPr txBox="true"/>
            <p:nvPr/>
          </p:nvSpPr>
          <p:spPr>
            <a:xfrm>
              <a:off x="0" y="-38100"/>
              <a:ext cx="1920240" cy="495300"/>
            </a:xfrm>
            <a:prstGeom prst="rect">
              <a:avLst/>
            </a:prstGeom>
          </p:spPr>
          <p:txBody>
            <a:bodyPr anchor="ctr" rtlCol="false" tIns="0" lIns="0" bIns="0" rIns="0"/>
            <a:lstStyle/>
            <a:p>
              <a:pPr algn="r">
                <a:lnSpc>
                  <a:spcPts val="2160"/>
                </a:lnSpc>
              </a:pPr>
              <a:r>
                <a:rPr lang="en-US" sz="1800">
                  <a:solidFill>
                    <a:srgbClr val="B9CED1"/>
                  </a:solidFill>
                  <a:latin typeface="Calibri (MS)"/>
                  <a:ea typeface="Calibri (MS)"/>
                  <a:cs typeface="Calibri (MS)"/>
                  <a:sym typeface="Calibri (MS)"/>
                </a:rPr>
                <a:t>01 / 08</a:t>
              </a:r>
            </a:p>
          </p:txBody>
        </p:sp>
      </p:grpSp>
      <p:grpSp>
        <p:nvGrpSpPr>
          <p:cNvPr name="Group 15" id="15"/>
          <p:cNvGrpSpPr/>
          <p:nvPr/>
        </p:nvGrpSpPr>
        <p:grpSpPr>
          <a:xfrm rot="0">
            <a:off x="891540" y="1399032"/>
            <a:ext cx="9601200" cy="1645920"/>
            <a:chOff x="0" y="0"/>
            <a:chExt cx="12801600" cy="2194560"/>
          </a:xfrm>
        </p:grpSpPr>
        <p:sp>
          <p:nvSpPr>
            <p:cNvPr name="Freeform 16" id="16"/>
            <p:cNvSpPr/>
            <p:nvPr/>
          </p:nvSpPr>
          <p:spPr>
            <a:xfrm flipH="false" flipV="false" rot="0">
              <a:off x="0" y="0"/>
              <a:ext cx="12801600" cy="2194560"/>
            </a:xfrm>
            <a:custGeom>
              <a:avLst/>
              <a:gdLst/>
              <a:ahLst/>
              <a:cxnLst/>
              <a:rect r="r" b="b" t="t" l="l"/>
              <a:pathLst>
                <a:path h="2194560" w="12801600">
                  <a:moveTo>
                    <a:pt x="0" y="0"/>
                  </a:moveTo>
                  <a:lnTo>
                    <a:pt x="12801600" y="0"/>
                  </a:lnTo>
                  <a:lnTo>
                    <a:pt x="12801600" y="2194560"/>
                  </a:lnTo>
                  <a:lnTo>
                    <a:pt x="0" y="2194560"/>
                  </a:lnTo>
                  <a:close/>
                </a:path>
              </a:pathLst>
            </a:custGeom>
            <a:blipFill>
              <a:blip r:embed="rId3">
                <a:alphaModFix amt="0"/>
              </a:blip>
              <a:stretch>
                <a:fillRect l="0" t="-63662" r="0" b="-63662"/>
              </a:stretch>
            </a:blipFill>
          </p:spPr>
        </p:sp>
        <p:sp>
          <p:nvSpPr>
            <p:cNvPr name="TextBox 17" id="17"/>
            <p:cNvSpPr txBox="true"/>
            <p:nvPr/>
          </p:nvSpPr>
          <p:spPr>
            <a:xfrm>
              <a:off x="0" y="-19050"/>
              <a:ext cx="12801600" cy="2213610"/>
            </a:xfrm>
            <a:prstGeom prst="rect">
              <a:avLst/>
            </a:prstGeom>
          </p:spPr>
          <p:txBody>
            <a:bodyPr anchor="ctr" rtlCol="false" tIns="0" lIns="0" bIns="0" rIns="0"/>
            <a:lstStyle/>
            <a:p>
              <a:pPr algn="l">
                <a:lnSpc>
                  <a:spcPts val="15119"/>
                </a:lnSpc>
              </a:pPr>
              <a:r>
                <a:rPr lang="en-US" sz="12600" b="true">
                  <a:solidFill>
                    <a:srgbClr val="FFFFFF"/>
                  </a:solidFill>
                  <a:latin typeface="Trebuchet MS Bold"/>
                  <a:ea typeface="Trebuchet MS Bold"/>
                  <a:cs typeface="Trebuchet MS Bold"/>
                  <a:sym typeface="Trebuchet MS Bold"/>
                </a:rPr>
                <a:t>Orbi</a:t>
              </a:r>
            </a:p>
          </p:txBody>
        </p:sp>
      </p:grpSp>
      <p:grpSp>
        <p:nvGrpSpPr>
          <p:cNvPr name="Group 18" id="18"/>
          <p:cNvGrpSpPr/>
          <p:nvPr/>
        </p:nvGrpSpPr>
        <p:grpSpPr>
          <a:xfrm rot="0">
            <a:off x="891540" y="3182112"/>
            <a:ext cx="10424160" cy="1714500"/>
            <a:chOff x="0" y="0"/>
            <a:chExt cx="13898880" cy="2286000"/>
          </a:xfrm>
        </p:grpSpPr>
        <p:sp>
          <p:nvSpPr>
            <p:cNvPr name="Freeform 19" id="19"/>
            <p:cNvSpPr/>
            <p:nvPr/>
          </p:nvSpPr>
          <p:spPr>
            <a:xfrm flipH="false" flipV="false" rot="0">
              <a:off x="0" y="0"/>
              <a:ext cx="13898880" cy="2286000"/>
            </a:xfrm>
            <a:custGeom>
              <a:avLst/>
              <a:gdLst/>
              <a:ahLst/>
              <a:cxnLst/>
              <a:rect r="r" b="b" t="t" l="l"/>
              <a:pathLst>
                <a:path h="2286000" w="13898880">
                  <a:moveTo>
                    <a:pt x="0" y="0"/>
                  </a:moveTo>
                  <a:lnTo>
                    <a:pt x="13898880" y="0"/>
                  </a:lnTo>
                  <a:lnTo>
                    <a:pt x="13898880" y="2286000"/>
                  </a:lnTo>
                  <a:lnTo>
                    <a:pt x="0" y="2286000"/>
                  </a:lnTo>
                  <a:close/>
                </a:path>
              </a:pathLst>
            </a:custGeom>
            <a:blipFill>
              <a:blip r:embed="rId3">
                <a:alphaModFix amt="0"/>
              </a:blip>
              <a:stretch>
                <a:fillRect l="0" t="-68469" r="0" b="-68469"/>
              </a:stretch>
            </a:blipFill>
          </p:spPr>
        </p:sp>
        <p:sp>
          <p:nvSpPr>
            <p:cNvPr name="TextBox 20" id="20"/>
            <p:cNvSpPr txBox="true"/>
            <p:nvPr/>
          </p:nvSpPr>
          <p:spPr>
            <a:xfrm>
              <a:off x="0" y="-19050"/>
              <a:ext cx="13898880" cy="2305050"/>
            </a:xfrm>
            <a:prstGeom prst="rect">
              <a:avLst/>
            </a:prstGeom>
          </p:spPr>
          <p:txBody>
            <a:bodyPr anchor="ctr" rtlCol="false" tIns="0" lIns="0" bIns="0" rIns="0"/>
            <a:lstStyle/>
            <a:p>
              <a:pPr algn="l">
                <a:lnSpc>
                  <a:spcPts val="6120"/>
                </a:lnSpc>
              </a:pPr>
              <a:r>
                <a:rPr lang="en-US" sz="5100" b="true">
                  <a:solidFill>
                    <a:srgbClr val="FFFFFF"/>
                  </a:solidFill>
                  <a:latin typeface="Trebuchet MS Bold"/>
                  <a:ea typeface="Trebuchet MS Bold"/>
                  <a:cs typeface="Trebuchet MS Bold"/>
                  <a:sym typeface="Trebuchet MS Bold"/>
                </a:rPr>
                <a:t>Operations Risk Analyst</a:t>
              </a:r>
            </a:p>
            <a:p>
              <a:pPr algn="l">
                <a:lnSpc>
                  <a:spcPts val="6120"/>
                </a:lnSpc>
              </a:pPr>
              <a:r>
                <a:rPr lang="en-US" sz="5100" b="true">
                  <a:solidFill>
                    <a:srgbClr val="FFFFFF"/>
                  </a:solidFill>
                  <a:latin typeface="Trebuchet MS Bold"/>
                  <a:ea typeface="Trebuchet MS Bold"/>
                  <a:cs typeface="Trebuchet MS Bold"/>
                  <a:sym typeface="Trebuchet MS Bold"/>
                </a:rPr>
                <a:t>for Retail SMEs</a:t>
              </a:r>
            </a:p>
          </p:txBody>
        </p:sp>
      </p:grpSp>
      <p:grpSp>
        <p:nvGrpSpPr>
          <p:cNvPr name="Group 21" id="21"/>
          <p:cNvGrpSpPr/>
          <p:nvPr/>
        </p:nvGrpSpPr>
        <p:grpSpPr>
          <a:xfrm rot="0">
            <a:off x="891540" y="5349240"/>
            <a:ext cx="10012680" cy="1289304"/>
            <a:chOff x="0" y="0"/>
            <a:chExt cx="13350240" cy="1719072"/>
          </a:xfrm>
        </p:grpSpPr>
        <p:sp>
          <p:nvSpPr>
            <p:cNvPr name="Freeform 22" id="22"/>
            <p:cNvSpPr/>
            <p:nvPr/>
          </p:nvSpPr>
          <p:spPr>
            <a:xfrm flipH="false" flipV="false" rot="0">
              <a:off x="0" y="0"/>
              <a:ext cx="13350239" cy="1719072"/>
            </a:xfrm>
            <a:custGeom>
              <a:avLst/>
              <a:gdLst/>
              <a:ahLst/>
              <a:cxnLst/>
              <a:rect r="r" b="b" t="t" l="l"/>
              <a:pathLst>
                <a:path h="1719072" w="13350239">
                  <a:moveTo>
                    <a:pt x="0" y="0"/>
                  </a:moveTo>
                  <a:lnTo>
                    <a:pt x="13350239" y="0"/>
                  </a:lnTo>
                  <a:lnTo>
                    <a:pt x="13350239" y="1719072"/>
                  </a:lnTo>
                  <a:lnTo>
                    <a:pt x="0" y="1719072"/>
                  </a:lnTo>
                  <a:close/>
                </a:path>
              </a:pathLst>
            </a:custGeom>
            <a:blipFill>
              <a:blip r:embed="rId3">
                <a:alphaModFix amt="0"/>
              </a:blip>
              <a:stretch>
                <a:fillRect l="0" t="-101319" r="0" b="-101319"/>
              </a:stretch>
            </a:blipFill>
          </p:spPr>
        </p:sp>
        <p:sp>
          <p:nvSpPr>
            <p:cNvPr name="TextBox 23" id="23"/>
            <p:cNvSpPr txBox="true"/>
            <p:nvPr/>
          </p:nvSpPr>
          <p:spPr>
            <a:xfrm>
              <a:off x="0" y="-76200"/>
              <a:ext cx="13350240" cy="1795272"/>
            </a:xfrm>
            <a:prstGeom prst="rect">
              <a:avLst/>
            </a:prstGeom>
          </p:spPr>
          <p:txBody>
            <a:bodyPr anchor="ctr" rtlCol="false" tIns="0" lIns="0" bIns="0" rIns="0"/>
            <a:lstStyle/>
            <a:p>
              <a:pPr algn="l">
                <a:lnSpc>
                  <a:spcPts val="4680"/>
                </a:lnSpc>
              </a:pPr>
              <a:r>
                <a:rPr lang="en-US" sz="3900">
                  <a:solidFill>
                    <a:srgbClr val="CFE8E3"/>
                  </a:solidFill>
                  <a:latin typeface="Calibri (MS)"/>
                  <a:ea typeface="Calibri (MS)"/>
                  <a:cs typeface="Calibri (MS)"/>
                  <a:sym typeface="Calibri (MS)"/>
                </a:rPr>
                <a:t>Turning everyday retail data into</a:t>
              </a:r>
            </a:p>
            <a:p>
              <a:pPr algn="l">
                <a:lnSpc>
                  <a:spcPts val="4680"/>
                </a:lnSpc>
              </a:pPr>
              <a:r>
                <a:rPr lang="en-US" sz="3900">
                  <a:solidFill>
                    <a:srgbClr val="CFE8E3"/>
                  </a:solidFill>
                  <a:latin typeface="Calibri (MS)"/>
                  <a:ea typeface="Calibri (MS)"/>
                  <a:cs typeface="Calibri (MS)"/>
                  <a:sym typeface="Calibri (MS)"/>
                </a:rPr>
                <a:t>early operational risk detection.</a:t>
              </a:r>
            </a:p>
          </p:txBody>
        </p:sp>
      </p:grpSp>
      <p:grpSp>
        <p:nvGrpSpPr>
          <p:cNvPr name="Group 24" id="24"/>
          <p:cNvGrpSpPr/>
          <p:nvPr/>
        </p:nvGrpSpPr>
        <p:grpSpPr>
          <a:xfrm rot="0">
            <a:off x="891540" y="7036308"/>
            <a:ext cx="15910560" cy="891540"/>
            <a:chOff x="0" y="0"/>
            <a:chExt cx="21214080" cy="1188720"/>
          </a:xfrm>
        </p:grpSpPr>
        <p:sp>
          <p:nvSpPr>
            <p:cNvPr name="Freeform 25" id="25"/>
            <p:cNvSpPr/>
            <p:nvPr/>
          </p:nvSpPr>
          <p:spPr>
            <a:xfrm flipH="false" flipV="false" rot="0">
              <a:off x="0" y="0"/>
              <a:ext cx="21214080" cy="1188720"/>
            </a:xfrm>
            <a:custGeom>
              <a:avLst/>
              <a:gdLst/>
              <a:ahLst/>
              <a:cxnLst/>
              <a:rect r="r" b="b" t="t" l="l"/>
              <a:pathLst>
                <a:path h="1188720" w="21214080">
                  <a:moveTo>
                    <a:pt x="0" y="0"/>
                  </a:moveTo>
                  <a:lnTo>
                    <a:pt x="21214080" y="0"/>
                  </a:lnTo>
                  <a:lnTo>
                    <a:pt x="21214080" y="1188720"/>
                  </a:lnTo>
                  <a:lnTo>
                    <a:pt x="0" y="1188720"/>
                  </a:lnTo>
                  <a:close/>
                </a:path>
              </a:pathLst>
            </a:custGeom>
            <a:blipFill>
              <a:blip r:embed="rId3">
                <a:alphaModFix amt="0"/>
              </a:blip>
              <a:stretch>
                <a:fillRect l="0" t="-297732" r="0" b="-297732"/>
              </a:stretch>
            </a:blipFill>
          </p:spPr>
        </p:sp>
        <p:sp>
          <p:nvSpPr>
            <p:cNvPr name="TextBox 26" id="26"/>
            <p:cNvSpPr txBox="true"/>
            <p:nvPr/>
          </p:nvSpPr>
          <p:spPr>
            <a:xfrm>
              <a:off x="0" y="-66675"/>
              <a:ext cx="21214080" cy="1255395"/>
            </a:xfrm>
            <a:prstGeom prst="rect">
              <a:avLst/>
            </a:prstGeom>
          </p:spPr>
          <p:txBody>
            <a:bodyPr anchor="ctr" rtlCol="false" tIns="0" lIns="0" bIns="0" rIns="0"/>
            <a:lstStyle/>
            <a:p>
              <a:pPr algn="l">
                <a:lnSpc>
                  <a:spcPts val="3600"/>
                </a:lnSpc>
              </a:pPr>
              <a:r>
                <a:rPr lang="en-US" sz="3000">
                  <a:solidFill>
                    <a:srgbClr val="B9CED1"/>
                  </a:solidFill>
                  <a:latin typeface="Calibri (MS)"/>
                  <a:ea typeface="Calibri (MS)"/>
                  <a:cs typeface="Calibri (MS)"/>
                  <a:sym typeface="Calibri (MS)"/>
                </a:rPr>
                <a:t>An AI agent that helps teams detect, prioritize and respond</a:t>
              </a:r>
            </a:p>
            <a:p>
              <a:pPr algn="l">
                <a:lnSpc>
                  <a:spcPts val="3600"/>
                </a:lnSpc>
              </a:pPr>
              <a:r>
                <a:rPr lang="en-US" sz="3000">
                  <a:solidFill>
                    <a:srgbClr val="B9CED1"/>
                  </a:solidFill>
                  <a:latin typeface="Calibri (MS)"/>
                  <a:ea typeface="Calibri (MS)"/>
                  <a:cs typeface="Calibri (MS)"/>
                  <a:sym typeface="Calibri (MS)"/>
                </a:rPr>
                <a:t>before risks disrupt orders, inventory or supplier commitments.</a:t>
              </a:r>
            </a:p>
          </p:txBody>
        </p:sp>
      </p:grpSp>
      <p:grpSp>
        <p:nvGrpSpPr>
          <p:cNvPr name="Group 27" id="27"/>
          <p:cNvGrpSpPr/>
          <p:nvPr/>
        </p:nvGrpSpPr>
        <p:grpSpPr>
          <a:xfrm rot="0">
            <a:off x="12501372" y="1706880"/>
            <a:ext cx="4884420" cy="728472"/>
            <a:chOff x="0" y="0"/>
            <a:chExt cx="6512560" cy="971296"/>
          </a:xfrm>
        </p:grpSpPr>
        <p:sp>
          <p:nvSpPr>
            <p:cNvPr name="Freeform 28" id="28"/>
            <p:cNvSpPr/>
            <p:nvPr/>
          </p:nvSpPr>
          <p:spPr>
            <a:xfrm flipH="false" flipV="false" rot="0">
              <a:off x="0" y="0"/>
              <a:ext cx="6512560" cy="971296"/>
            </a:xfrm>
            <a:custGeom>
              <a:avLst/>
              <a:gdLst/>
              <a:ahLst/>
              <a:cxnLst/>
              <a:rect r="r" b="b" t="t" l="l"/>
              <a:pathLst>
                <a:path h="971296" w="6512560">
                  <a:moveTo>
                    <a:pt x="0" y="0"/>
                  </a:moveTo>
                  <a:lnTo>
                    <a:pt x="6512560" y="0"/>
                  </a:lnTo>
                  <a:lnTo>
                    <a:pt x="6512560" y="971296"/>
                  </a:lnTo>
                  <a:lnTo>
                    <a:pt x="0" y="971296"/>
                  </a:lnTo>
                  <a:close/>
                </a:path>
              </a:pathLst>
            </a:custGeom>
            <a:solidFill>
              <a:srgbClr val="2D4146"/>
            </a:solidFill>
            <a:ln w="15240" cap="sq">
              <a:solidFill>
                <a:srgbClr val="2D4146"/>
              </a:solidFill>
              <a:prstDash val="solid"/>
              <a:miter/>
            </a:ln>
          </p:spPr>
        </p:sp>
      </p:grpSp>
      <p:grpSp>
        <p:nvGrpSpPr>
          <p:cNvPr name="Group 29" id="29"/>
          <p:cNvGrpSpPr/>
          <p:nvPr/>
        </p:nvGrpSpPr>
        <p:grpSpPr>
          <a:xfrm rot="0">
            <a:off x="12783312" y="1714500"/>
            <a:ext cx="4320540" cy="713232"/>
            <a:chOff x="0" y="0"/>
            <a:chExt cx="5760720" cy="950976"/>
          </a:xfrm>
        </p:grpSpPr>
        <p:sp>
          <p:nvSpPr>
            <p:cNvPr name="Freeform 30" id="30"/>
            <p:cNvSpPr/>
            <p:nvPr/>
          </p:nvSpPr>
          <p:spPr>
            <a:xfrm flipH="false" flipV="false" rot="0">
              <a:off x="0" y="0"/>
              <a:ext cx="5760720" cy="950976"/>
            </a:xfrm>
            <a:custGeom>
              <a:avLst/>
              <a:gdLst/>
              <a:ahLst/>
              <a:cxnLst/>
              <a:rect r="r" b="b" t="t" l="l"/>
              <a:pathLst>
                <a:path h="950976" w="5760720">
                  <a:moveTo>
                    <a:pt x="0" y="0"/>
                  </a:moveTo>
                  <a:lnTo>
                    <a:pt x="5760720" y="0"/>
                  </a:lnTo>
                  <a:lnTo>
                    <a:pt x="5760720" y="950976"/>
                  </a:lnTo>
                  <a:lnTo>
                    <a:pt x="0" y="950976"/>
                  </a:lnTo>
                  <a:close/>
                </a:path>
              </a:pathLst>
            </a:custGeom>
            <a:blipFill>
              <a:blip r:embed="rId3">
                <a:alphaModFix amt="0"/>
              </a:blip>
              <a:stretch>
                <a:fillRect l="0" t="-68034" r="0" b="-68034"/>
              </a:stretch>
            </a:blipFill>
          </p:spPr>
        </p:sp>
        <p:sp>
          <p:nvSpPr>
            <p:cNvPr name="TextBox 31" id="31"/>
            <p:cNvSpPr txBox="true"/>
            <p:nvPr/>
          </p:nvSpPr>
          <p:spPr>
            <a:xfrm>
              <a:off x="0" y="-57150"/>
              <a:ext cx="5760720" cy="1008126"/>
            </a:xfrm>
            <a:prstGeom prst="rect">
              <a:avLst/>
            </a:prstGeom>
          </p:spPr>
          <p:txBody>
            <a:bodyPr anchor="ctr" rtlCol="false" tIns="0" lIns="0" bIns="0" rIns="0"/>
            <a:lstStyle/>
            <a:p>
              <a:pPr algn="l">
                <a:lnSpc>
                  <a:spcPts val="3419"/>
                </a:lnSpc>
              </a:pPr>
              <a:r>
                <a:rPr lang="en-US" sz="2850">
                  <a:solidFill>
                    <a:srgbClr val="FFFFFF"/>
                  </a:solidFill>
                  <a:latin typeface="Calibri (MS)"/>
                  <a:ea typeface="Calibri (MS)"/>
                  <a:cs typeface="Calibri (MS)"/>
                  <a:sym typeface="Calibri (MS)"/>
                </a:rPr>
                <a:t>Sales</a:t>
              </a:r>
            </a:p>
          </p:txBody>
        </p:sp>
      </p:grpSp>
      <p:sp>
        <p:nvSpPr>
          <p:cNvPr name="AutoShape 32" id="32"/>
          <p:cNvSpPr/>
          <p:nvPr/>
        </p:nvSpPr>
        <p:spPr>
          <a:xfrm rot="5005680">
            <a:off x="14798173" y="2555367"/>
            <a:ext cx="249669" cy="0"/>
          </a:xfrm>
          <a:prstGeom prst="line">
            <a:avLst/>
          </a:prstGeom>
          <a:ln cap="rnd" w="19050">
            <a:solidFill>
              <a:srgbClr val="CFE8E3"/>
            </a:solidFill>
            <a:prstDash val="solid"/>
            <a:headEnd type="none" len="sm" w="sm"/>
            <a:tailEnd type="triangle" len="med" w="lg"/>
          </a:ln>
        </p:spPr>
      </p:sp>
      <p:grpSp>
        <p:nvGrpSpPr>
          <p:cNvPr name="Group 33" id="33"/>
          <p:cNvGrpSpPr/>
          <p:nvPr/>
        </p:nvGrpSpPr>
        <p:grpSpPr>
          <a:xfrm rot="0">
            <a:off x="12501372" y="2667000"/>
            <a:ext cx="4884420" cy="728472"/>
            <a:chOff x="0" y="0"/>
            <a:chExt cx="6512560" cy="971296"/>
          </a:xfrm>
        </p:grpSpPr>
        <p:sp>
          <p:nvSpPr>
            <p:cNvPr name="Freeform 34" id="34"/>
            <p:cNvSpPr/>
            <p:nvPr/>
          </p:nvSpPr>
          <p:spPr>
            <a:xfrm flipH="false" flipV="false" rot="0">
              <a:off x="0" y="0"/>
              <a:ext cx="6512560" cy="971296"/>
            </a:xfrm>
            <a:custGeom>
              <a:avLst/>
              <a:gdLst/>
              <a:ahLst/>
              <a:cxnLst/>
              <a:rect r="r" b="b" t="t" l="l"/>
              <a:pathLst>
                <a:path h="971296" w="6512560">
                  <a:moveTo>
                    <a:pt x="0" y="0"/>
                  </a:moveTo>
                  <a:lnTo>
                    <a:pt x="6512560" y="0"/>
                  </a:lnTo>
                  <a:lnTo>
                    <a:pt x="6512560" y="971296"/>
                  </a:lnTo>
                  <a:lnTo>
                    <a:pt x="0" y="971296"/>
                  </a:lnTo>
                  <a:close/>
                </a:path>
              </a:pathLst>
            </a:custGeom>
            <a:solidFill>
              <a:srgbClr val="2D4146"/>
            </a:solidFill>
            <a:ln w="15240" cap="sq">
              <a:solidFill>
                <a:srgbClr val="2D4146"/>
              </a:solidFill>
              <a:prstDash val="solid"/>
              <a:miter/>
            </a:ln>
          </p:spPr>
        </p:sp>
      </p:grpSp>
      <p:grpSp>
        <p:nvGrpSpPr>
          <p:cNvPr name="Group 35" id="35"/>
          <p:cNvGrpSpPr/>
          <p:nvPr/>
        </p:nvGrpSpPr>
        <p:grpSpPr>
          <a:xfrm rot="0">
            <a:off x="12783312" y="2674620"/>
            <a:ext cx="4320540" cy="713232"/>
            <a:chOff x="0" y="0"/>
            <a:chExt cx="5760720" cy="950976"/>
          </a:xfrm>
        </p:grpSpPr>
        <p:sp>
          <p:nvSpPr>
            <p:cNvPr name="Freeform 36" id="36"/>
            <p:cNvSpPr/>
            <p:nvPr/>
          </p:nvSpPr>
          <p:spPr>
            <a:xfrm flipH="false" flipV="false" rot="0">
              <a:off x="0" y="0"/>
              <a:ext cx="5760720" cy="950976"/>
            </a:xfrm>
            <a:custGeom>
              <a:avLst/>
              <a:gdLst/>
              <a:ahLst/>
              <a:cxnLst/>
              <a:rect r="r" b="b" t="t" l="l"/>
              <a:pathLst>
                <a:path h="950976" w="5760720">
                  <a:moveTo>
                    <a:pt x="0" y="0"/>
                  </a:moveTo>
                  <a:lnTo>
                    <a:pt x="5760720" y="0"/>
                  </a:lnTo>
                  <a:lnTo>
                    <a:pt x="5760720" y="950976"/>
                  </a:lnTo>
                  <a:lnTo>
                    <a:pt x="0" y="950976"/>
                  </a:lnTo>
                  <a:close/>
                </a:path>
              </a:pathLst>
            </a:custGeom>
            <a:blipFill>
              <a:blip r:embed="rId3">
                <a:alphaModFix amt="0"/>
              </a:blip>
              <a:stretch>
                <a:fillRect l="0" t="-68034" r="0" b="-68034"/>
              </a:stretch>
            </a:blipFill>
          </p:spPr>
        </p:sp>
        <p:sp>
          <p:nvSpPr>
            <p:cNvPr name="TextBox 37" id="37"/>
            <p:cNvSpPr txBox="true"/>
            <p:nvPr/>
          </p:nvSpPr>
          <p:spPr>
            <a:xfrm>
              <a:off x="0" y="-57150"/>
              <a:ext cx="5760720" cy="1008126"/>
            </a:xfrm>
            <a:prstGeom prst="rect">
              <a:avLst/>
            </a:prstGeom>
          </p:spPr>
          <p:txBody>
            <a:bodyPr anchor="ctr" rtlCol="false" tIns="0" lIns="0" bIns="0" rIns="0"/>
            <a:lstStyle/>
            <a:p>
              <a:pPr algn="l">
                <a:lnSpc>
                  <a:spcPts val="3419"/>
                </a:lnSpc>
              </a:pPr>
              <a:r>
                <a:rPr lang="en-US" sz="2850">
                  <a:solidFill>
                    <a:srgbClr val="FFFFFF"/>
                  </a:solidFill>
                  <a:latin typeface="Calibri (MS)"/>
                  <a:ea typeface="Calibri (MS)"/>
                  <a:cs typeface="Calibri (MS)"/>
                  <a:sym typeface="Calibri (MS)"/>
                </a:rPr>
                <a:t>Inventory</a:t>
              </a:r>
            </a:p>
          </p:txBody>
        </p:sp>
      </p:grpSp>
      <p:sp>
        <p:nvSpPr>
          <p:cNvPr name="AutoShape 38" id="38"/>
          <p:cNvSpPr/>
          <p:nvPr/>
        </p:nvSpPr>
        <p:spPr>
          <a:xfrm rot="5005680">
            <a:off x="14798173" y="3515487"/>
            <a:ext cx="249669" cy="0"/>
          </a:xfrm>
          <a:prstGeom prst="line">
            <a:avLst/>
          </a:prstGeom>
          <a:ln cap="rnd" w="19050">
            <a:solidFill>
              <a:srgbClr val="CFE8E3"/>
            </a:solidFill>
            <a:prstDash val="solid"/>
            <a:headEnd type="none" len="sm" w="sm"/>
            <a:tailEnd type="triangle" len="med" w="lg"/>
          </a:ln>
        </p:spPr>
      </p:sp>
      <p:grpSp>
        <p:nvGrpSpPr>
          <p:cNvPr name="Group 39" id="39"/>
          <p:cNvGrpSpPr/>
          <p:nvPr/>
        </p:nvGrpSpPr>
        <p:grpSpPr>
          <a:xfrm rot="0">
            <a:off x="12501372" y="3627120"/>
            <a:ext cx="4884420" cy="728472"/>
            <a:chOff x="0" y="0"/>
            <a:chExt cx="6512560" cy="971296"/>
          </a:xfrm>
        </p:grpSpPr>
        <p:sp>
          <p:nvSpPr>
            <p:cNvPr name="Freeform 40" id="40"/>
            <p:cNvSpPr/>
            <p:nvPr/>
          </p:nvSpPr>
          <p:spPr>
            <a:xfrm flipH="false" flipV="false" rot="0">
              <a:off x="0" y="0"/>
              <a:ext cx="6512560" cy="971296"/>
            </a:xfrm>
            <a:custGeom>
              <a:avLst/>
              <a:gdLst/>
              <a:ahLst/>
              <a:cxnLst/>
              <a:rect r="r" b="b" t="t" l="l"/>
              <a:pathLst>
                <a:path h="971296" w="6512560">
                  <a:moveTo>
                    <a:pt x="0" y="0"/>
                  </a:moveTo>
                  <a:lnTo>
                    <a:pt x="6512560" y="0"/>
                  </a:lnTo>
                  <a:lnTo>
                    <a:pt x="6512560" y="971296"/>
                  </a:lnTo>
                  <a:lnTo>
                    <a:pt x="0" y="971296"/>
                  </a:lnTo>
                  <a:close/>
                </a:path>
              </a:pathLst>
            </a:custGeom>
            <a:solidFill>
              <a:srgbClr val="2D4146"/>
            </a:solidFill>
            <a:ln w="15240" cap="sq">
              <a:solidFill>
                <a:srgbClr val="2D4146"/>
              </a:solidFill>
              <a:prstDash val="solid"/>
              <a:miter/>
            </a:ln>
          </p:spPr>
        </p:sp>
      </p:grpSp>
      <p:grpSp>
        <p:nvGrpSpPr>
          <p:cNvPr name="Group 41" id="41"/>
          <p:cNvGrpSpPr/>
          <p:nvPr/>
        </p:nvGrpSpPr>
        <p:grpSpPr>
          <a:xfrm rot="0">
            <a:off x="12783312" y="3634740"/>
            <a:ext cx="4320540" cy="713232"/>
            <a:chOff x="0" y="0"/>
            <a:chExt cx="5760720" cy="950976"/>
          </a:xfrm>
        </p:grpSpPr>
        <p:sp>
          <p:nvSpPr>
            <p:cNvPr name="Freeform 42" id="42"/>
            <p:cNvSpPr/>
            <p:nvPr/>
          </p:nvSpPr>
          <p:spPr>
            <a:xfrm flipH="false" flipV="false" rot="0">
              <a:off x="0" y="0"/>
              <a:ext cx="5760720" cy="950976"/>
            </a:xfrm>
            <a:custGeom>
              <a:avLst/>
              <a:gdLst/>
              <a:ahLst/>
              <a:cxnLst/>
              <a:rect r="r" b="b" t="t" l="l"/>
              <a:pathLst>
                <a:path h="950976" w="5760720">
                  <a:moveTo>
                    <a:pt x="0" y="0"/>
                  </a:moveTo>
                  <a:lnTo>
                    <a:pt x="5760720" y="0"/>
                  </a:lnTo>
                  <a:lnTo>
                    <a:pt x="5760720" y="950976"/>
                  </a:lnTo>
                  <a:lnTo>
                    <a:pt x="0" y="950976"/>
                  </a:lnTo>
                  <a:close/>
                </a:path>
              </a:pathLst>
            </a:custGeom>
            <a:blipFill>
              <a:blip r:embed="rId3">
                <a:alphaModFix amt="0"/>
              </a:blip>
              <a:stretch>
                <a:fillRect l="0" t="-68034" r="0" b="-68034"/>
              </a:stretch>
            </a:blipFill>
          </p:spPr>
        </p:sp>
        <p:sp>
          <p:nvSpPr>
            <p:cNvPr name="TextBox 43" id="43"/>
            <p:cNvSpPr txBox="true"/>
            <p:nvPr/>
          </p:nvSpPr>
          <p:spPr>
            <a:xfrm>
              <a:off x="0" y="-57150"/>
              <a:ext cx="5760720" cy="1008126"/>
            </a:xfrm>
            <a:prstGeom prst="rect">
              <a:avLst/>
            </a:prstGeom>
          </p:spPr>
          <p:txBody>
            <a:bodyPr anchor="ctr" rtlCol="false" tIns="0" lIns="0" bIns="0" rIns="0"/>
            <a:lstStyle/>
            <a:p>
              <a:pPr algn="l">
                <a:lnSpc>
                  <a:spcPts val="3419"/>
                </a:lnSpc>
              </a:pPr>
              <a:r>
                <a:rPr lang="en-US" sz="2850">
                  <a:solidFill>
                    <a:srgbClr val="FFFFFF"/>
                  </a:solidFill>
                  <a:latin typeface="Calibri (MS)"/>
                  <a:ea typeface="Calibri (MS)"/>
                  <a:cs typeface="Calibri (MS)"/>
                  <a:sym typeface="Calibri (MS)"/>
                </a:rPr>
                <a:t>Customer Orders</a:t>
              </a:r>
            </a:p>
          </p:txBody>
        </p:sp>
      </p:grpSp>
      <p:sp>
        <p:nvSpPr>
          <p:cNvPr name="AutoShape 44" id="44"/>
          <p:cNvSpPr/>
          <p:nvPr/>
        </p:nvSpPr>
        <p:spPr>
          <a:xfrm rot="5005680">
            <a:off x="14798173" y="4475607"/>
            <a:ext cx="249669" cy="0"/>
          </a:xfrm>
          <a:prstGeom prst="line">
            <a:avLst/>
          </a:prstGeom>
          <a:ln cap="rnd" w="19050">
            <a:solidFill>
              <a:srgbClr val="CFE8E3"/>
            </a:solidFill>
            <a:prstDash val="solid"/>
            <a:headEnd type="none" len="sm" w="sm"/>
            <a:tailEnd type="triangle" len="med" w="lg"/>
          </a:ln>
        </p:spPr>
      </p:sp>
      <p:grpSp>
        <p:nvGrpSpPr>
          <p:cNvPr name="Group 45" id="45"/>
          <p:cNvGrpSpPr/>
          <p:nvPr/>
        </p:nvGrpSpPr>
        <p:grpSpPr>
          <a:xfrm rot="0">
            <a:off x="12501372" y="4587240"/>
            <a:ext cx="4884420" cy="728472"/>
            <a:chOff x="0" y="0"/>
            <a:chExt cx="6512560" cy="971296"/>
          </a:xfrm>
        </p:grpSpPr>
        <p:sp>
          <p:nvSpPr>
            <p:cNvPr name="Freeform 46" id="46"/>
            <p:cNvSpPr/>
            <p:nvPr/>
          </p:nvSpPr>
          <p:spPr>
            <a:xfrm flipH="false" flipV="false" rot="0">
              <a:off x="0" y="0"/>
              <a:ext cx="6512560" cy="971296"/>
            </a:xfrm>
            <a:custGeom>
              <a:avLst/>
              <a:gdLst/>
              <a:ahLst/>
              <a:cxnLst/>
              <a:rect r="r" b="b" t="t" l="l"/>
              <a:pathLst>
                <a:path h="971296" w="6512560">
                  <a:moveTo>
                    <a:pt x="0" y="0"/>
                  </a:moveTo>
                  <a:lnTo>
                    <a:pt x="6512560" y="0"/>
                  </a:lnTo>
                  <a:lnTo>
                    <a:pt x="6512560" y="971296"/>
                  </a:lnTo>
                  <a:lnTo>
                    <a:pt x="0" y="971296"/>
                  </a:lnTo>
                  <a:close/>
                </a:path>
              </a:pathLst>
            </a:custGeom>
            <a:solidFill>
              <a:srgbClr val="2D4146"/>
            </a:solidFill>
            <a:ln w="15240" cap="sq">
              <a:solidFill>
                <a:srgbClr val="2D4146"/>
              </a:solidFill>
              <a:prstDash val="solid"/>
              <a:miter/>
            </a:ln>
          </p:spPr>
        </p:sp>
      </p:grpSp>
      <p:grpSp>
        <p:nvGrpSpPr>
          <p:cNvPr name="Group 47" id="47"/>
          <p:cNvGrpSpPr/>
          <p:nvPr/>
        </p:nvGrpSpPr>
        <p:grpSpPr>
          <a:xfrm rot="0">
            <a:off x="12783312" y="4594860"/>
            <a:ext cx="4320540" cy="713232"/>
            <a:chOff x="0" y="0"/>
            <a:chExt cx="5760720" cy="950976"/>
          </a:xfrm>
        </p:grpSpPr>
        <p:sp>
          <p:nvSpPr>
            <p:cNvPr name="Freeform 48" id="48"/>
            <p:cNvSpPr/>
            <p:nvPr/>
          </p:nvSpPr>
          <p:spPr>
            <a:xfrm flipH="false" flipV="false" rot="0">
              <a:off x="0" y="0"/>
              <a:ext cx="5760720" cy="950976"/>
            </a:xfrm>
            <a:custGeom>
              <a:avLst/>
              <a:gdLst/>
              <a:ahLst/>
              <a:cxnLst/>
              <a:rect r="r" b="b" t="t" l="l"/>
              <a:pathLst>
                <a:path h="950976" w="5760720">
                  <a:moveTo>
                    <a:pt x="0" y="0"/>
                  </a:moveTo>
                  <a:lnTo>
                    <a:pt x="5760720" y="0"/>
                  </a:lnTo>
                  <a:lnTo>
                    <a:pt x="5760720" y="950976"/>
                  </a:lnTo>
                  <a:lnTo>
                    <a:pt x="0" y="950976"/>
                  </a:lnTo>
                  <a:close/>
                </a:path>
              </a:pathLst>
            </a:custGeom>
            <a:blipFill>
              <a:blip r:embed="rId3">
                <a:alphaModFix amt="0"/>
              </a:blip>
              <a:stretch>
                <a:fillRect l="0" t="-68034" r="0" b="-68034"/>
              </a:stretch>
            </a:blipFill>
          </p:spPr>
        </p:sp>
        <p:sp>
          <p:nvSpPr>
            <p:cNvPr name="TextBox 49" id="49"/>
            <p:cNvSpPr txBox="true"/>
            <p:nvPr/>
          </p:nvSpPr>
          <p:spPr>
            <a:xfrm>
              <a:off x="0" y="-57150"/>
              <a:ext cx="5760720" cy="1008126"/>
            </a:xfrm>
            <a:prstGeom prst="rect">
              <a:avLst/>
            </a:prstGeom>
          </p:spPr>
          <p:txBody>
            <a:bodyPr anchor="ctr" rtlCol="false" tIns="0" lIns="0" bIns="0" rIns="0"/>
            <a:lstStyle/>
            <a:p>
              <a:pPr algn="l">
                <a:lnSpc>
                  <a:spcPts val="3419"/>
                </a:lnSpc>
              </a:pPr>
              <a:r>
                <a:rPr lang="en-US" sz="2850">
                  <a:solidFill>
                    <a:srgbClr val="FFFFFF"/>
                  </a:solidFill>
                  <a:latin typeface="Calibri (MS)"/>
                  <a:ea typeface="Calibri (MS)"/>
                  <a:cs typeface="Calibri (MS)"/>
                  <a:sym typeface="Calibri (MS)"/>
                </a:rPr>
                <a:t>Suppliers</a:t>
              </a:r>
            </a:p>
          </p:txBody>
        </p:sp>
      </p:grpSp>
      <p:sp>
        <p:nvSpPr>
          <p:cNvPr name="AutoShape 50" id="50"/>
          <p:cNvSpPr/>
          <p:nvPr/>
        </p:nvSpPr>
        <p:spPr>
          <a:xfrm rot="5005680">
            <a:off x="14798173" y="5435727"/>
            <a:ext cx="249669" cy="0"/>
          </a:xfrm>
          <a:prstGeom prst="line">
            <a:avLst/>
          </a:prstGeom>
          <a:ln cap="rnd" w="19050">
            <a:solidFill>
              <a:srgbClr val="CFE8E3"/>
            </a:solidFill>
            <a:prstDash val="solid"/>
            <a:headEnd type="none" len="sm" w="sm"/>
            <a:tailEnd type="triangle" len="med" w="lg"/>
          </a:ln>
        </p:spPr>
      </p:sp>
      <p:grpSp>
        <p:nvGrpSpPr>
          <p:cNvPr name="Group 51" id="51"/>
          <p:cNvGrpSpPr/>
          <p:nvPr/>
        </p:nvGrpSpPr>
        <p:grpSpPr>
          <a:xfrm rot="0">
            <a:off x="12501372" y="5547360"/>
            <a:ext cx="4884420" cy="728472"/>
            <a:chOff x="0" y="0"/>
            <a:chExt cx="6512560" cy="971296"/>
          </a:xfrm>
        </p:grpSpPr>
        <p:sp>
          <p:nvSpPr>
            <p:cNvPr name="Freeform 52" id="52"/>
            <p:cNvSpPr/>
            <p:nvPr/>
          </p:nvSpPr>
          <p:spPr>
            <a:xfrm flipH="false" flipV="false" rot="0">
              <a:off x="0" y="0"/>
              <a:ext cx="6512560" cy="971296"/>
            </a:xfrm>
            <a:custGeom>
              <a:avLst/>
              <a:gdLst/>
              <a:ahLst/>
              <a:cxnLst/>
              <a:rect r="r" b="b" t="t" l="l"/>
              <a:pathLst>
                <a:path h="971296" w="6512560">
                  <a:moveTo>
                    <a:pt x="0" y="0"/>
                  </a:moveTo>
                  <a:lnTo>
                    <a:pt x="6512560" y="0"/>
                  </a:lnTo>
                  <a:lnTo>
                    <a:pt x="6512560" y="971296"/>
                  </a:lnTo>
                  <a:lnTo>
                    <a:pt x="0" y="971296"/>
                  </a:lnTo>
                  <a:close/>
                </a:path>
              </a:pathLst>
            </a:custGeom>
            <a:solidFill>
              <a:srgbClr val="2D4146"/>
            </a:solidFill>
            <a:ln w="15240" cap="sq">
              <a:solidFill>
                <a:srgbClr val="2D4146"/>
              </a:solidFill>
              <a:prstDash val="solid"/>
              <a:miter/>
            </a:ln>
          </p:spPr>
        </p:sp>
      </p:grpSp>
      <p:grpSp>
        <p:nvGrpSpPr>
          <p:cNvPr name="Group 53" id="53"/>
          <p:cNvGrpSpPr/>
          <p:nvPr/>
        </p:nvGrpSpPr>
        <p:grpSpPr>
          <a:xfrm rot="0">
            <a:off x="12783312" y="5554980"/>
            <a:ext cx="4320540" cy="713232"/>
            <a:chOff x="0" y="0"/>
            <a:chExt cx="5760720" cy="950976"/>
          </a:xfrm>
        </p:grpSpPr>
        <p:sp>
          <p:nvSpPr>
            <p:cNvPr name="Freeform 54" id="54"/>
            <p:cNvSpPr/>
            <p:nvPr/>
          </p:nvSpPr>
          <p:spPr>
            <a:xfrm flipH="false" flipV="false" rot="0">
              <a:off x="0" y="0"/>
              <a:ext cx="5760720" cy="950976"/>
            </a:xfrm>
            <a:custGeom>
              <a:avLst/>
              <a:gdLst/>
              <a:ahLst/>
              <a:cxnLst/>
              <a:rect r="r" b="b" t="t" l="l"/>
              <a:pathLst>
                <a:path h="950976" w="5760720">
                  <a:moveTo>
                    <a:pt x="0" y="0"/>
                  </a:moveTo>
                  <a:lnTo>
                    <a:pt x="5760720" y="0"/>
                  </a:lnTo>
                  <a:lnTo>
                    <a:pt x="5760720" y="950976"/>
                  </a:lnTo>
                  <a:lnTo>
                    <a:pt x="0" y="950976"/>
                  </a:lnTo>
                  <a:close/>
                </a:path>
              </a:pathLst>
            </a:custGeom>
            <a:blipFill>
              <a:blip r:embed="rId3">
                <a:alphaModFix amt="0"/>
              </a:blip>
              <a:stretch>
                <a:fillRect l="0" t="-68034" r="0" b="-68034"/>
              </a:stretch>
            </a:blipFill>
          </p:spPr>
        </p:sp>
        <p:sp>
          <p:nvSpPr>
            <p:cNvPr name="TextBox 55" id="55"/>
            <p:cNvSpPr txBox="true"/>
            <p:nvPr/>
          </p:nvSpPr>
          <p:spPr>
            <a:xfrm>
              <a:off x="0" y="-57150"/>
              <a:ext cx="5760720" cy="1008126"/>
            </a:xfrm>
            <a:prstGeom prst="rect">
              <a:avLst/>
            </a:prstGeom>
          </p:spPr>
          <p:txBody>
            <a:bodyPr anchor="ctr" rtlCol="false" tIns="0" lIns="0" bIns="0" rIns="0"/>
            <a:lstStyle/>
            <a:p>
              <a:pPr algn="l">
                <a:lnSpc>
                  <a:spcPts val="3419"/>
                </a:lnSpc>
              </a:pPr>
              <a:r>
                <a:rPr lang="en-US" sz="2850">
                  <a:solidFill>
                    <a:srgbClr val="FFFFFF"/>
                  </a:solidFill>
                  <a:latin typeface="Calibri (MS)"/>
                  <a:ea typeface="Calibri (MS)"/>
                  <a:cs typeface="Calibri (MS)"/>
                  <a:sym typeface="Calibri (MS)"/>
                </a:rPr>
                <a:t>Purchase Orders</a:t>
              </a:r>
            </a:p>
          </p:txBody>
        </p:sp>
      </p:grpSp>
      <p:grpSp>
        <p:nvGrpSpPr>
          <p:cNvPr name="Group 56" id="56"/>
          <p:cNvGrpSpPr/>
          <p:nvPr/>
        </p:nvGrpSpPr>
        <p:grpSpPr>
          <a:xfrm rot="0">
            <a:off x="12508992" y="1138428"/>
            <a:ext cx="4800600" cy="342900"/>
            <a:chOff x="0" y="0"/>
            <a:chExt cx="6400800" cy="457200"/>
          </a:xfrm>
        </p:grpSpPr>
        <p:sp>
          <p:nvSpPr>
            <p:cNvPr name="Freeform 57" id="57"/>
            <p:cNvSpPr/>
            <p:nvPr/>
          </p:nvSpPr>
          <p:spPr>
            <a:xfrm flipH="false" flipV="false" rot="0">
              <a:off x="0" y="0"/>
              <a:ext cx="6400800" cy="457200"/>
            </a:xfrm>
            <a:custGeom>
              <a:avLst/>
              <a:gdLst/>
              <a:ahLst/>
              <a:cxnLst/>
              <a:rect r="r" b="b" t="t" l="l"/>
              <a:pathLst>
                <a:path h="457200" w="6400800">
                  <a:moveTo>
                    <a:pt x="0" y="0"/>
                  </a:moveTo>
                  <a:lnTo>
                    <a:pt x="6400800" y="0"/>
                  </a:lnTo>
                  <a:lnTo>
                    <a:pt x="6400800" y="457200"/>
                  </a:lnTo>
                  <a:lnTo>
                    <a:pt x="0" y="457200"/>
                  </a:lnTo>
                  <a:close/>
                </a:path>
              </a:pathLst>
            </a:custGeom>
            <a:blipFill>
              <a:blip r:embed="rId3">
                <a:alphaModFix amt="0"/>
              </a:blip>
              <a:stretch>
                <a:fillRect l="0" t="-222790" r="0" b="-222790"/>
              </a:stretch>
            </a:blipFill>
          </p:spPr>
        </p:sp>
        <p:sp>
          <p:nvSpPr>
            <p:cNvPr name="TextBox 58" id="58"/>
            <p:cNvSpPr txBox="true"/>
            <p:nvPr/>
          </p:nvSpPr>
          <p:spPr>
            <a:xfrm>
              <a:off x="0" y="-9525"/>
              <a:ext cx="6400800" cy="466725"/>
            </a:xfrm>
            <a:prstGeom prst="rect">
              <a:avLst/>
            </a:prstGeom>
          </p:spPr>
          <p:txBody>
            <a:bodyPr anchor="ctr" rtlCol="false" tIns="0" lIns="0" bIns="0" rIns="0"/>
            <a:lstStyle/>
            <a:p>
              <a:pPr algn="l">
                <a:lnSpc>
                  <a:spcPts val="2340"/>
                </a:lnSpc>
              </a:pPr>
              <a:r>
                <a:rPr lang="en-US" sz="1950" b="true">
                  <a:solidFill>
                    <a:srgbClr val="CFE8E3"/>
                  </a:solidFill>
                  <a:latin typeface="Trebuchet MS Bold"/>
                  <a:ea typeface="Trebuchet MS Bold"/>
                  <a:cs typeface="Trebuchet MS Bold"/>
                  <a:sym typeface="Trebuchet MS Bold"/>
                </a:rPr>
                <a:t>CORE INPUTS</a:t>
              </a:r>
            </a:p>
          </p:txBody>
        </p:sp>
      </p:grpSp>
      <p:grpSp>
        <p:nvGrpSpPr>
          <p:cNvPr name="Group 59" id="59"/>
          <p:cNvGrpSpPr/>
          <p:nvPr/>
        </p:nvGrpSpPr>
        <p:grpSpPr>
          <a:xfrm rot="0">
            <a:off x="891540" y="8545068"/>
            <a:ext cx="16322040" cy="617220"/>
            <a:chOff x="0" y="0"/>
            <a:chExt cx="21762720" cy="822960"/>
          </a:xfrm>
        </p:grpSpPr>
        <p:sp>
          <p:nvSpPr>
            <p:cNvPr name="Freeform 60" id="60"/>
            <p:cNvSpPr/>
            <p:nvPr/>
          </p:nvSpPr>
          <p:spPr>
            <a:xfrm flipH="false" flipV="false" rot="0">
              <a:off x="0" y="0"/>
              <a:ext cx="21762720" cy="822960"/>
            </a:xfrm>
            <a:custGeom>
              <a:avLst/>
              <a:gdLst/>
              <a:ahLst/>
              <a:cxnLst/>
              <a:rect r="r" b="b" t="t" l="l"/>
              <a:pathLst>
                <a:path h="822960" w="21762720">
                  <a:moveTo>
                    <a:pt x="0" y="0"/>
                  </a:moveTo>
                  <a:lnTo>
                    <a:pt x="21762720" y="0"/>
                  </a:lnTo>
                  <a:lnTo>
                    <a:pt x="21762720" y="822960"/>
                  </a:lnTo>
                  <a:lnTo>
                    <a:pt x="0" y="822960"/>
                  </a:lnTo>
                  <a:close/>
                </a:path>
              </a:pathLst>
            </a:custGeom>
            <a:blipFill>
              <a:blip r:embed="rId3">
                <a:alphaModFix amt="0"/>
              </a:blip>
              <a:stretch>
                <a:fillRect l="0" t="-465270" r="0" b="-465270"/>
              </a:stretch>
            </a:blipFill>
          </p:spPr>
        </p:sp>
        <p:sp>
          <p:nvSpPr>
            <p:cNvPr name="TextBox 61" id="61"/>
            <p:cNvSpPr txBox="true"/>
            <p:nvPr/>
          </p:nvSpPr>
          <p:spPr>
            <a:xfrm>
              <a:off x="0" y="-9525"/>
              <a:ext cx="21762720" cy="832485"/>
            </a:xfrm>
            <a:prstGeom prst="rect">
              <a:avLst/>
            </a:prstGeom>
          </p:spPr>
          <p:txBody>
            <a:bodyPr anchor="ctr" rtlCol="false" tIns="0" lIns="0" bIns="0" rIns="0"/>
            <a:lstStyle/>
            <a:p>
              <a:pPr algn="l">
                <a:lnSpc>
                  <a:spcPts val="4140"/>
                </a:lnSpc>
              </a:pPr>
              <a:r>
                <a:rPr lang="en-US" sz="3450" b="true">
                  <a:solidFill>
                    <a:srgbClr val="FFFFFF"/>
                  </a:solidFill>
                  <a:latin typeface="Trebuchet MS Bold"/>
                  <a:ea typeface="Trebuchet MS Bold"/>
                  <a:cs typeface="Trebuchet MS Bold"/>
                  <a:sym typeface="Trebuchet MS Bold"/>
                </a:rPr>
                <a:t>Risks  →  Evidence  →  Priority  →  Recommended Action</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370332"/>
            <a:ext cx="1371600" cy="411480"/>
            <a:chOff x="0" y="0"/>
            <a:chExt cx="1828800" cy="548640"/>
          </a:xfrm>
        </p:grpSpPr>
        <p:sp>
          <p:nvSpPr>
            <p:cNvPr name="Freeform 3" id="3"/>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4" id="4"/>
            <p:cNvSpPr txBox="true"/>
            <p:nvPr/>
          </p:nvSpPr>
          <p:spPr>
            <a:xfrm>
              <a:off x="0" y="-19050"/>
              <a:ext cx="1828800" cy="567690"/>
            </a:xfrm>
            <a:prstGeom prst="rect">
              <a:avLst/>
            </a:prstGeom>
          </p:spPr>
          <p:txBody>
            <a:bodyPr anchor="ctr" rtlCol="false" tIns="0" lIns="0" bIns="0" rIns="0"/>
            <a:lstStyle/>
            <a:p>
              <a:pPr algn="l">
                <a:lnSpc>
                  <a:spcPts val="2700"/>
                </a:lnSpc>
              </a:pPr>
              <a:r>
                <a:rPr lang="en-US" sz="2250" b="true">
                  <a:solidFill>
                    <a:srgbClr val="087E83"/>
                  </a:solidFill>
                  <a:latin typeface="Trebuchet MS Bold"/>
                  <a:ea typeface="Trebuchet MS Bold"/>
                  <a:cs typeface="Trebuchet MS Bold"/>
                  <a:sym typeface="Trebuchet MS Bold"/>
                </a:rPr>
                <a:t>ORBI</a:t>
              </a:r>
            </a:p>
          </p:txBody>
        </p:sp>
      </p:grpSp>
      <p:grpSp>
        <p:nvGrpSpPr>
          <p:cNvPr name="Group 5" id="5"/>
          <p:cNvGrpSpPr/>
          <p:nvPr/>
        </p:nvGrpSpPr>
        <p:grpSpPr>
          <a:xfrm rot="0">
            <a:off x="2263140" y="370332"/>
            <a:ext cx="13716000" cy="411480"/>
            <a:chOff x="0" y="0"/>
            <a:chExt cx="18288000" cy="548640"/>
          </a:xfrm>
        </p:grpSpPr>
        <p:sp>
          <p:nvSpPr>
            <p:cNvPr name="Freeform 6" id="6"/>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7" id="7"/>
            <p:cNvSpPr txBox="true"/>
            <p:nvPr/>
          </p:nvSpPr>
          <p:spPr>
            <a:xfrm>
              <a:off x="0" y="-47625"/>
              <a:ext cx="18288000" cy="596265"/>
            </a:xfrm>
            <a:prstGeom prst="rect">
              <a:avLst/>
            </a:prstGeom>
          </p:spPr>
          <p:txBody>
            <a:bodyPr anchor="ctr" rtlCol="false" tIns="0" lIns="0" bIns="0" rIns="0"/>
            <a:lstStyle/>
            <a:p>
              <a:pPr algn="l">
                <a:lnSpc>
                  <a:spcPts val="2340"/>
                </a:lnSpc>
              </a:pPr>
              <a:r>
                <a:rPr lang="en-US" sz="1950">
                  <a:solidFill>
                    <a:srgbClr val="51636A"/>
                  </a:solidFill>
                  <a:latin typeface="Calibri (MS)"/>
                  <a:ea typeface="Calibri (MS)"/>
                  <a:cs typeface="Calibri (MS)"/>
                  <a:sym typeface="Calibri (MS)"/>
                </a:rPr>
                <a:t>THE SME WE BUILT FOR</a:t>
              </a:r>
            </a:p>
          </p:txBody>
        </p:sp>
      </p:grpSp>
      <p:sp>
        <p:nvSpPr>
          <p:cNvPr name="AutoShape 8" id="8"/>
          <p:cNvSpPr/>
          <p:nvPr/>
        </p:nvSpPr>
        <p:spPr>
          <a:xfrm rot="5880">
            <a:off x="808663" y="9632823"/>
            <a:ext cx="16624964" cy="0"/>
          </a:xfrm>
          <a:prstGeom prst="line">
            <a:avLst/>
          </a:prstGeom>
          <a:ln cap="rnd" w="19050">
            <a:solidFill>
              <a:srgbClr val="D7E0E2"/>
            </a:solidFill>
            <a:prstDash val="solid"/>
            <a:headEnd type="none" len="sm" w="sm"/>
            <a:tailEnd type="none" len="sm" w="sm"/>
          </a:ln>
        </p:spPr>
      </p:sp>
      <p:grpSp>
        <p:nvGrpSpPr>
          <p:cNvPr name="Group 9" id="9"/>
          <p:cNvGrpSpPr/>
          <p:nvPr/>
        </p:nvGrpSpPr>
        <p:grpSpPr>
          <a:xfrm rot="0">
            <a:off x="822960" y="9779508"/>
            <a:ext cx="12344400" cy="274320"/>
            <a:chOff x="0" y="0"/>
            <a:chExt cx="16459200" cy="365760"/>
          </a:xfrm>
        </p:grpSpPr>
        <p:sp>
          <p:nvSpPr>
            <p:cNvPr name="Freeform 10" id="10"/>
            <p:cNvSpPr/>
            <p:nvPr/>
          </p:nvSpPr>
          <p:spPr>
            <a:xfrm flipH="false" flipV="false" rot="0">
              <a:off x="0" y="0"/>
              <a:ext cx="16459200" cy="365760"/>
            </a:xfrm>
            <a:custGeom>
              <a:avLst/>
              <a:gdLst/>
              <a:ahLst/>
              <a:cxnLst/>
              <a:rect r="r" b="b" t="t" l="l"/>
              <a:pathLst>
                <a:path h="365760" w="16459200">
                  <a:moveTo>
                    <a:pt x="0" y="0"/>
                  </a:moveTo>
                  <a:lnTo>
                    <a:pt x="16459200" y="0"/>
                  </a:lnTo>
                  <a:lnTo>
                    <a:pt x="16459200" y="365760"/>
                  </a:lnTo>
                  <a:lnTo>
                    <a:pt x="0" y="365760"/>
                  </a:lnTo>
                  <a:close/>
                </a:path>
              </a:pathLst>
            </a:custGeom>
            <a:blipFill>
              <a:blip r:embed="rId3">
                <a:alphaModFix amt="0"/>
              </a:blip>
              <a:stretch>
                <a:fillRect l="0" t="-826826" r="0" b="-826826"/>
              </a:stretch>
            </a:blipFill>
          </p:spPr>
        </p:sp>
        <p:sp>
          <p:nvSpPr>
            <p:cNvPr name="TextBox 11" id="11"/>
            <p:cNvSpPr txBox="true"/>
            <p:nvPr/>
          </p:nvSpPr>
          <p:spPr>
            <a:xfrm>
              <a:off x="0" y="-28575"/>
              <a:ext cx="16459200" cy="394335"/>
            </a:xfrm>
            <a:prstGeom prst="rect">
              <a:avLst/>
            </a:prstGeom>
          </p:spPr>
          <p:txBody>
            <a:bodyPr anchor="ctr" rtlCol="false" tIns="0" lIns="0" bIns="0" rIns="0"/>
            <a:lstStyle/>
            <a:p>
              <a:pPr algn="l">
                <a:lnSpc>
                  <a:spcPts val="1980"/>
                </a:lnSpc>
              </a:pPr>
              <a:r>
                <a:rPr lang="en-US" sz="1650">
                  <a:solidFill>
                    <a:srgbClr val="51636A"/>
                  </a:solidFill>
                  <a:latin typeface="Calibri (MS)"/>
                  <a:ea typeface="Calibri (MS)"/>
                  <a:cs typeface="Calibri (MS)"/>
                  <a:sym typeface="Calibri (MS)"/>
                </a:rPr>
                <a:t>Operations risk intelligence for retail SMEs</a:t>
              </a:r>
            </a:p>
          </p:txBody>
        </p:sp>
      </p:grpSp>
      <p:grpSp>
        <p:nvGrpSpPr>
          <p:cNvPr name="Group 12" id="12"/>
          <p:cNvGrpSpPr/>
          <p:nvPr/>
        </p:nvGrpSpPr>
        <p:grpSpPr>
          <a:xfrm rot="0">
            <a:off x="15979140" y="9752076"/>
            <a:ext cx="1440180" cy="342900"/>
            <a:chOff x="0" y="0"/>
            <a:chExt cx="1920240" cy="457200"/>
          </a:xfrm>
        </p:grpSpPr>
        <p:sp>
          <p:nvSpPr>
            <p:cNvPr name="Freeform 13" id="13"/>
            <p:cNvSpPr/>
            <p:nvPr/>
          </p:nvSpPr>
          <p:spPr>
            <a:xfrm flipH="false" flipV="false" rot="0">
              <a:off x="0" y="0"/>
              <a:ext cx="1920240" cy="457200"/>
            </a:xfrm>
            <a:custGeom>
              <a:avLst/>
              <a:gdLst/>
              <a:ahLst/>
              <a:cxnLst/>
              <a:rect r="r" b="b" t="t" l="l"/>
              <a:pathLst>
                <a:path h="457200" w="1920240">
                  <a:moveTo>
                    <a:pt x="0" y="0"/>
                  </a:moveTo>
                  <a:lnTo>
                    <a:pt x="1920240" y="0"/>
                  </a:lnTo>
                  <a:lnTo>
                    <a:pt x="1920240" y="457200"/>
                  </a:lnTo>
                  <a:lnTo>
                    <a:pt x="0" y="457200"/>
                  </a:lnTo>
                  <a:close/>
                </a:path>
              </a:pathLst>
            </a:custGeom>
            <a:blipFill>
              <a:blip r:embed="rId3">
                <a:alphaModFix amt="0"/>
              </a:blip>
              <a:stretch>
                <a:fillRect l="0" t="-31837" r="0" b="-31837"/>
              </a:stretch>
            </a:blipFill>
          </p:spPr>
        </p:sp>
        <p:sp>
          <p:nvSpPr>
            <p:cNvPr name="TextBox 14" id="14"/>
            <p:cNvSpPr txBox="true"/>
            <p:nvPr/>
          </p:nvSpPr>
          <p:spPr>
            <a:xfrm>
              <a:off x="0" y="-38100"/>
              <a:ext cx="1920240" cy="495300"/>
            </a:xfrm>
            <a:prstGeom prst="rect">
              <a:avLst/>
            </a:prstGeom>
          </p:spPr>
          <p:txBody>
            <a:bodyPr anchor="ctr" rtlCol="false" tIns="0" lIns="0" bIns="0" rIns="0"/>
            <a:lstStyle/>
            <a:p>
              <a:pPr algn="r">
                <a:lnSpc>
                  <a:spcPts val="2160"/>
                </a:lnSpc>
              </a:pPr>
              <a:r>
                <a:rPr lang="en-US" sz="1800">
                  <a:solidFill>
                    <a:srgbClr val="51636A"/>
                  </a:solidFill>
                  <a:latin typeface="Calibri (MS)"/>
                  <a:ea typeface="Calibri (MS)"/>
                  <a:cs typeface="Calibri (MS)"/>
                  <a:sym typeface="Calibri (MS)"/>
                </a:rPr>
                <a:t>02 / 08</a:t>
              </a:r>
            </a:p>
          </p:txBody>
        </p:sp>
      </p:grpSp>
      <p:grpSp>
        <p:nvGrpSpPr>
          <p:cNvPr name="Group 15" id="15"/>
          <p:cNvGrpSpPr/>
          <p:nvPr/>
        </p:nvGrpSpPr>
        <p:grpSpPr>
          <a:xfrm rot="0">
            <a:off x="822960" y="1234440"/>
            <a:ext cx="16596360" cy="1577340"/>
            <a:chOff x="0" y="0"/>
            <a:chExt cx="22128480" cy="2103120"/>
          </a:xfrm>
        </p:grpSpPr>
        <p:sp>
          <p:nvSpPr>
            <p:cNvPr name="Freeform 16" id="16"/>
            <p:cNvSpPr/>
            <p:nvPr/>
          </p:nvSpPr>
          <p:spPr>
            <a:xfrm flipH="false" flipV="false" rot="0">
              <a:off x="0" y="0"/>
              <a:ext cx="22128480" cy="2103120"/>
            </a:xfrm>
            <a:custGeom>
              <a:avLst/>
              <a:gdLst/>
              <a:ahLst/>
              <a:cxnLst/>
              <a:rect r="r" b="b" t="t" l="l"/>
              <a:pathLst>
                <a:path h="2103120" w="22128480">
                  <a:moveTo>
                    <a:pt x="0" y="0"/>
                  </a:moveTo>
                  <a:lnTo>
                    <a:pt x="22128480" y="0"/>
                  </a:lnTo>
                  <a:lnTo>
                    <a:pt x="22128480" y="2103120"/>
                  </a:lnTo>
                  <a:lnTo>
                    <a:pt x="0" y="2103120"/>
                  </a:lnTo>
                  <a:close/>
                </a:path>
              </a:pathLst>
            </a:custGeom>
            <a:blipFill>
              <a:blip r:embed="rId3">
                <a:alphaModFix amt="0"/>
              </a:blip>
              <a:stretch>
                <a:fillRect l="0" t="-155016" r="0" b="-155016"/>
              </a:stretch>
            </a:blipFill>
          </p:spPr>
        </p:sp>
        <p:sp>
          <p:nvSpPr>
            <p:cNvPr name="TextBox 17" id="17"/>
            <p:cNvSpPr txBox="true"/>
            <p:nvPr/>
          </p:nvSpPr>
          <p:spPr>
            <a:xfrm>
              <a:off x="0" y="-9525"/>
              <a:ext cx="22128480" cy="2112645"/>
            </a:xfrm>
            <a:prstGeom prst="rect">
              <a:avLst/>
            </a:prstGeom>
          </p:spPr>
          <p:txBody>
            <a:bodyPr anchor="ctr" rtlCol="false" tIns="0" lIns="0" bIns="0" rIns="0"/>
            <a:lstStyle/>
            <a:p>
              <a:pPr algn="l">
                <a:lnSpc>
                  <a:spcPts val="7200"/>
                </a:lnSpc>
              </a:pPr>
              <a:r>
                <a:rPr lang="en-US" sz="6000" b="true">
                  <a:solidFill>
                    <a:srgbClr val="202C30"/>
                  </a:solidFill>
                  <a:latin typeface="Trebuchet MS Bold"/>
                  <a:ea typeface="Trebuchet MS Bold"/>
                  <a:cs typeface="Trebuchet MS Bold"/>
                  <a:sym typeface="Trebuchet MS Bold"/>
                </a:rPr>
                <a:t>Built for Retail SMEs</a:t>
              </a:r>
            </a:p>
          </p:txBody>
        </p:sp>
      </p:grpSp>
      <p:grpSp>
        <p:nvGrpSpPr>
          <p:cNvPr name="Group 18" id="18"/>
          <p:cNvGrpSpPr/>
          <p:nvPr/>
        </p:nvGrpSpPr>
        <p:grpSpPr>
          <a:xfrm rot="0">
            <a:off x="822960" y="2743200"/>
            <a:ext cx="16184880" cy="1165860"/>
            <a:chOff x="0" y="0"/>
            <a:chExt cx="21579840" cy="1554480"/>
          </a:xfrm>
        </p:grpSpPr>
        <p:sp>
          <p:nvSpPr>
            <p:cNvPr name="Freeform 19" id="19"/>
            <p:cNvSpPr/>
            <p:nvPr/>
          </p:nvSpPr>
          <p:spPr>
            <a:xfrm flipH="false" flipV="false" rot="0">
              <a:off x="0" y="0"/>
              <a:ext cx="21579839" cy="1554480"/>
            </a:xfrm>
            <a:custGeom>
              <a:avLst/>
              <a:gdLst/>
              <a:ahLst/>
              <a:cxnLst/>
              <a:rect r="r" b="b" t="t" l="l"/>
              <a:pathLst>
                <a:path h="1554480" w="21579839">
                  <a:moveTo>
                    <a:pt x="0" y="0"/>
                  </a:moveTo>
                  <a:lnTo>
                    <a:pt x="21579839" y="0"/>
                  </a:lnTo>
                  <a:lnTo>
                    <a:pt x="21579839" y="1554480"/>
                  </a:lnTo>
                  <a:lnTo>
                    <a:pt x="0" y="1554480"/>
                  </a:lnTo>
                  <a:close/>
                </a:path>
              </a:pathLst>
            </a:custGeom>
            <a:blipFill>
              <a:blip r:embed="rId3">
                <a:alphaModFix amt="0"/>
              </a:blip>
              <a:stretch>
                <a:fillRect l="0" t="-220498" r="0" b="-220498"/>
              </a:stretch>
            </a:blipFill>
          </p:spPr>
        </p:sp>
        <p:sp>
          <p:nvSpPr>
            <p:cNvPr name="TextBox 20" id="20"/>
            <p:cNvSpPr txBox="true"/>
            <p:nvPr/>
          </p:nvSpPr>
          <p:spPr>
            <a:xfrm>
              <a:off x="0" y="-76200"/>
              <a:ext cx="21579840" cy="1630680"/>
            </a:xfrm>
            <a:prstGeom prst="rect">
              <a:avLst/>
            </a:prstGeom>
          </p:spPr>
          <p:txBody>
            <a:bodyPr anchor="ctr" rtlCol="false" tIns="0" lIns="0" bIns="0" rIns="0"/>
            <a:lstStyle/>
            <a:p>
              <a:pPr algn="l">
                <a:lnSpc>
                  <a:spcPts val="4500"/>
                </a:lnSpc>
              </a:pPr>
              <a:r>
                <a:rPr lang="en-US" sz="3750">
                  <a:solidFill>
                    <a:srgbClr val="202C30"/>
                  </a:solidFill>
                  <a:latin typeface="Calibri (MS)"/>
                  <a:ea typeface="Calibri (MS)"/>
                  <a:cs typeface="Calibri (MS)"/>
                  <a:sym typeface="Calibri (MS)"/>
                </a:rPr>
                <a:t>A growing retail business already has the data.</a:t>
              </a:r>
            </a:p>
            <a:p>
              <a:pPr algn="l">
                <a:lnSpc>
                  <a:spcPts val="4500"/>
                </a:lnSpc>
              </a:pPr>
              <a:r>
                <a:rPr lang="en-US" sz="3750">
                  <a:solidFill>
                    <a:srgbClr val="202C30"/>
                  </a:solidFill>
                  <a:latin typeface="Calibri (MS)"/>
                  <a:ea typeface="Calibri (MS)"/>
                  <a:cs typeface="Calibri (MS)"/>
                  <a:sym typeface="Calibri (MS)"/>
                </a:rPr>
                <a:t>Its team still has to connect the signals manually.</a:t>
              </a:r>
            </a:p>
          </p:txBody>
        </p:sp>
      </p:grpSp>
      <p:grpSp>
        <p:nvGrpSpPr>
          <p:cNvPr name="Group 21" id="21"/>
          <p:cNvGrpSpPr/>
          <p:nvPr/>
        </p:nvGrpSpPr>
        <p:grpSpPr>
          <a:xfrm rot="0">
            <a:off x="815340" y="4340352"/>
            <a:ext cx="5309616" cy="2141220"/>
            <a:chOff x="0" y="0"/>
            <a:chExt cx="7079488" cy="2854960"/>
          </a:xfrm>
        </p:grpSpPr>
        <p:sp>
          <p:nvSpPr>
            <p:cNvPr name="Freeform 22" id="22"/>
            <p:cNvSpPr/>
            <p:nvPr/>
          </p:nvSpPr>
          <p:spPr>
            <a:xfrm flipH="false" flipV="false" rot="0">
              <a:off x="0" y="0"/>
              <a:ext cx="7079488" cy="2854960"/>
            </a:xfrm>
            <a:custGeom>
              <a:avLst/>
              <a:gdLst/>
              <a:ahLst/>
              <a:cxnLst/>
              <a:rect r="r" b="b" t="t" l="l"/>
              <a:pathLst>
                <a:path h="2854960" w="7079488">
                  <a:moveTo>
                    <a:pt x="0" y="0"/>
                  </a:moveTo>
                  <a:lnTo>
                    <a:pt x="7079488" y="0"/>
                  </a:lnTo>
                  <a:lnTo>
                    <a:pt x="7079488" y="2854960"/>
                  </a:lnTo>
                  <a:lnTo>
                    <a:pt x="0" y="2854960"/>
                  </a:lnTo>
                  <a:close/>
                </a:path>
              </a:pathLst>
            </a:custGeom>
            <a:solidFill>
              <a:srgbClr val="F5F7F7"/>
            </a:solidFill>
            <a:ln w="15240" cap="sq">
              <a:solidFill>
                <a:srgbClr val="F5F7F7"/>
              </a:solidFill>
              <a:prstDash val="solid"/>
              <a:miter/>
            </a:ln>
          </p:spPr>
        </p:sp>
      </p:grpSp>
      <p:grpSp>
        <p:nvGrpSpPr>
          <p:cNvPr name="Group 23" id="23"/>
          <p:cNvGrpSpPr/>
          <p:nvPr/>
        </p:nvGrpSpPr>
        <p:grpSpPr>
          <a:xfrm rot="0">
            <a:off x="815340" y="4340352"/>
            <a:ext cx="118110" cy="2141220"/>
            <a:chOff x="0" y="0"/>
            <a:chExt cx="157480" cy="2854960"/>
          </a:xfrm>
        </p:grpSpPr>
        <p:sp>
          <p:nvSpPr>
            <p:cNvPr name="Freeform 24" id="24"/>
            <p:cNvSpPr/>
            <p:nvPr/>
          </p:nvSpPr>
          <p:spPr>
            <a:xfrm flipH="false" flipV="false" rot="0">
              <a:off x="0" y="0"/>
              <a:ext cx="157480" cy="2854960"/>
            </a:xfrm>
            <a:custGeom>
              <a:avLst/>
              <a:gdLst/>
              <a:ahLst/>
              <a:cxnLst/>
              <a:rect r="r" b="b" t="t" l="l"/>
              <a:pathLst>
                <a:path h="2854960" w="157480">
                  <a:moveTo>
                    <a:pt x="0" y="0"/>
                  </a:moveTo>
                  <a:lnTo>
                    <a:pt x="157480" y="0"/>
                  </a:lnTo>
                  <a:lnTo>
                    <a:pt x="157480" y="2854960"/>
                  </a:lnTo>
                  <a:lnTo>
                    <a:pt x="0" y="2854960"/>
                  </a:lnTo>
                  <a:close/>
                </a:path>
              </a:pathLst>
            </a:custGeom>
            <a:solidFill>
              <a:srgbClr val="087E83"/>
            </a:solidFill>
            <a:ln w="15240" cap="sq">
              <a:solidFill>
                <a:srgbClr val="087E83"/>
              </a:solidFill>
              <a:prstDash val="solid"/>
              <a:miter/>
            </a:ln>
          </p:spPr>
        </p:sp>
      </p:grpSp>
      <p:grpSp>
        <p:nvGrpSpPr>
          <p:cNvPr name="Group 25" id="25"/>
          <p:cNvGrpSpPr/>
          <p:nvPr/>
        </p:nvGrpSpPr>
        <p:grpSpPr>
          <a:xfrm rot="0">
            <a:off x="1138428" y="4608576"/>
            <a:ext cx="4690872" cy="480060"/>
            <a:chOff x="0" y="0"/>
            <a:chExt cx="6254496" cy="640080"/>
          </a:xfrm>
        </p:grpSpPr>
        <p:sp>
          <p:nvSpPr>
            <p:cNvPr name="Freeform 26" id="26"/>
            <p:cNvSpPr/>
            <p:nvPr/>
          </p:nvSpPr>
          <p:spPr>
            <a:xfrm flipH="false" flipV="false" rot="0">
              <a:off x="0" y="0"/>
              <a:ext cx="6254496" cy="640080"/>
            </a:xfrm>
            <a:custGeom>
              <a:avLst/>
              <a:gdLst/>
              <a:ahLst/>
              <a:cxnLst/>
              <a:rect r="r" b="b" t="t" l="l"/>
              <a:pathLst>
                <a:path h="640080" w="6254496">
                  <a:moveTo>
                    <a:pt x="0" y="0"/>
                  </a:moveTo>
                  <a:lnTo>
                    <a:pt x="6254496" y="0"/>
                  </a:lnTo>
                  <a:lnTo>
                    <a:pt x="6254496" y="640080"/>
                  </a:lnTo>
                  <a:lnTo>
                    <a:pt x="0" y="640080"/>
                  </a:lnTo>
                  <a:close/>
                </a:path>
              </a:pathLst>
            </a:custGeom>
            <a:blipFill>
              <a:blip r:embed="rId3">
                <a:alphaModFix amt="0"/>
              </a:blip>
              <a:stretch>
                <a:fillRect l="0" t="-140396" r="0" b="-140396"/>
              </a:stretch>
            </a:blipFill>
          </p:spPr>
        </p:sp>
        <p:sp>
          <p:nvSpPr>
            <p:cNvPr name="TextBox 27" id="27"/>
            <p:cNvSpPr txBox="true"/>
            <p:nvPr/>
          </p:nvSpPr>
          <p:spPr>
            <a:xfrm>
              <a:off x="0" y="-9525"/>
              <a:ext cx="6254496" cy="649605"/>
            </a:xfrm>
            <a:prstGeom prst="rect">
              <a:avLst/>
            </a:prstGeom>
          </p:spPr>
          <p:txBody>
            <a:bodyPr anchor="ctr" rtlCol="false" tIns="0" lIns="0" bIns="0" rIns="0"/>
            <a:lstStyle/>
            <a:p>
              <a:pPr algn="l">
                <a:lnSpc>
                  <a:spcPts val="4140"/>
                </a:lnSpc>
              </a:pPr>
              <a:r>
                <a:rPr lang="en-US" sz="3450" b="true">
                  <a:solidFill>
                    <a:srgbClr val="202C30"/>
                  </a:solidFill>
                  <a:latin typeface="Trebuchet MS Bold"/>
                  <a:ea typeface="Trebuchet MS Bold"/>
                  <a:cs typeface="Trebuchet MS Bold"/>
                  <a:sym typeface="Trebuchet MS Bold"/>
                </a:rPr>
                <a:t>Sales &amp; products</a:t>
              </a:r>
            </a:p>
          </p:txBody>
        </p:sp>
      </p:grpSp>
      <p:grpSp>
        <p:nvGrpSpPr>
          <p:cNvPr name="Group 28" id="28"/>
          <p:cNvGrpSpPr/>
          <p:nvPr/>
        </p:nvGrpSpPr>
        <p:grpSpPr>
          <a:xfrm rot="0">
            <a:off x="1138428" y="5390388"/>
            <a:ext cx="4690872" cy="891540"/>
            <a:chOff x="0" y="0"/>
            <a:chExt cx="6254496" cy="1188720"/>
          </a:xfrm>
        </p:grpSpPr>
        <p:sp>
          <p:nvSpPr>
            <p:cNvPr name="Freeform 29" id="29"/>
            <p:cNvSpPr/>
            <p:nvPr/>
          </p:nvSpPr>
          <p:spPr>
            <a:xfrm flipH="false" flipV="false" rot="0">
              <a:off x="0" y="0"/>
              <a:ext cx="6254496" cy="1188720"/>
            </a:xfrm>
            <a:custGeom>
              <a:avLst/>
              <a:gdLst/>
              <a:ahLst/>
              <a:cxnLst/>
              <a:rect r="r" b="b" t="t" l="l"/>
              <a:pathLst>
                <a:path h="1188720" w="6254496">
                  <a:moveTo>
                    <a:pt x="0" y="0"/>
                  </a:moveTo>
                  <a:lnTo>
                    <a:pt x="6254496" y="0"/>
                  </a:lnTo>
                  <a:lnTo>
                    <a:pt x="6254496" y="1188720"/>
                  </a:lnTo>
                  <a:lnTo>
                    <a:pt x="0" y="1188720"/>
                  </a:lnTo>
                  <a:close/>
                </a:path>
              </a:pathLst>
            </a:custGeom>
            <a:blipFill>
              <a:blip r:embed="rId3">
                <a:alphaModFix amt="0"/>
              </a:blip>
              <a:stretch>
                <a:fillRect l="0" t="-52521" r="0" b="-52521"/>
              </a:stretch>
            </a:blipFill>
          </p:spPr>
        </p:sp>
        <p:sp>
          <p:nvSpPr>
            <p:cNvPr name="TextBox 30" id="30"/>
            <p:cNvSpPr txBox="true"/>
            <p:nvPr/>
          </p:nvSpPr>
          <p:spPr>
            <a:xfrm>
              <a:off x="0" y="-66675"/>
              <a:ext cx="6254496" cy="1255395"/>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Multiple SKUs</a:t>
              </a:r>
            </a:p>
            <a:p>
              <a:pPr algn="l">
                <a:lnSpc>
                  <a:spcPts val="3600"/>
                </a:lnSpc>
              </a:pPr>
              <a:r>
                <a:rPr lang="en-US" sz="3000">
                  <a:solidFill>
                    <a:srgbClr val="51636A"/>
                  </a:solidFill>
                  <a:latin typeface="Calibri (MS)"/>
                  <a:ea typeface="Calibri (MS)"/>
                  <a:cs typeface="Calibri (MS)"/>
                  <a:sym typeface="Calibri (MS)"/>
                </a:rPr>
                <a:t>Sales across files</a:t>
              </a:r>
            </a:p>
          </p:txBody>
        </p:sp>
      </p:grpSp>
      <p:grpSp>
        <p:nvGrpSpPr>
          <p:cNvPr name="Group 31" id="31"/>
          <p:cNvGrpSpPr/>
          <p:nvPr/>
        </p:nvGrpSpPr>
        <p:grpSpPr>
          <a:xfrm rot="0">
            <a:off x="6466332" y="4340352"/>
            <a:ext cx="5309616" cy="2141220"/>
            <a:chOff x="0" y="0"/>
            <a:chExt cx="7079488" cy="2854960"/>
          </a:xfrm>
        </p:grpSpPr>
        <p:sp>
          <p:nvSpPr>
            <p:cNvPr name="Freeform 32" id="32"/>
            <p:cNvSpPr/>
            <p:nvPr/>
          </p:nvSpPr>
          <p:spPr>
            <a:xfrm flipH="false" flipV="false" rot="0">
              <a:off x="0" y="0"/>
              <a:ext cx="7079488" cy="2854960"/>
            </a:xfrm>
            <a:custGeom>
              <a:avLst/>
              <a:gdLst/>
              <a:ahLst/>
              <a:cxnLst/>
              <a:rect r="r" b="b" t="t" l="l"/>
              <a:pathLst>
                <a:path h="2854960" w="7079488">
                  <a:moveTo>
                    <a:pt x="0" y="0"/>
                  </a:moveTo>
                  <a:lnTo>
                    <a:pt x="7079488" y="0"/>
                  </a:lnTo>
                  <a:lnTo>
                    <a:pt x="7079488" y="2854960"/>
                  </a:lnTo>
                  <a:lnTo>
                    <a:pt x="0" y="2854960"/>
                  </a:lnTo>
                  <a:close/>
                </a:path>
              </a:pathLst>
            </a:custGeom>
            <a:solidFill>
              <a:srgbClr val="F5F7F7"/>
            </a:solidFill>
            <a:ln w="15240" cap="sq">
              <a:solidFill>
                <a:srgbClr val="F5F7F7"/>
              </a:solidFill>
              <a:prstDash val="solid"/>
              <a:miter/>
            </a:ln>
          </p:spPr>
        </p:sp>
      </p:grpSp>
      <p:grpSp>
        <p:nvGrpSpPr>
          <p:cNvPr name="Group 33" id="33"/>
          <p:cNvGrpSpPr/>
          <p:nvPr/>
        </p:nvGrpSpPr>
        <p:grpSpPr>
          <a:xfrm rot="0">
            <a:off x="6466332" y="4340352"/>
            <a:ext cx="118110" cy="2141220"/>
            <a:chOff x="0" y="0"/>
            <a:chExt cx="157480" cy="2854960"/>
          </a:xfrm>
        </p:grpSpPr>
        <p:sp>
          <p:nvSpPr>
            <p:cNvPr name="Freeform 34" id="34"/>
            <p:cNvSpPr/>
            <p:nvPr/>
          </p:nvSpPr>
          <p:spPr>
            <a:xfrm flipH="false" flipV="false" rot="0">
              <a:off x="0" y="0"/>
              <a:ext cx="157480" cy="2854960"/>
            </a:xfrm>
            <a:custGeom>
              <a:avLst/>
              <a:gdLst/>
              <a:ahLst/>
              <a:cxnLst/>
              <a:rect r="r" b="b" t="t" l="l"/>
              <a:pathLst>
                <a:path h="2854960" w="157480">
                  <a:moveTo>
                    <a:pt x="0" y="0"/>
                  </a:moveTo>
                  <a:lnTo>
                    <a:pt x="157480" y="0"/>
                  </a:lnTo>
                  <a:lnTo>
                    <a:pt x="157480" y="2854960"/>
                  </a:lnTo>
                  <a:lnTo>
                    <a:pt x="0" y="2854960"/>
                  </a:lnTo>
                  <a:close/>
                </a:path>
              </a:pathLst>
            </a:custGeom>
            <a:solidFill>
              <a:srgbClr val="087E83"/>
            </a:solidFill>
            <a:ln w="15240" cap="sq">
              <a:solidFill>
                <a:srgbClr val="087E83"/>
              </a:solidFill>
              <a:prstDash val="solid"/>
              <a:miter/>
            </a:ln>
          </p:spPr>
        </p:sp>
      </p:grpSp>
      <p:grpSp>
        <p:nvGrpSpPr>
          <p:cNvPr name="Group 35" id="35"/>
          <p:cNvGrpSpPr/>
          <p:nvPr/>
        </p:nvGrpSpPr>
        <p:grpSpPr>
          <a:xfrm rot="0">
            <a:off x="6789420" y="4608576"/>
            <a:ext cx="4690872" cy="480060"/>
            <a:chOff x="0" y="0"/>
            <a:chExt cx="6254496" cy="640080"/>
          </a:xfrm>
        </p:grpSpPr>
        <p:sp>
          <p:nvSpPr>
            <p:cNvPr name="Freeform 36" id="36"/>
            <p:cNvSpPr/>
            <p:nvPr/>
          </p:nvSpPr>
          <p:spPr>
            <a:xfrm flipH="false" flipV="false" rot="0">
              <a:off x="0" y="0"/>
              <a:ext cx="6254496" cy="640080"/>
            </a:xfrm>
            <a:custGeom>
              <a:avLst/>
              <a:gdLst/>
              <a:ahLst/>
              <a:cxnLst/>
              <a:rect r="r" b="b" t="t" l="l"/>
              <a:pathLst>
                <a:path h="640080" w="6254496">
                  <a:moveTo>
                    <a:pt x="0" y="0"/>
                  </a:moveTo>
                  <a:lnTo>
                    <a:pt x="6254496" y="0"/>
                  </a:lnTo>
                  <a:lnTo>
                    <a:pt x="6254496" y="640080"/>
                  </a:lnTo>
                  <a:lnTo>
                    <a:pt x="0" y="640080"/>
                  </a:lnTo>
                  <a:close/>
                </a:path>
              </a:pathLst>
            </a:custGeom>
            <a:blipFill>
              <a:blip r:embed="rId3">
                <a:alphaModFix amt="0"/>
              </a:blip>
              <a:stretch>
                <a:fillRect l="0" t="-140396" r="0" b="-140396"/>
              </a:stretch>
            </a:blipFill>
          </p:spPr>
        </p:sp>
        <p:sp>
          <p:nvSpPr>
            <p:cNvPr name="TextBox 37" id="37"/>
            <p:cNvSpPr txBox="true"/>
            <p:nvPr/>
          </p:nvSpPr>
          <p:spPr>
            <a:xfrm>
              <a:off x="0" y="-9525"/>
              <a:ext cx="6254496" cy="649605"/>
            </a:xfrm>
            <a:prstGeom prst="rect">
              <a:avLst/>
            </a:prstGeom>
          </p:spPr>
          <p:txBody>
            <a:bodyPr anchor="ctr" rtlCol="false" tIns="0" lIns="0" bIns="0" rIns="0"/>
            <a:lstStyle/>
            <a:p>
              <a:pPr algn="l">
                <a:lnSpc>
                  <a:spcPts val="4140"/>
                </a:lnSpc>
              </a:pPr>
              <a:r>
                <a:rPr lang="en-US" sz="3450" b="true">
                  <a:solidFill>
                    <a:srgbClr val="202C30"/>
                  </a:solidFill>
                  <a:latin typeface="Trebuchet MS Bold"/>
                  <a:ea typeface="Trebuchet MS Bold"/>
                  <a:cs typeface="Trebuchet MS Bold"/>
                  <a:sym typeface="Trebuchet MS Bold"/>
                </a:rPr>
                <a:t>Inventory &amp; orders</a:t>
              </a:r>
            </a:p>
          </p:txBody>
        </p:sp>
      </p:grpSp>
      <p:grpSp>
        <p:nvGrpSpPr>
          <p:cNvPr name="Group 38" id="38"/>
          <p:cNvGrpSpPr/>
          <p:nvPr/>
        </p:nvGrpSpPr>
        <p:grpSpPr>
          <a:xfrm rot="0">
            <a:off x="6789420" y="5390388"/>
            <a:ext cx="4690872" cy="891540"/>
            <a:chOff x="0" y="0"/>
            <a:chExt cx="6254496" cy="1188720"/>
          </a:xfrm>
        </p:grpSpPr>
        <p:sp>
          <p:nvSpPr>
            <p:cNvPr name="Freeform 39" id="39"/>
            <p:cNvSpPr/>
            <p:nvPr/>
          </p:nvSpPr>
          <p:spPr>
            <a:xfrm flipH="false" flipV="false" rot="0">
              <a:off x="0" y="0"/>
              <a:ext cx="6254496" cy="1188720"/>
            </a:xfrm>
            <a:custGeom>
              <a:avLst/>
              <a:gdLst/>
              <a:ahLst/>
              <a:cxnLst/>
              <a:rect r="r" b="b" t="t" l="l"/>
              <a:pathLst>
                <a:path h="1188720" w="6254496">
                  <a:moveTo>
                    <a:pt x="0" y="0"/>
                  </a:moveTo>
                  <a:lnTo>
                    <a:pt x="6254496" y="0"/>
                  </a:lnTo>
                  <a:lnTo>
                    <a:pt x="6254496" y="1188720"/>
                  </a:lnTo>
                  <a:lnTo>
                    <a:pt x="0" y="1188720"/>
                  </a:lnTo>
                  <a:close/>
                </a:path>
              </a:pathLst>
            </a:custGeom>
            <a:blipFill>
              <a:blip r:embed="rId3">
                <a:alphaModFix amt="0"/>
              </a:blip>
              <a:stretch>
                <a:fillRect l="0" t="-52521" r="0" b="-52521"/>
              </a:stretch>
            </a:blipFill>
          </p:spPr>
        </p:sp>
        <p:sp>
          <p:nvSpPr>
            <p:cNvPr name="TextBox 40" id="40"/>
            <p:cNvSpPr txBox="true"/>
            <p:nvPr/>
          </p:nvSpPr>
          <p:spPr>
            <a:xfrm>
              <a:off x="0" y="-66675"/>
              <a:ext cx="6254496" cy="1255395"/>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Stores and warehouses</a:t>
              </a:r>
            </a:p>
            <a:p>
              <a:pPr algn="l">
                <a:lnSpc>
                  <a:spcPts val="3600"/>
                </a:lnSpc>
              </a:pPr>
              <a:r>
                <a:rPr lang="en-US" sz="3000">
                  <a:solidFill>
                    <a:srgbClr val="51636A"/>
                  </a:solidFill>
                  <a:latin typeface="Calibri (MS)"/>
                  <a:ea typeface="Calibri (MS)"/>
                  <a:cs typeface="Calibri (MS)"/>
                  <a:sym typeface="Calibri (MS)"/>
                </a:rPr>
                <a:t>Daily customer orders</a:t>
              </a:r>
            </a:p>
          </p:txBody>
        </p:sp>
      </p:grpSp>
      <p:grpSp>
        <p:nvGrpSpPr>
          <p:cNvPr name="Group 41" id="41"/>
          <p:cNvGrpSpPr/>
          <p:nvPr/>
        </p:nvGrpSpPr>
        <p:grpSpPr>
          <a:xfrm rot="0">
            <a:off x="12117324" y="4340352"/>
            <a:ext cx="5309616" cy="2141220"/>
            <a:chOff x="0" y="0"/>
            <a:chExt cx="7079488" cy="2854960"/>
          </a:xfrm>
        </p:grpSpPr>
        <p:sp>
          <p:nvSpPr>
            <p:cNvPr name="Freeform 42" id="42"/>
            <p:cNvSpPr/>
            <p:nvPr/>
          </p:nvSpPr>
          <p:spPr>
            <a:xfrm flipH="false" flipV="false" rot="0">
              <a:off x="0" y="0"/>
              <a:ext cx="7079488" cy="2854960"/>
            </a:xfrm>
            <a:custGeom>
              <a:avLst/>
              <a:gdLst/>
              <a:ahLst/>
              <a:cxnLst/>
              <a:rect r="r" b="b" t="t" l="l"/>
              <a:pathLst>
                <a:path h="2854960" w="7079488">
                  <a:moveTo>
                    <a:pt x="0" y="0"/>
                  </a:moveTo>
                  <a:lnTo>
                    <a:pt x="7079488" y="0"/>
                  </a:lnTo>
                  <a:lnTo>
                    <a:pt x="7079488" y="2854960"/>
                  </a:lnTo>
                  <a:lnTo>
                    <a:pt x="0" y="2854960"/>
                  </a:lnTo>
                  <a:close/>
                </a:path>
              </a:pathLst>
            </a:custGeom>
            <a:solidFill>
              <a:srgbClr val="F5F7F7"/>
            </a:solidFill>
            <a:ln w="15240" cap="sq">
              <a:solidFill>
                <a:srgbClr val="F5F7F7"/>
              </a:solidFill>
              <a:prstDash val="solid"/>
              <a:miter/>
            </a:ln>
          </p:spPr>
        </p:sp>
      </p:grpSp>
      <p:grpSp>
        <p:nvGrpSpPr>
          <p:cNvPr name="Group 43" id="43"/>
          <p:cNvGrpSpPr/>
          <p:nvPr/>
        </p:nvGrpSpPr>
        <p:grpSpPr>
          <a:xfrm rot="0">
            <a:off x="12117324" y="4340352"/>
            <a:ext cx="118110" cy="2141220"/>
            <a:chOff x="0" y="0"/>
            <a:chExt cx="157480" cy="2854960"/>
          </a:xfrm>
        </p:grpSpPr>
        <p:sp>
          <p:nvSpPr>
            <p:cNvPr name="Freeform 44" id="44"/>
            <p:cNvSpPr/>
            <p:nvPr/>
          </p:nvSpPr>
          <p:spPr>
            <a:xfrm flipH="false" flipV="false" rot="0">
              <a:off x="0" y="0"/>
              <a:ext cx="157480" cy="2854960"/>
            </a:xfrm>
            <a:custGeom>
              <a:avLst/>
              <a:gdLst/>
              <a:ahLst/>
              <a:cxnLst/>
              <a:rect r="r" b="b" t="t" l="l"/>
              <a:pathLst>
                <a:path h="2854960" w="157480">
                  <a:moveTo>
                    <a:pt x="0" y="0"/>
                  </a:moveTo>
                  <a:lnTo>
                    <a:pt x="157480" y="0"/>
                  </a:lnTo>
                  <a:lnTo>
                    <a:pt x="157480" y="2854960"/>
                  </a:lnTo>
                  <a:lnTo>
                    <a:pt x="0" y="2854960"/>
                  </a:lnTo>
                  <a:close/>
                </a:path>
              </a:pathLst>
            </a:custGeom>
            <a:solidFill>
              <a:srgbClr val="087E83"/>
            </a:solidFill>
            <a:ln w="15240" cap="sq">
              <a:solidFill>
                <a:srgbClr val="087E83"/>
              </a:solidFill>
              <a:prstDash val="solid"/>
              <a:miter/>
            </a:ln>
          </p:spPr>
        </p:sp>
      </p:grpSp>
      <p:grpSp>
        <p:nvGrpSpPr>
          <p:cNvPr name="Group 45" id="45"/>
          <p:cNvGrpSpPr/>
          <p:nvPr/>
        </p:nvGrpSpPr>
        <p:grpSpPr>
          <a:xfrm rot="0">
            <a:off x="12440412" y="4608576"/>
            <a:ext cx="4690872" cy="480060"/>
            <a:chOff x="0" y="0"/>
            <a:chExt cx="6254496" cy="640080"/>
          </a:xfrm>
        </p:grpSpPr>
        <p:sp>
          <p:nvSpPr>
            <p:cNvPr name="Freeform 46" id="46"/>
            <p:cNvSpPr/>
            <p:nvPr/>
          </p:nvSpPr>
          <p:spPr>
            <a:xfrm flipH="false" flipV="false" rot="0">
              <a:off x="0" y="0"/>
              <a:ext cx="6254496" cy="640080"/>
            </a:xfrm>
            <a:custGeom>
              <a:avLst/>
              <a:gdLst/>
              <a:ahLst/>
              <a:cxnLst/>
              <a:rect r="r" b="b" t="t" l="l"/>
              <a:pathLst>
                <a:path h="640080" w="6254496">
                  <a:moveTo>
                    <a:pt x="0" y="0"/>
                  </a:moveTo>
                  <a:lnTo>
                    <a:pt x="6254496" y="0"/>
                  </a:lnTo>
                  <a:lnTo>
                    <a:pt x="6254496" y="640080"/>
                  </a:lnTo>
                  <a:lnTo>
                    <a:pt x="0" y="640080"/>
                  </a:lnTo>
                  <a:close/>
                </a:path>
              </a:pathLst>
            </a:custGeom>
            <a:blipFill>
              <a:blip r:embed="rId3">
                <a:alphaModFix amt="0"/>
              </a:blip>
              <a:stretch>
                <a:fillRect l="0" t="-140396" r="0" b="-140396"/>
              </a:stretch>
            </a:blipFill>
          </p:spPr>
        </p:sp>
        <p:sp>
          <p:nvSpPr>
            <p:cNvPr name="TextBox 47" id="47"/>
            <p:cNvSpPr txBox="true"/>
            <p:nvPr/>
          </p:nvSpPr>
          <p:spPr>
            <a:xfrm>
              <a:off x="0" y="-9525"/>
              <a:ext cx="6254496" cy="649605"/>
            </a:xfrm>
            <a:prstGeom prst="rect">
              <a:avLst/>
            </a:prstGeom>
          </p:spPr>
          <p:txBody>
            <a:bodyPr anchor="ctr" rtlCol="false" tIns="0" lIns="0" bIns="0" rIns="0"/>
            <a:lstStyle/>
            <a:p>
              <a:pPr algn="l">
                <a:lnSpc>
                  <a:spcPts val="4140"/>
                </a:lnSpc>
              </a:pPr>
              <a:r>
                <a:rPr lang="en-US" sz="3450" b="true">
                  <a:solidFill>
                    <a:srgbClr val="202C30"/>
                  </a:solidFill>
                  <a:latin typeface="Trebuchet MS Bold"/>
                  <a:ea typeface="Trebuchet MS Bold"/>
                  <a:cs typeface="Trebuchet MS Bold"/>
                  <a:sym typeface="Trebuchet MS Bold"/>
                </a:rPr>
                <a:t>Suppliers &amp; POs</a:t>
              </a:r>
            </a:p>
          </p:txBody>
        </p:sp>
      </p:grpSp>
      <p:grpSp>
        <p:nvGrpSpPr>
          <p:cNvPr name="Group 48" id="48"/>
          <p:cNvGrpSpPr/>
          <p:nvPr/>
        </p:nvGrpSpPr>
        <p:grpSpPr>
          <a:xfrm rot="0">
            <a:off x="12440412" y="5390388"/>
            <a:ext cx="4690872" cy="891540"/>
            <a:chOff x="0" y="0"/>
            <a:chExt cx="6254496" cy="1188720"/>
          </a:xfrm>
        </p:grpSpPr>
        <p:sp>
          <p:nvSpPr>
            <p:cNvPr name="Freeform 49" id="49"/>
            <p:cNvSpPr/>
            <p:nvPr/>
          </p:nvSpPr>
          <p:spPr>
            <a:xfrm flipH="false" flipV="false" rot="0">
              <a:off x="0" y="0"/>
              <a:ext cx="6254496" cy="1188720"/>
            </a:xfrm>
            <a:custGeom>
              <a:avLst/>
              <a:gdLst/>
              <a:ahLst/>
              <a:cxnLst/>
              <a:rect r="r" b="b" t="t" l="l"/>
              <a:pathLst>
                <a:path h="1188720" w="6254496">
                  <a:moveTo>
                    <a:pt x="0" y="0"/>
                  </a:moveTo>
                  <a:lnTo>
                    <a:pt x="6254496" y="0"/>
                  </a:lnTo>
                  <a:lnTo>
                    <a:pt x="6254496" y="1188720"/>
                  </a:lnTo>
                  <a:lnTo>
                    <a:pt x="0" y="1188720"/>
                  </a:lnTo>
                  <a:close/>
                </a:path>
              </a:pathLst>
            </a:custGeom>
            <a:blipFill>
              <a:blip r:embed="rId3">
                <a:alphaModFix amt="0"/>
              </a:blip>
              <a:stretch>
                <a:fillRect l="0" t="-52521" r="0" b="-52521"/>
              </a:stretch>
            </a:blipFill>
          </p:spPr>
        </p:sp>
        <p:sp>
          <p:nvSpPr>
            <p:cNvPr name="TextBox 50" id="50"/>
            <p:cNvSpPr txBox="true"/>
            <p:nvPr/>
          </p:nvSpPr>
          <p:spPr>
            <a:xfrm>
              <a:off x="0" y="-66675"/>
              <a:ext cx="6254496" cy="1255395"/>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Multiple suppliers</a:t>
              </a:r>
            </a:p>
            <a:p>
              <a:pPr algn="l">
                <a:lnSpc>
                  <a:spcPts val="3600"/>
                </a:lnSpc>
              </a:pPr>
              <a:r>
                <a:rPr lang="en-US" sz="3000">
                  <a:solidFill>
                    <a:srgbClr val="51636A"/>
                  </a:solidFill>
                  <a:latin typeface="Calibri (MS)"/>
                  <a:ea typeface="Calibri (MS)"/>
                  <a:cs typeface="Calibri (MS)"/>
                  <a:sym typeface="Calibri (MS)"/>
                </a:rPr>
                <a:t>POs and delivery schedules</a:t>
              </a:r>
            </a:p>
          </p:txBody>
        </p:sp>
      </p:grpSp>
      <p:grpSp>
        <p:nvGrpSpPr>
          <p:cNvPr name="Group 51" id="51"/>
          <p:cNvGrpSpPr/>
          <p:nvPr/>
        </p:nvGrpSpPr>
        <p:grpSpPr>
          <a:xfrm rot="0">
            <a:off x="822960" y="6995160"/>
            <a:ext cx="9738360" cy="1399032"/>
            <a:chOff x="0" y="0"/>
            <a:chExt cx="12984480" cy="1865376"/>
          </a:xfrm>
        </p:grpSpPr>
        <p:sp>
          <p:nvSpPr>
            <p:cNvPr name="Freeform 52" id="52"/>
            <p:cNvSpPr/>
            <p:nvPr/>
          </p:nvSpPr>
          <p:spPr>
            <a:xfrm flipH="false" flipV="false" rot="0">
              <a:off x="0" y="0"/>
              <a:ext cx="12984480" cy="1865376"/>
            </a:xfrm>
            <a:custGeom>
              <a:avLst/>
              <a:gdLst/>
              <a:ahLst/>
              <a:cxnLst/>
              <a:rect r="r" b="b" t="t" l="l"/>
              <a:pathLst>
                <a:path h="1865376" w="12984480">
                  <a:moveTo>
                    <a:pt x="0" y="0"/>
                  </a:moveTo>
                  <a:lnTo>
                    <a:pt x="12984480" y="0"/>
                  </a:lnTo>
                  <a:lnTo>
                    <a:pt x="12984480" y="1865376"/>
                  </a:lnTo>
                  <a:lnTo>
                    <a:pt x="0" y="1865376"/>
                  </a:lnTo>
                  <a:close/>
                </a:path>
              </a:pathLst>
            </a:custGeom>
            <a:blipFill>
              <a:blip r:embed="rId3">
                <a:alphaModFix amt="0"/>
              </a:blip>
              <a:stretch>
                <a:fillRect l="0" t="-85631" r="0" b="-85631"/>
              </a:stretch>
            </a:blipFill>
          </p:spPr>
        </p:sp>
        <p:sp>
          <p:nvSpPr>
            <p:cNvPr name="TextBox 53" id="53"/>
            <p:cNvSpPr txBox="true"/>
            <p:nvPr/>
          </p:nvSpPr>
          <p:spPr>
            <a:xfrm>
              <a:off x="0" y="-19050"/>
              <a:ext cx="12984480" cy="1884426"/>
            </a:xfrm>
            <a:prstGeom prst="rect">
              <a:avLst/>
            </a:prstGeom>
          </p:spPr>
          <p:txBody>
            <a:bodyPr anchor="ctr" rtlCol="false" tIns="0" lIns="0" bIns="0" rIns="0"/>
            <a:lstStyle/>
            <a:p>
              <a:pPr algn="l">
                <a:lnSpc>
                  <a:spcPts val="4320"/>
                </a:lnSpc>
              </a:pPr>
              <a:r>
                <a:rPr lang="en-US" sz="3600" b="true">
                  <a:solidFill>
                    <a:srgbClr val="202C30"/>
                  </a:solidFill>
                  <a:latin typeface="Trebuchet MS Bold"/>
                  <a:ea typeface="Trebuchet MS Bold"/>
                  <a:cs typeface="Trebuchet MS Bold"/>
                  <a:sym typeface="Trebuchet MS Bold"/>
                </a:rPr>
                <a:t>A risk can span three spreadsheets —</a:t>
              </a:r>
            </a:p>
            <a:p>
              <a:pPr algn="l">
                <a:lnSpc>
                  <a:spcPts val="4320"/>
                </a:lnSpc>
              </a:pPr>
              <a:r>
                <a:rPr lang="en-US" sz="3600" b="true">
                  <a:solidFill>
                    <a:srgbClr val="202C30"/>
                  </a:solidFill>
                  <a:latin typeface="Trebuchet MS Bold"/>
                  <a:ea typeface="Trebuchet MS Bold"/>
                  <a:cs typeface="Trebuchet MS Bold"/>
                  <a:sym typeface="Trebuchet MS Bold"/>
                </a:rPr>
                <a:t>without appearing in any one of them.</a:t>
              </a:r>
            </a:p>
          </p:txBody>
        </p:sp>
      </p:grpSp>
      <p:grpSp>
        <p:nvGrpSpPr>
          <p:cNvPr name="Group 54" id="54"/>
          <p:cNvGrpSpPr/>
          <p:nvPr/>
        </p:nvGrpSpPr>
        <p:grpSpPr>
          <a:xfrm rot="0">
            <a:off x="11033760" y="6836664"/>
            <a:ext cx="6406896" cy="2154936"/>
            <a:chOff x="0" y="0"/>
            <a:chExt cx="8542528" cy="2873248"/>
          </a:xfrm>
        </p:grpSpPr>
        <p:sp>
          <p:nvSpPr>
            <p:cNvPr name="Freeform 55" id="55"/>
            <p:cNvSpPr/>
            <p:nvPr/>
          </p:nvSpPr>
          <p:spPr>
            <a:xfrm flipH="false" flipV="false" rot="0">
              <a:off x="0" y="0"/>
              <a:ext cx="8542528" cy="2873248"/>
            </a:xfrm>
            <a:custGeom>
              <a:avLst/>
              <a:gdLst/>
              <a:ahLst/>
              <a:cxnLst/>
              <a:rect r="r" b="b" t="t" l="l"/>
              <a:pathLst>
                <a:path h="2873248" w="8542528">
                  <a:moveTo>
                    <a:pt x="0" y="0"/>
                  </a:moveTo>
                  <a:lnTo>
                    <a:pt x="8542528" y="0"/>
                  </a:lnTo>
                  <a:lnTo>
                    <a:pt x="8542528" y="2873248"/>
                  </a:lnTo>
                  <a:lnTo>
                    <a:pt x="0" y="2873248"/>
                  </a:lnTo>
                  <a:close/>
                </a:path>
              </a:pathLst>
            </a:custGeom>
            <a:solidFill>
              <a:srgbClr val="087E83"/>
            </a:solidFill>
            <a:ln w="15240" cap="sq">
              <a:solidFill>
                <a:srgbClr val="087E83"/>
              </a:solidFill>
              <a:prstDash val="solid"/>
              <a:miter/>
            </a:ln>
          </p:spPr>
        </p:sp>
      </p:grpSp>
      <p:grpSp>
        <p:nvGrpSpPr>
          <p:cNvPr name="Group 56" id="56"/>
          <p:cNvGrpSpPr/>
          <p:nvPr/>
        </p:nvGrpSpPr>
        <p:grpSpPr>
          <a:xfrm rot="0">
            <a:off x="11384280" y="7104888"/>
            <a:ext cx="5692140" cy="548640"/>
            <a:chOff x="0" y="0"/>
            <a:chExt cx="7589520" cy="731520"/>
          </a:xfrm>
        </p:grpSpPr>
        <p:sp>
          <p:nvSpPr>
            <p:cNvPr name="Freeform 57" id="57"/>
            <p:cNvSpPr/>
            <p:nvPr/>
          </p:nvSpPr>
          <p:spPr>
            <a:xfrm flipH="false" flipV="false" rot="0">
              <a:off x="0" y="0"/>
              <a:ext cx="7589520" cy="731520"/>
            </a:xfrm>
            <a:custGeom>
              <a:avLst/>
              <a:gdLst/>
              <a:ahLst/>
              <a:cxnLst/>
              <a:rect r="r" b="b" t="t" l="l"/>
              <a:pathLst>
                <a:path h="731520" w="7589520">
                  <a:moveTo>
                    <a:pt x="0" y="0"/>
                  </a:moveTo>
                  <a:lnTo>
                    <a:pt x="7589520" y="0"/>
                  </a:lnTo>
                  <a:lnTo>
                    <a:pt x="7589520" y="731520"/>
                  </a:lnTo>
                  <a:lnTo>
                    <a:pt x="0" y="731520"/>
                  </a:lnTo>
                  <a:close/>
                </a:path>
              </a:pathLst>
            </a:custGeom>
            <a:blipFill>
              <a:blip r:embed="rId3">
                <a:alphaModFix amt="0"/>
              </a:blip>
              <a:stretch>
                <a:fillRect l="0" t="-152157" r="0" b="-152157"/>
              </a:stretch>
            </a:blipFill>
          </p:spPr>
        </p:sp>
        <p:sp>
          <p:nvSpPr>
            <p:cNvPr name="TextBox 58" id="58"/>
            <p:cNvSpPr txBox="true"/>
            <p:nvPr/>
          </p:nvSpPr>
          <p:spPr>
            <a:xfrm>
              <a:off x="0" y="-9525"/>
              <a:ext cx="7589520" cy="741045"/>
            </a:xfrm>
            <a:prstGeom prst="rect">
              <a:avLst/>
            </a:prstGeom>
          </p:spPr>
          <p:txBody>
            <a:bodyPr anchor="ctr" rtlCol="false" tIns="0" lIns="0" bIns="0" rIns="0"/>
            <a:lstStyle/>
            <a:p>
              <a:pPr algn="l">
                <a:lnSpc>
                  <a:spcPts val="4140"/>
                </a:lnSpc>
              </a:pPr>
              <a:r>
                <a:rPr lang="en-US" sz="3450" b="true">
                  <a:solidFill>
                    <a:srgbClr val="FFFFFF"/>
                  </a:solidFill>
                  <a:latin typeface="Trebuchet MS Bold"/>
                  <a:ea typeface="Trebuchet MS Bold"/>
                  <a:cs typeface="Trebuchet MS Bold"/>
                  <a:sym typeface="Trebuchet MS Bold"/>
                </a:rPr>
                <a:t>Orbi connects the signals</a:t>
              </a:r>
            </a:p>
          </p:txBody>
        </p:sp>
      </p:grpSp>
      <p:grpSp>
        <p:nvGrpSpPr>
          <p:cNvPr name="Group 59" id="59"/>
          <p:cNvGrpSpPr/>
          <p:nvPr/>
        </p:nvGrpSpPr>
        <p:grpSpPr>
          <a:xfrm rot="0">
            <a:off x="11384280" y="7927848"/>
            <a:ext cx="5692140" cy="891540"/>
            <a:chOff x="0" y="0"/>
            <a:chExt cx="7589520" cy="1188720"/>
          </a:xfrm>
        </p:grpSpPr>
        <p:sp>
          <p:nvSpPr>
            <p:cNvPr name="Freeform 60" id="60"/>
            <p:cNvSpPr/>
            <p:nvPr/>
          </p:nvSpPr>
          <p:spPr>
            <a:xfrm flipH="false" flipV="false" rot="0">
              <a:off x="0" y="0"/>
              <a:ext cx="7589520" cy="1188720"/>
            </a:xfrm>
            <a:custGeom>
              <a:avLst/>
              <a:gdLst/>
              <a:ahLst/>
              <a:cxnLst/>
              <a:rect r="r" b="b" t="t" l="l"/>
              <a:pathLst>
                <a:path h="1188720" w="7589520">
                  <a:moveTo>
                    <a:pt x="0" y="0"/>
                  </a:moveTo>
                  <a:lnTo>
                    <a:pt x="7589520" y="0"/>
                  </a:lnTo>
                  <a:lnTo>
                    <a:pt x="7589520" y="1188720"/>
                  </a:lnTo>
                  <a:lnTo>
                    <a:pt x="0" y="1188720"/>
                  </a:lnTo>
                  <a:close/>
                </a:path>
              </a:pathLst>
            </a:custGeom>
            <a:blipFill>
              <a:blip r:embed="rId3">
                <a:alphaModFix amt="0"/>
              </a:blip>
              <a:stretch>
                <a:fillRect l="0" t="-74404" r="0" b="-74404"/>
              </a:stretch>
            </a:blipFill>
          </p:spPr>
        </p:sp>
        <p:sp>
          <p:nvSpPr>
            <p:cNvPr name="TextBox 61" id="61"/>
            <p:cNvSpPr txBox="true"/>
            <p:nvPr/>
          </p:nvSpPr>
          <p:spPr>
            <a:xfrm>
              <a:off x="0" y="-57150"/>
              <a:ext cx="7589520" cy="1245870"/>
            </a:xfrm>
            <a:prstGeom prst="rect">
              <a:avLst/>
            </a:prstGeom>
          </p:spPr>
          <p:txBody>
            <a:bodyPr anchor="ctr" rtlCol="false" tIns="0" lIns="0" bIns="0" rIns="0"/>
            <a:lstStyle/>
            <a:p>
              <a:pPr algn="l">
                <a:lnSpc>
                  <a:spcPts val="3240"/>
                </a:lnSpc>
              </a:pPr>
              <a:r>
                <a:rPr lang="en-US" sz="2700">
                  <a:solidFill>
                    <a:srgbClr val="FFFFFF"/>
                  </a:solidFill>
                  <a:latin typeface="Calibri (MS)"/>
                  <a:ea typeface="Calibri (MS)"/>
                  <a:cs typeface="Calibri (MS)"/>
                  <a:sym typeface="Calibri (MS)"/>
                </a:rPr>
                <a:t>Early, prioritized intelligence.</a:t>
              </a:r>
            </a:p>
            <a:p>
              <a:pPr algn="l">
                <a:lnSpc>
                  <a:spcPts val="3240"/>
                </a:lnSpc>
              </a:pPr>
              <a:r>
                <a:rPr lang="en-US" sz="2700">
                  <a:solidFill>
                    <a:srgbClr val="FFFFFF"/>
                  </a:solidFill>
                  <a:latin typeface="Calibri (MS)"/>
                  <a:ea typeface="Calibri (MS)"/>
                  <a:cs typeface="Calibri (MS)"/>
                  <a:sym typeface="Calibri (MS)"/>
                </a:rPr>
                <a:t>No dedicated analytics team needed.</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370332"/>
            <a:ext cx="1371600" cy="411480"/>
            <a:chOff x="0" y="0"/>
            <a:chExt cx="1828800" cy="548640"/>
          </a:xfrm>
        </p:grpSpPr>
        <p:sp>
          <p:nvSpPr>
            <p:cNvPr name="Freeform 3" id="3"/>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4" id="4"/>
            <p:cNvSpPr txBox="true"/>
            <p:nvPr/>
          </p:nvSpPr>
          <p:spPr>
            <a:xfrm>
              <a:off x="0" y="-19050"/>
              <a:ext cx="1828800" cy="567690"/>
            </a:xfrm>
            <a:prstGeom prst="rect">
              <a:avLst/>
            </a:prstGeom>
          </p:spPr>
          <p:txBody>
            <a:bodyPr anchor="ctr" rtlCol="false" tIns="0" lIns="0" bIns="0" rIns="0"/>
            <a:lstStyle/>
            <a:p>
              <a:pPr algn="l">
                <a:lnSpc>
                  <a:spcPts val="2700"/>
                </a:lnSpc>
              </a:pPr>
              <a:r>
                <a:rPr lang="en-US" sz="2250" b="true">
                  <a:solidFill>
                    <a:srgbClr val="087E83"/>
                  </a:solidFill>
                  <a:latin typeface="Trebuchet MS Bold"/>
                  <a:ea typeface="Trebuchet MS Bold"/>
                  <a:cs typeface="Trebuchet MS Bold"/>
                  <a:sym typeface="Trebuchet MS Bold"/>
                </a:rPr>
                <a:t>ORBI</a:t>
              </a:r>
            </a:p>
          </p:txBody>
        </p:sp>
      </p:grpSp>
      <p:grpSp>
        <p:nvGrpSpPr>
          <p:cNvPr name="Group 5" id="5"/>
          <p:cNvGrpSpPr/>
          <p:nvPr/>
        </p:nvGrpSpPr>
        <p:grpSpPr>
          <a:xfrm rot="0">
            <a:off x="2263140" y="370332"/>
            <a:ext cx="13716000" cy="411480"/>
            <a:chOff x="0" y="0"/>
            <a:chExt cx="18288000" cy="548640"/>
          </a:xfrm>
        </p:grpSpPr>
        <p:sp>
          <p:nvSpPr>
            <p:cNvPr name="Freeform 6" id="6"/>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7" id="7"/>
            <p:cNvSpPr txBox="true"/>
            <p:nvPr/>
          </p:nvSpPr>
          <p:spPr>
            <a:xfrm>
              <a:off x="0" y="-47625"/>
              <a:ext cx="18288000" cy="596265"/>
            </a:xfrm>
            <a:prstGeom prst="rect">
              <a:avLst/>
            </a:prstGeom>
          </p:spPr>
          <p:txBody>
            <a:bodyPr anchor="ctr" rtlCol="false" tIns="0" lIns="0" bIns="0" rIns="0"/>
            <a:lstStyle/>
            <a:p>
              <a:pPr algn="l">
                <a:lnSpc>
                  <a:spcPts val="2340"/>
                </a:lnSpc>
              </a:pPr>
              <a:r>
                <a:rPr lang="en-US" sz="1950">
                  <a:solidFill>
                    <a:srgbClr val="51636A"/>
                  </a:solidFill>
                  <a:latin typeface="Calibri (MS)"/>
                  <a:ea typeface="Calibri (MS)"/>
                  <a:cs typeface="Calibri (MS)"/>
                  <a:sym typeface="Calibri (MS)"/>
                </a:rPr>
                <a:t>THE WORKFLOW WE REPLACE</a:t>
              </a:r>
            </a:p>
          </p:txBody>
        </p:sp>
      </p:grpSp>
      <p:sp>
        <p:nvSpPr>
          <p:cNvPr name="AutoShape 8" id="8"/>
          <p:cNvSpPr/>
          <p:nvPr/>
        </p:nvSpPr>
        <p:spPr>
          <a:xfrm rot="5880">
            <a:off x="808663" y="9632823"/>
            <a:ext cx="16624964" cy="0"/>
          </a:xfrm>
          <a:prstGeom prst="line">
            <a:avLst/>
          </a:prstGeom>
          <a:ln cap="rnd" w="19050">
            <a:solidFill>
              <a:srgbClr val="D7E0E2"/>
            </a:solidFill>
            <a:prstDash val="solid"/>
            <a:headEnd type="none" len="sm" w="sm"/>
            <a:tailEnd type="none" len="sm" w="sm"/>
          </a:ln>
        </p:spPr>
      </p:sp>
      <p:grpSp>
        <p:nvGrpSpPr>
          <p:cNvPr name="Group 9" id="9"/>
          <p:cNvGrpSpPr/>
          <p:nvPr/>
        </p:nvGrpSpPr>
        <p:grpSpPr>
          <a:xfrm rot="0">
            <a:off x="822960" y="9779508"/>
            <a:ext cx="12344400" cy="274320"/>
            <a:chOff x="0" y="0"/>
            <a:chExt cx="16459200" cy="365760"/>
          </a:xfrm>
        </p:grpSpPr>
        <p:sp>
          <p:nvSpPr>
            <p:cNvPr name="Freeform 10" id="10"/>
            <p:cNvSpPr/>
            <p:nvPr/>
          </p:nvSpPr>
          <p:spPr>
            <a:xfrm flipH="false" flipV="false" rot="0">
              <a:off x="0" y="0"/>
              <a:ext cx="16459200" cy="365760"/>
            </a:xfrm>
            <a:custGeom>
              <a:avLst/>
              <a:gdLst/>
              <a:ahLst/>
              <a:cxnLst/>
              <a:rect r="r" b="b" t="t" l="l"/>
              <a:pathLst>
                <a:path h="365760" w="16459200">
                  <a:moveTo>
                    <a:pt x="0" y="0"/>
                  </a:moveTo>
                  <a:lnTo>
                    <a:pt x="16459200" y="0"/>
                  </a:lnTo>
                  <a:lnTo>
                    <a:pt x="16459200" y="365760"/>
                  </a:lnTo>
                  <a:lnTo>
                    <a:pt x="0" y="365760"/>
                  </a:lnTo>
                  <a:close/>
                </a:path>
              </a:pathLst>
            </a:custGeom>
            <a:blipFill>
              <a:blip r:embed="rId3">
                <a:alphaModFix amt="0"/>
              </a:blip>
              <a:stretch>
                <a:fillRect l="0" t="-826826" r="0" b="-826826"/>
              </a:stretch>
            </a:blipFill>
          </p:spPr>
        </p:sp>
        <p:sp>
          <p:nvSpPr>
            <p:cNvPr name="TextBox 11" id="11"/>
            <p:cNvSpPr txBox="true"/>
            <p:nvPr/>
          </p:nvSpPr>
          <p:spPr>
            <a:xfrm>
              <a:off x="0" y="-28575"/>
              <a:ext cx="16459200" cy="394335"/>
            </a:xfrm>
            <a:prstGeom prst="rect">
              <a:avLst/>
            </a:prstGeom>
          </p:spPr>
          <p:txBody>
            <a:bodyPr anchor="ctr" rtlCol="false" tIns="0" lIns="0" bIns="0" rIns="0"/>
            <a:lstStyle/>
            <a:p>
              <a:pPr algn="l">
                <a:lnSpc>
                  <a:spcPts val="1980"/>
                </a:lnSpc>
              </a:pPr>
              <a:r>
                <a:rPr lang="en-US" sz="1650">
                  <a:solidFill>
                    <a:srgbClr val="51636A"/>
                  </a:solidFill>
                  <a:latin typeface="Calibri (MS)"/>
                  <a:ea typeface="Calibri (MS)"/>
                  <a:cs typeface="Calibri (MS)"/>
                  <a:sym typeface="Calibri (MS)"/>
                </a:rPr>
                <a:t>Operations risk intelligence for retail SMEs</a:t>
              </a:r>
            </a:p>
          </p:txBody>
        </p:sp>
      </p:grpSp>
      <p:grpSp>
        <p:nvGrpSpPr>
          <p:cNvPr name="Group 12" id="12"/>
          <p:cNvGrpSpPr/>
          <p:nvPr/>
        </p:nvGrpSpPr>
        <p:grpSpPr>
          <a:xfrm rot="0">
            <a:off x="15979140" y="9752076"/>
            <a:ext cx="1440180" cy="342900"/>
            <a:chOff x="0" y="0"/>
            <a:chExt cx="1920240" cy="457200"/>
          </a:xfrm>
        </p:grpSpPr>
        <p:sp>
          <p:nvSpPr>
            <p:cNvPr name="Freeform 13" id="13"/>
            <p:cNvSpPr/>
            <p:nvPr/>
          </p:nvSpPr>
          <p:spPr>
            <a:xfrm flipH="false" flipV="false" rot="0">
              <a:off x="0" y="0"/>
              <a:ext cx="1920240" cy="457200"/>
            </a:xfrm>
            <a:custGeom>
              <a:avLst/>
              <a:gdLst/>
              <a:ahLst/>
              <a:cxnLst/>
              <a:rect r="r" b="b" t="t" l="l"/>
              <a:pathLst>
                <a:path h="457200" w="1920240">
                  <a:moveTo>
                    <a:pt x="0" y="0"/>
                  </a:moveTo>
                  <a:lnTo>
                    <a:pt x="1920240" y="0"/>
                  </a:lnTo>
                  <a:lnTo>
                    <a:pt x="1920240" y="457200"/>
                  </a:lnTo>
                  <a:lnTo>
                    <a:pt x="0" y="457200"/>
                  </a:lnTo>
                  <a:close/>
                </a:path>
              </a:pathLst>
            </a:custGeom>
            <a:blipFill>
              <a:blip r:embed="rId3">
                <a:alphaModFix amt="0"/>
              </a:blip>
              <a:stretch>
                <a:fillRect l="0" t="-31837" r="0" b="-31837"/>
              </a:stretch>
            </a:blipFill>
          </p:spPr>
        </p:sp>
        <p:sp>
          <p:nvSpPr>
            <p:cNvPr name="TextBox 14" id="14"/>
            <p:cNvSpPr txBox="true"/>
            <p:nvPr/>
          </p:nvSpPr>
          <p:spPr>
            <a:xfrm>
              <a:off x="0" y="-38100"/>
              <a:ext cx="1920240" cy="495300"/>
            </a:xfrm>
            <a:prstGeom prst="rect">
              <a:avLst/>
            </a:prstGeom>
          </p:spPr>
          <p:txBody>
            <a:bodyPr anchor="ctr" rtlCol="false" tIns="0" lIns="0" bIns="0" rIns="0"/>
            <a:lstStyle/>
            <a:p>
              <a:pPr algn="r">
                <a:lnSpc>
                  <a:spcPts val="2160"/>
                </a:lnSpc>
              </a:pPr>
              <a:r>
                <a:rPr lang="en-US" sz="1800">
                  <a:solidFill>
                    <a:srgbClr val="51636A"/>
                  </a:solidFill>
                  <a:latin typeface="Calibri (MS)"/>
                  <a:ea typeface="Calibri (MS)"/>
                  <a:cs typeface="Calibri (MS)"/>
                  <a:sym typeface="Calibri (MS)"/>
                </a:rPr>
                <a:t>03 / 08</a:t>
              </a:r>
            </a:p>
          </p:txBody>
        </p:sp>
      </p:grpSp>
      <p:grpSp>
        <p:nvGrpSpPr>
          <p:cNvPr name="Group 15" id="15"/>
          <p:cNvGrpSpPr/>
          <p:nvPr/>
        </p:nvGrpSpPr>
        <p:grpSpPr>
          <a:xfrm rot="0">
            <a:off x="822960" y="1234440"/>
            <a:ext cx="16596360" cy="1577340"/>
            <a:chOff x="0" y="0"/>
            <a:chExt cx="22128480" cy="2103120"/>
          </a:xfrm>
        </p:grpSpPr>
        <p:sp>
          <p:nvSpPr>
            <p:cNvPr name="Freeform 16" id="16"/>
            <p:cNvSpPr/>
            <p:nvPr/>
          </p:nvSpPr>
          <p:spPr>
            <a:xfrm flipH="false" flipV="false" rot="0">
              <a:off x="0" y="0"/>
              <a:ext cx="22128480" cy="2103120"/>
            </a:xfrm>
            <a:custGeom>
              <a:avLst/>
              <a:gdLst/>
              <a:ahLst/>
              <a:cxnLst/>
              <a:rect r="r" b="b" t="t" l="l"/>
              <a:pathLst>
                <a:path h="2103120" w="22128480">
                  <a:moveTo>
                    <a:pt x="0" y="0"/>
                  </a:moveTo>
                  <a:lnTo>
                    <a:pt x="22128480" y="0"/>
                  </a:lnTo>
                  <a:lnTo>
                    <a:pt x="22128480" y="2103120"/>
                  </a:lnTo>
                  <a:lnTo>
                    <a:pt x="0" y="2103120"/>
                  </a:lnTo>
                  <a:close/>
                </a:path>
              </a:pathLst>
            </a:custGeom>
            <a:blipFill>
              <a:blip r:embed="rId3">
                <a:alphaModFix amt="0"/>
              </a:blip>
              <a:stretch>
                <a:fillRect l="0" t="-155016" r="0" b="-155016"/>
              </a:stretch>
            </a:blipFill>
          </p:spPr>
        </p:sp>
        <p:sp>
          <p:nvSpPr>
            <p:cNvPr name="TextBox 17" id="17"/>
            <p:cNvSpPr txBox="true"/>
            <p:nvPr/>
          </p:nvSpPr>
          <p:spPr>
            <a:xfrm>
              <a:off x="0" y="-9525"/>
              <a:ext cx="22128480" cy="2112645"/>
            </a:xfrm>
            <a:prstGeom prst="rect">
              <a:avLst/>
            </a:prstGeom>
          </p:spPr>
          <p:txBody>
            <a:bodyPr anchor="ctr" rtlCol="false" tIns="0" lIns="0" bIns="0" rIns="0"/>
            <a:lstStyle/>
            <a:p>
              <a:pPr algn="l">
                <a:lnSpc>
                  <a:spcPts val="7200"/>
                </a:lnSpc>
              </a:pPr>
              <a:r>
                <a:rPr lang="en-US" sz="6000" b="true">
                  <a:solidFill>
                    <a:srgbClr val="202C30"/>
                  </a:solidFill>
                  <a:latin typeface="Trebuchet MS Bold"/>
                  <a:ea typeface="Trebuchet MS Bold"/>
                  <a:cs typeface="Trebuchet MS Bold"/>
                  <a:sym typeface="Trebuchet MS Bold"/>
                </a:rPr>
                <a:t>From Manual Monitoring</a:t>
              </a:r>
            </a:p>
            <a:p>
              <a:pPr algn="l">
                <a:lnSpc>
                  <a:spcPts val="7200"/>
                </a:lnSpc>
              </a:pPr>
              <a:r>
                <a:rPr lang="en-US" sz="6000" b="true">
                  <a:solidFill>
                    <a:srgbClr val="202C30"/>
                  </a:solidFill>
                  <a:latin typeface="Trebuchet MS Bold"/>
                  <a:ea typeface="Trebuchet MS Bold"/>
                  <a:cs typeface="Trebuchet MS Bold"/>
                  <a:sym typeface="Trebuchet MS Bold"/>
                </a:rPr>
                <a:t>to Proactive Risk Detection</a:t>
              </a:r>
            </a:p>
          </p:txBody>
        </p:sp>
      </p:grpSp>
      <p:grpSp>
        <p:nvGrpSpPr>
          <p:cNvPr name="Group 18" id="18"/>
          <p:cNvGrpSpPr/>
          <p:nvPr/>
        </p:nvGrpSpPr>
        <p:grpSpPr>
          <a:xfrm rot="0">
            <a:off x="960120" y="3017520"/>
            <a:ext cx="7543800" cy="480060"/>
            <a:chOff x="0" y="0"/>
            <a:chExt cx="10058400" cy="640080"/>
          </a:xfrm>
        </p:grpSpPr>
        <p:sp>
          <p:nvSpPr>
            <p:cNvPr name="Freeform 19" id="19"/>
            <p:cNvSpPr/>
            <p:nvPr/>
          </p:nvSpPr>
          <p:spPr>
            <a:xfrm flipH="false" flipV="false" rot="0">
              <a:off x="0" y="0"/>
              <a:ext cx="10058400" cy="640080"/>
            </a:xfrm>
            <a:custGeom>
              <a:avLst/>
              <a:gdLst/>
              <a:ahLst/>
              <a:cxnLst/>
              <a:rect r="r" b="b" t="t" l="l"/>
              <a:pathLst>
                <a:path h="640080" w="10058400">
                  <a:moveTo>
                    <a:pt x="0" y="0"/>
                  </a:moveTo>
                  <a:lnTo>
                    <a:pt x="10058400" y="0"/>
                  </a:lnTo>
                  <a:lnTo>
                    <a:pt x="10058400" y="640080"/>
                  </a:lnTo>
                  <a:lnTo>
                    <a:pt x="0" y="640080"/>
                  </a:lnTo>
                  <a:close/>
                </a:path>
              </a:pathLst>
            </a:custGeom>
            <a:blipFill>
              <a:blip r:embed="rId3">
                <a:alphaModFix amt="0"/>
              </a:blip>
              <a:stretch>
                <a:fillRect l="0" t="-256193" r="0" b="-256193"/>
              </a:stretch>
            </a:blipFill>
          </p:spPr>
        </p:sp>
        <p:sp>
          <p:nvSpPr>
            <p:cNvPr name="TextBox 20" id="20"/>
            <p:cNvSpPr txBox="true"/>
            <p:nvPr/>
          </p:nvSpPr>
          <p:spPr>
            <a:xfrm>
              <a:off x="0" y="-9525"/>
              <a:ext cx="10058400" cy="649605"/>
            </a:xfrm>
            <a:prstGeom prst="rect">
              <a:avLst/>
            </a:prstGeom>
          </p:spPr>
          <p:txBody>
            <a:bodyPr anchor="ctr" rtlCol="false" tIns="0" lIns="0" bIns="0" rIns="0"/>
            <a:lstStyle/>
            <a:p>
              <a:pPr algn="l">
                <a:lnSpc>
                  <a:spcPts val="3600"/>
                </a:lnSpc>
              </a:pPr>
              <a:r>
                <a:rPr lang="en-US" sz="3000" b="true">
                  <a:solidFill>
                    <a:srgbClr val="51636A"/>
                  </a:solidFill>
                  <a:latin typeface="Trebuchet MS Bold"/>
                  <a:ea typeface="Trebuchet MS Bold"/>
                  <a:cs typeface="Trebuchet MS Bold"/>
                  <a:sym typeface="Trebuchet MS Bold"/>
                </a:rPr>
                <a:t>BEFORE</a:t>
              </a:r>
            </a:p>
          </p:txBody>
        </p:sp>
      </p:grpSp>
      <p:grpSp>
        <p:nvGrpSpPr>
          <p:cNvPr name="Group 21" id="21"/>
          <p:cNvGrpSpPr/>
          <p:nvPr/>
        </p:nvGrpSpPr>
        <p:grpSpPr>
          <a:xfrm rot="0">
            <a:off x="9601200" y="3017520"/>
            <a:ext cx="7543800" cy="480060"/>
            <a:chOff x="0" y="0"/>
            <a:chExt cx="10058400" cy="640080"/>
          </a:xfrm>
        </p:grpSpPr>
        <p:sp>
          <p:nvSpPr>
            <p:cNvPr name="Freeform 22" id="22"/>
            <p:cNvSpPr/>
            <p:nvPr/>
          </p:nvSpPr>
          <p:spPr>
            <a:xfrm flipH="false" flipV="false" rot="0">
              <a:off x="0" y="0"/>
              <a:ext cx="10058400" cy="640080"/>
            </a:xfrm>
            <a:custGeom>
              <a:avLst/>
              <a:gdLst/>
              <a:ahLst/>
              <a:cxnLst/>
              <a:rect r="r" b="b" t="t" l="l"/>
              <a:pathLst>
                <a:path h="640080" w="10058400">
                  <a:moveTo>
                    <a:pt x="0" y="0"/>
                  </a:moveTo>
                  <a:lnTo>
                    <a:pt x="10058400" y="0"/>
                  </a:lnTo>
                  <a:lnTo>
                    <a:pt x="10058400" y="640080"/>
                  </a:lnTo>
                  <a:lnTo>
                    <a:pt x="0" y="640080"/>
                  </a:lnTo>
                  <a:close/>
                </a:path>
              </a:pathLst>
            </a:custGeom>
            <a:blipFill>
              <a:blip r:embed="rId3">
                <a:alphaModFix amt="0"/>
              </a:blip>
              <a:stretch>
                <a:fillRect l="0" t="-256193" r="0" b="-256193"/>
              </a:stretch>
            </a:blipFill>
          </p:spPr>
        </p:sp>
        <p:sp>
          <p:nvSpPr>
            <p:cNvPr name="TextBox 23" id="23"/>
            <p:cNvSpPr txBox="true"/>
            <p:nvPr/>
          </p:nvSpPr>
          <p:spPr>
            <a:xfrm>
              <a:off x="0" y="-9525"/>
              <a:ext cx="10058400" cy="649605"/>
            </a:xfrm>
            <a:prstGeom prst="rect">
              <a:avLst/>
            </a:prstGeom>
          </p:spPr>
          <p:txBody>
            <a:bodyPr anchor="ctr" rtlCol="false" tIns="0" lIns="0" bIns="0" rIns="0"/>
            <a:lstStyle/>
            <a:p>
              <a:pPr algn="l">
                <a:lnSpc>
                  <a:spcPts val="3600"/>
                </a:lnSpc>
              </a:pPr>
              <a:r>
                <a:rPr lang="en-US" sz="3000" b="true">
                  <a:solidFill>
                    <a:srgbClr val="087E83"/>
                  </a:solidFill>
                  <a:latin typeface="Trebuchet MS Bold"/>
                  <a:ea typeface="Trebuchet MS Bold"/>
                  <a:cs typeface="Trebuchet MS Bold"/>
                  <a:sym typeface="Trebuchet MS Bold"/>
                </a:rPr>
                <a:t>AFTER — ORBI</a:t>
              </a:r>
            </a:p>
          </p:txBody>
        </p:sp>
      </p:grpSp>
      <p:sp>
        <p:nvSpPr>
          <p:cNvPr name="AutoShape 24" id="24"/>
          <p:cNvSpPr/>
          <p:nvPr/>
        </p:nvSpPr>
        <p:spPr>
          <a:xfrm rot="5381580">
            <a:off x="6315608" y="5662041"/>
            <a:ext cx="5336743" cy="0"/>
          </a:xfrm>
          <a:prstGeom prst="line">
            <a:avLst/>
          </a:prstGeom>
          <a:ln cap="rnd" w="19050">
            <a:solidFill>
              <a:srgbClr val="D7E0E2"/>
            </a:solidFill>
            <a:prstDash val="solid"/>
            <a:headEnd type="none" len="sm" w="sm"/>
            <a:tailEnd type="none" len="sm" w="sm"/>
          </a:ln>
        </p:spPr>
      </p:sp>
      <p:grpSp>
        <p:nvGrpSpPr>
          <p:cNvPr name="Group 25" id="25"/>
          <p:cNvGrpSpPr/>
          <p:nvPr/>
        </p:nvGrpSpPr>
        <p:grpSpPr>
          <a:xfrm rot="0">
            <a:off x="978027" y="3954399"/>
            <a:ext cx="224790" cy="224790"/>
            <a:chOff x="0" y="0"/>
            <a:chExt cx="299720" cy="299720"/>
          </a:xfrm>
        </p:grpSpPr>
        <p:sp>
          <p:nvSpPr>
            <p:cNvPr name="Freeform 26" id="26"/>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D7E0E2"/>
            </a:solidFill>
            <a:ln w="19050" cap="sq">
              <a:solidFill>
                <a:srgbClr val="D7E0E2"/>
              </a:solidFill>
              <a:prstDash val="solid"/>
              <a:miter/>
            </a:ln>
          </p:spPr>
        </p:sp>
      </p:grpSp>
      <p:grpSp>
        <p:nvGrpSpPr>
          <p:cNvPr name="Group 27" id="27"/>
          <p:cNvGrpSpPr/>
          <p:nvPr/>
        </p:nvGrpSpPr>
        <p:grpSpPr>
          <a:xfrm rot="0">
            <a:off x="1453896" y="3854196"/>
            <a:ext cx="6995160" cy="452628"/>
            <a:chOff x="0" y="0"/>
            <a:chExt cx="9326880" cy="603504"/>
          </a:xfrm>
        </p:grpSpPr>
        <p:sp>
          <p:nvSpPr>
            <p:cNvPr name="Freeform 28" id="28"/>
            <p:cNvSpPr/>
            <p:nvPr/>
          </p:nvSpPr>
          <p:spPr>
            <a:xfrm flipH="false" flipV="false" rot="0">
              <a:off x="0" y="0"/>
              <a:ext cx="9326880" cy="603504"/>
            </a:xfrm>
            <a:custGeom>
              <a:avLst/>
              <a:gdLst/>
              <a:ahLst/>
              <a:cxnLst/>
              <a:rect r="r" b="b" t="t" l="l"/>
              <a:pathLst>
                <a:path h="603504" w="9326880">
                  <a:moveTo>
                    <a:pt x="0" y="0"/>
                  </a:moveTo>
                  <a:lnTo>
                    <a:pt x="9326880" y="0"/>
                  </a:lnTo>
                  <a:lnTo>
                    <a:pt x="9326880" y="603504"/>
                  </a:lnTo>
                  <a:lnTo>
                    <a:pt x="0" y="603504"/>
                  </a:lnTo>
                  <a:close/>
                </a:path>
              </a:pathLst>
            </a:custGeom>
            <a:blipFill>
              <a:blip r:embed="rId3">
                <a:alphaModFix amt="0"/>
              </a:blip>
              <a:stretch>
                <a:fillRect l="0" t="-251132" r="0" b="-251132"/>
              </a:stretch>
            </a:blipFill>
          </p:spPr>
        </p:sp>
        <p:sp>
          <p:nvSpPr>
            <p:cNvPr name="TextBox 29" id="29"/>
            <p:cNvSpPr txBox="true"/>
            <p:nvPr/>
          </p:nvSpPr>
          <p:spPr>
            <a:xfrm>
              <a:off x="0" y="-66675"/>
              <a:ext cx="9326880" cy="670179"/>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Sales</a:t>
              </a:r>
            </a:p>
          </p:txBody>
        </p:sp>
      </p:grpSp>
      <p:sp>
        <p:nvSpPr>
          <p:cNvPr name="AutoShape 30" id="30"/>
          <p:cNvSpPr/>
          <p:nvPr/>
        </p:nvSpPr>
        <p:spPr>
          <a:xfrm rot="5061420">
            <a:off x="947871" y="4290441"/>
            <a:ext cx="290589" cy="0"/>
          </a:xfrm>
          <a:prstGeom prst="line">
            <a:avLst/>
          </a:prstGeom>
          <a:ln cap="rnd" w="19050">
            <a:solidFill>
              <a:srgbClr val="D7E0E2"/>
            </a:solidFill>
            <a:prstDash val="solid"/>
            <a:headEnd type="none" len="sm" w="sm"/>
            <a:tailEnd type="none" len="sm" w="sm"/>
          </a:ln>
        </p:spPr>
      </p:sp>
      <p:grpSp>
        <p:nvGrpSpPr>
          <p:cNvPr name="Group 31" id="31"/>
          <p:cNvGrpSpPr/>
          <p:nvPr/>
        </p:nvGrpSpPr>
        <p:grpSpPr>
          <a:xfrm rot="0">
            <a:off x="978027" y="4509897"/>
            <a:ext cx="224790" cy="224790"/>
            <a:chOff x="0" y="0"/>
            <a:chExt cx="299720" cy="299720"/>
          </a:xfrm>
        </p:grpSpPr>
        <p:sp>
          <p:nvSpPr>
            <p:cNvPr name="Freeform 32" id="32"/>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D7E0E2"/>
            </a:solidFill>
            <a:ln w="19050" cap="sq">
              <a:solidFill>
                <a:srgbClr val="D7E0E2"/>
              </a:solidFill>
              <a:prstDash val="solid"/>
              <a:miter/>
            </a:ln>
          </p:spPr>
        </p:sp>
      </p:grpSp>
      <p:grpSp>
        <p:nvGrpSpPr>
          <p:cNvPr name="Group 33" id="33"/>
          <p:cNvGrpSpPr/>
          <p:nvPr/>
        </p:nvGrpSpPr>
        <p:grpSpPr>
          <a:xfrm rot="0">
            <a:off x="1453896" y="4409694"/>
            <a:ext cx="6995160" cy="452628"/>
            <a:chOff x="0" y="0"/>
            <a:chExt cx="9326880" cy="603504"/>
          </a:xfrm>
        </p:grpSpPr>
        <p:sp>
          <p:nvSpPr>
            <p:cNvPr name="Freeform 34" id="34"/>
            <p:cNvSpPr/>
            <p:nvPr/>
          </p:nvSpPr>
          <p:spPr>
            <a:xfrm flipH="false" flipV="false" rot="0">
              <a:off x="0" y="0"/>
              <a:ext cx="9326880" cy="603504"/>
            </a:xfrm>
            <a:custGeom>
              <a:avLst/>
              <a:gdLst/>
              <a:ahLst/>
              <a:cxnLst/>
              <a:rect r="r" b="b" t="t" l="l"/>
              <a:pathLst>
                <a:path h="603504" w="9326880">
                  <a:moveTo>
                    <a:pt x="0" y="0"/>
                  </a:moveTo>
                  <a:lnTo>
                    <a:pt x="9326880" y="0"/>
                  </a:lnTo>
                  <a:lnTo>
                    <a:pt x="9326880" y="603504"/>
                  </a:lnTo>
                  <a:lnTo>
                    <a:pt x="0" y="603504"/>
                  </a:lnTo>
                  <a:close/>
                </a:path>
              </a:pathLst>
            </a:custGeom>
            <a:blipFill>
              <a:blip r:embed="rId3">
                <a:alphaModFix amt="0"/>
              </a:blip>
              <a:stretch>
                <a:fillRect l="0" t="-251132" r="0" b="-251132"/>
              </a:stretch>
            </a:blipFill>
          </p:spPr>
        </p:sp>
        <p:sp>
          <p:nvSpPr>
            <p:cNvPr name="TextBox 35" id="35"/>
            <p:cNvSpPr txBox="true"/>
            <p:nvPr/>
          </p:nvSpPr>
          <p:spPr>
            <a:xfrm>
              <a:off x="0" y="-66675"/>
              <a:ext cx="9326880" cy="670179"/>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Inventory</a:t>
              </a:r>
            </a:p>
          </p:txBody>
        </p:sp>
      </p:grpSp>
      <p:sp>
        <p:nvSpPr>
          <p:cNvPr name="AutoShape 36" id="36"/>
          <p:cNvSpPr/>
          <p:nvPr/>
        </p:nvSpPr>
        <p:spPr>
          <a:xfrm rot="5061420">
            <a:off x="947871" y="4845939"/>
            <a:ext cx="290589" cy="0"/>
          </a:xfrm>
          <a:prstGeom prst="line">
            <a:avLst/>
          </a:prstGeom>
          <a:ln cap="rnd" w="19050">
            <a:solidFill>
              <a:srgbClr val="D7E0E2"/>
            </a:solidFill>
            <a:prstDash val="solid"/>
            <a:headEnd type="none" len="sm" w="sm"/>
            <a:tailEnd type="none" len="sm" w="sm"/>
          </a:ln>
        </p:spPr>
      </p:sp>
      <p:grpSp>
        <p:nvGrpSpPr>
          <p:cNvPr name="Group 37" id="37"/>
          <p:cNvGrpSpPr/>
          <p:nvPr/>
        </p:nvGrpSpPr>
        <p:grpSpPr>
          <a:xfrm rot="0">
            <a:off x="978027" y="5065395"/>
            <a:ext cx="224790" cy="224790"/>
            <a:chOff x="0" y="0"/>
            <a:chExt cx="299720" cy="299720"/>
          </a:xfrm>
        </p:grpSpPr>
        <p:sp>
          <p:nvSpPr>
            <p:cNvPr name="Freeform 38" id="38"/>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D7E0E2"/>
            </a:solidFill>
            <a:ln w="19050" cap="sq">
              <a:solidFill>
                <a:srgbClr val="D7E0E2"/>
              </a:solidFill>
              <a:prstDash val="solid"/>
              <a:miter/>
            </a:ln>
          </p:spPr>
        </p:sp>
      </p:grpSp>
      <p:grpSp>
        <p:nvGrpSpPr>
          <p:cNvPr name="Group 39" id="39"/>
          <p:cNvGrpSpPr/>
          <p:nvPr/>
        </p:nvGrpSpPr>
        <p:grpSpPr>
          <a:xfrm rot="0">
            <a:off x="1453896" y="4965192"/>
            <a:ext cx="6995160" cy="452628"/>
            <a:chOff x="0" y="0"/>
            <a:chExt cx="9326880" cy="603504"/>
          </a:xfrm>
        </p:grpSpPr>
        <p:sp>
          <p:nvSpPr>
            <p:cNvPr name="Freeform 40" id="40"/>
            <p:cNvSpPr/>
            <p:nvPr/>
          </p:nvSpPr>
          <p:spPr>
            <a:xfrm flipH="false" flipV="false" rot="0">
              <a:off x="0" y="0"/>
              <a:ext cx="9326880" cy="603504"/>
            </a:xfrm>
            <a:custGeom>
              <a:avLst/>
              <a:gdLst/>
              <a:ahLst/>
              <a:cxnLst/>
              <a:rect r="r" b="b" t="t" l="l"/>
              <a:pathLst>
                <a:path h="603504" w="9326880">
                  <a:moveTo>
                    <a:pt x="0" y="0"/>
                  </a:moveTo>
                  <a:lnTo>
                    <a:pt x="9326880" y="0"/>
                  </a:lnTo>
                  <a:lnTo>
                    <a:pt x="9326880" y="603504"/>
                  </a:lnTo>
                  <a:lnTo>
                    <a:pt x="0" y="603504"/>
                  </a:lnTo>
                  <a:close/>
                </a:path>
              </a:pathLst>
            </a:custGeom>
            <a:blipFill>
              <a:blip r:embed="rId3">
                <a:alphaModFix amt="0"/>
              </a:blip>
              <a:stretch>
                <a:fillRect l="0" t="-251132" r="0" b="-251132"/>
              </a:stretch>
            </a:blipFill>
          </p:spPr>
        </p:sp>
        <p:sp>
          <p:nvSpPr>
            <p:cNvPr name="TextBox 41" id="41"/>
            <p:cNvSpPr txBox="true"/>
            <p:nvPr/>
          </p:nvSpPr>
          <p:spPr>
            <a:xfrm>
              <a:off x="0" y="-66675"/>
              <a:ext cx="9326880" cy="670179"/>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Orders</a:t>
              </a:r>
            </a:p>
          </p:txBody>
        </p:sp>
      </p:grpSp>
      <p:sp>
        <p:nvSpPr>
          <p:cNvPr name="AutoShape 42" id="42"/>
          <p:cNvSpPr/>
          <p:nvPr/>
        </p:nvSpPr>
        <p:spPr>
          <a:xfrm rot="5061420">
            <a:off x="947871" y="5401437"/>
            <a:ext cx="290589" cy="0"/>
          </a:xfrm>
          <a:prstGeom prst="line">
            <a:avLst/>
          </a:prstGeom>
          <a:ln cap="rnd" w="19050">
            <a:solidFill>
              <a:srgbClr val="D7E0E2"/>
            </a:solidFill>
            <a:prstDash val="solid"/>
            <a:headEnd type="none" len="sm" w="sm"/>
            <a:tailEnd type="none" len="sm" w="sm"/>
          </a:ln>
        </p:spPr>
      </p:sp>
      <p:grpSp>
        <p:nvGrpSpPr>
          <p:cNvPr name="Group 43" id="43"/>
          <p:cNvGrpSpPr/>
          <p:nvPr/>
        </p:nvGrpSpPr>
        <p:grpSpPr>
          <a:xfrm rot="0">
            <a:off x="978027" y="5620893"/>
            <a:ext cx="224790" cy="224790"/>
            <a:chOff x="0" y="0"/>
            <a:chExt cx="299720" cy="299720"/>
          </a:xfrm>
        </p:grpSpPr>
        <p:sp>
          <p:nvSpPr>
            <p:cNvPr name="Freeform 44" id="44"/>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D7E0E2"/>
            </a:solidFill>
            <a:ln w="19050" cap="sq">
              <a:solidFill>
                <a:srgbClr val="D7E0E2"/>
              </a:solidFill>
              <a:prstDash val="solid"/>
              <a:miter/>
            </a:ln>
          </p:spPr>
        </p:sp>
      </p:grpSp>
      <p:grpSp>
        <p:nvGrpSpPr>
          <p:cNvPr name="Group 45" id="45"/>
          <p:cNvGrpSpPr/>
          <p:nvPr/>
        </p:nvGrpSpPr>
        <p:grpSpPr>
          <a:xfrm rot="0">
            <a:off x="1453896" y="5520690"/>
            <a:ext cx="6995160" cy="452628"/>
            <a:chOff x="0" y="0"/>
            <a:chExt cx="9326880" cy="603504"/>
          </a:xfrm>
        </p:grpSpPr>
        <p:sp>
          <p:nvSpPr>
            <p:cNvPr name="Freeform 46" id="46"/>
            <p:cNvSpPr/>
            <p:nvPr/>
          </p:nvSpPr>
          <p:spPr>
            <a:xfrm flipH="false" flipV="false" rot="0">
              <a:off x="0" y="0"/>
              <a:ext cx="9326880" cy="603504"/>
            </a:xfrm>
            <a:custGeom>
              <a:avLst/>
              <a:gdLst/>
              <a:ahLst/>
              <a:cxnLst/>
              <a:rect r="r" b="b" t="t" l="l"/>
              <a:pathLst>
                <a:path h="603504" w="9326880">
                  <a:moveTo>
                    <a:pt x="0" y="0"/>
                  </a:moveTo>
                  <a:lnTo>
                    <a:pt x="9326880" y="0"/>
                  </a:lnTo>
                  <a:lnTo>
                    <a:pt x="9326880" y="603504"/>
                  </a:lnTo>
                  <a:lnTo>
                    <a:pt x="0" y="603504"/>
                  </a:lnTo>
                  <a:close/>
                </a:path>
              </a:pathLst>
            </a:custGeom>
            <a:blipFill>
              <a:blip r:embed="rId3">
                <a:alphaModFix amt="0"/>
              </a:blip>
              <a:stretch>
                <a:fillRect l="0" t="-251132" r="0" b="-251132"/>
              </a:stretch>
            </a:blipFill>
          </p:spPr>
        </p:sp>
        <p:sp>
          <p:nvSpPr>
            <p:cNvPr name="TextBox 47" id="47"/>
            <p:cNvSpPr txBox="true"/>
            <p:nvPr/>
          </p:nvSpPr>
          <p:spPr>
            <a:xfrm>
              <a:off x="0" y="-66675"/>
              <a:ext cx="9326880" cy="670179"/>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Supplier updates</a:t>
              </a:r>
            </a:p>
          </p:txBody>
        </p:sp>
      </p:grpSp>
      <p:sp>
        <p:nvSpPr>
          <p:cNvPr name="AutoShape 48" id="48"/>
          <p:cNvSpPr/>
          <p:nvPr/>
        </p:nvSpPr>
        <p:spPr>
          <a:xfrm rot="5061420">
            <a:off x="947871" y="5956935"/>
            <a:ext cx="290589" cy="0"/>
          </a:xfrm>
          <a:prstGeom prst="line">
            <a:avLst/>
          </a:prstGeom>
          <a:ln cap="rnd" w="19050">
            <a:solidFill>
              <a:srgbClr val="D7E0E2"/>
            </a:solidFill>
            <a:prstDash val="solid"/>
            <a:headEnd type="none" len="sm" w="sm"/>
            <a:tailEnd type="none" len="sm" w="sm"/>
          </a:ln>
        </p:spPr>
      </p:sp>
      <p:grpSp>
        <p:nvGrpSpPr>
          <p:cNvPr name="Group 49" id="49"/>
          <p:cNvGrpSpPr/>
          <p:nvPr/>
        </p:nvGrpSpPr>
        <p:grpSpPr>
          <a:xfrm rot="0">
            <a:off x="978027" y="6176391"/>
            <a:ext cx="224790" cy="224790"/>
            <a:chOff x="0" y="0"/>
            <a:chExt cx="299720" cy="299720"/>
          </a:xfrm>
        </p:grpSpPr>
        <p:sp>
          <p:nvSpPr>
            <p:cNvPr name="Freeform 50" id="50"/>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D7E0E2"/>
            </a:solidFill>
            <a:ln w="19050" cap="sq">
              <a:solidFill>
                <a:srgbClr val="D7E0E2"/>
              </a:solidFill>
              <a:prstDash val="solid"/>
              <a:miter/>
            </a:ln>
          </p:spPr>
        </p:sp>
      </p:grpSp>
      <p:grpSp>
        <p:nvGrpSpPr>
          <p:cNvPr name="Group 51" id="51"/>
          <p:cNvGrpSpPr/>
          <p:nvPr/>
        </p:nvGrpSpPr>
        <p:grpSpPr>
          <a:xfrm rot="0">
            <a:off x="1453896" y="6076188"/>
            <a:ext cx="6995160" cy="452628"/>
            <a:chOff x="0" y="0"/>
            <a:chExt cx="9326880" cy="603504"/>
          </a:xfrm>
        </p:grpSpPr>
        <p:sp>
          <p:nvSpPr>
            <p:cNvPr name="Freeform 52" id="52"/>
            <p:cNvSpPr/>
            <p:nvPr/>
          </p:nvSpPr>
          <p:spPr>
            <a:xfrm flipH="false" flipV="false" rot="0">
              <a:off x="0" y="0"/>
              <a:ext cx="9326880" cy="603504"/>
            </a:xfrm>
            <a:custGeom>
              <a:avLst/>
              <a:gdLst/>
              <a:ahLst/>
              <a:cxnLst/>
              <a:rect r="r" b="b" t="t" l="l"/>
              <a:pathLst>
                <a:path h="603504" w="9326880">
                  <a:moveTo>
                    <a:pt x="0" y="0"/>
                  </a:moveTo>
                  <a:lnTo>
                    <a:pt x="9326880" y="0"/>
                  </a:lnTo>
                  <a:lnTo>
                    <a:pt x="9326880" y="603504"/>
                  </a:lnTo>
                  <a:lnTo>
                    <a:pt x="0" y="603504"/>
                  </a:lnTo>
                  <a:close/>
                </a:path>
              </a:pathLst>
            </a:custGeom>
            <a:blipFill>
              <a:blip r:embed="rId3">
                <a:alphaModFix amt="0"/>
              </a:blip>
              <a:stretch>
                <a:fillRect l="0" t="-251132" r="0" b="-251132"/>
              </a:stretch>
            </a:blipFill>
          </p:spPr>
        </p:sp>
        <p:sp>
          <p:nvSpPr>
            <p:cNvPr name="TextBox 53" id="53"/>
            <p:cNvSpPr txBox="true"/>
            <p:nvPr/>
          </p:nvSpPr>
          <p:spPr>
            <a:xfrm>
              <a:off x="0" y="-66675"/>
              <a:ext cx="9326880" cy="670179"/>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Manual cross-checking</a:t>
              </a:r>
            </a:p>
          </p:txBody>
        </p:sp>
      </p:grpSp>
      <p:sp>
        <p:nvSpPr>
          <p:cNvPr name="AutoShape 54" id="54"/>
          <p:cNvSpPr/>
          <p:nvPr/>
        </p:nvSpPr>
        <p:spPr>
          <a:xfrm rot="5061420">
            <a:off x="947871" y="6512433"/>
            <a:ext cx="290589" cy="0"/>
          </a:xfrm>
          <a:prstGeom prst="line">
            <a:avLst/>
          </a:prstGeom>
          <a:ln cap="rnd" w="19050">
            <a:solidFill>
              <a:srgbClr val="D7E0E2"/>
            </a:solidFill>
            <a:prstDash val="solid"/>
            <a:headEnd type="none" len="sm" w="sm"/>
            <a:tailEnd type="none" len="sm" w="sm"/>
          </a:ln>
        </p:spPr>
      </p:sp>
      <p:grpSp>
        <p:nvGrpSpPr>
          <p:cNvPr name="Group 55" id="55"/>
          <p:cNvGrpSpPr/>
          <p:nvPr/>
        </p:nvGrpSpPr>
        <p:grpSpPr>
          <a:xfrm rot="0">
            <a:off x="978027" y="6731889"/>
            <a:ext cx="224790" cy="224790"/>
            <a:chOff x="0" y="0"/>
            <a:chExt cx="299720" cy="299720"/>
          </a:xfrm>
        </p:grpSpPr>
        <p:sp>
          <p:nvSpPr>
            <p:cNvPr name="Freeform 56" id="56"/>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D7E0E2"/>
            </a:solidFill>
            <a:ln w="19050" cap="sq">
              <a:solidFill>
                <a:srgbClr val="D7E0E2"/>
              </a:solidFill>
              <a:prstDash val="solid"/>
              <a:miter/>
            </a:ln>
          </p:spPr>
        </p:sp>
      </p:grpSp>
      <p:grpSp>
        <p:nvGrpSpPr>
          <p:cNvPr name="Group 57" id="57"/>
          <p:cNvGrpSpPr/>
          <p:nvPr/>
        </p:nvGrpSpPr>
        <p:grpSpPr>
          <a:xfrm rot="0">
            <a:off x="1453896" y="6631686"/>
            <a:ext cx="6995160" cy="452628"/>
            <a:chOff x="0" y="0"/>
            <a:chExt cx="9326880" cy="603504"/>
          </a:xfrm>
        </p:grpSpPr>
        <p:sp>
          <p:nvSpPr>
            <p:cNvPr name="Freeform 58" id="58"/>
            <p:cNvSpPr/>
            <p:nvPr/>
          </p:nvSpPr>
          <p:spPr>
            <a:xfrm flipH="false" flipV="false" rot="0">
              <a:off x="0" y="0"/>
              <a:ext cx="9326880" cy="603504"/>
            </a:xfrm>
            <a:custGeom>
              <a:avLst/>
              <a:gdLst/>
              <a:ahLst/>
              <a:cxnLst/>
              <a:rect r="r" b="b" t="t" l="l"/>
              <a:pathLst>
                <a:path h="603504" w="9326880">
                  <a:moveTo>
                    <a:pt x="0" y="0"/>
                  </a:moveTo>
                  <a:lnTo>
                    <a:pt x="9326880" y="0"/>
                  </a:lnTo>
                  <a:lnTo>
                    <a:pt x="9326880" y="603504"/>
                  </a:lnTo>
                  <a:lnTo>
                    <a:pt x="0" y="603504"/>
                  </a:lnTo>
                  <a:close/>
                </a:path>
              </a:pathLst>
            </a:custGeom>
            <a:blipFill>
              <a:blip r:embed="rId3">
                <a:alphaModFix amt="0"/>
              </a:blip>
              <a:stretch>
                <a:fillRect l="0" t="-251132" r="0" b="-251132"/>
              </a:stretch>
            </a:blipFill>
          </p:spPr>
        </p:sp>
        <p:sp>
          <p:nvSpPr>
            <p:cNvPr name="TextBox 59" id="59"/>
            <p:cNvSpPr txBox="true"/>
            <p:nvPr/>
          </p:nvSpPr>
          <p:spPr>
            <a:xfrm>
              <a:off x="0" y="-66675"/>
              <a:ext cx="9326880" cy="670179"/>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Risk identification</a:t>
              </a:r>
            </a:p>
          </p:txBody>
        </p:sp>
      </p:grpSp>
      <p:sp>
        <p:nvSpPr>
          <p:cNvPr name="AutoShape 60" id="60"/>
          <p:cNvSpPr/>
          <p:nvPr/>
        </p:nvSpPr>
        <p:spPr>
          <a:xfrm rot="5061420">
            <a:off x="947871" y="7067931"/>
            <a:ext cx="290589" cy="0"/>
          </a:xfrm>
          <a:prstGeom prst="line">
            <a:avLst/>
          </a:prstGeom>
          <a:ln cap="rnd" w="19050">
            <a:solidFill>
              <a:srgbClr val="D7E0E2"/>
            </a:solidFill>
            <a:prstDash val="solid"/>
            <a:headEnd type="none" len="sm" w="sm"/>
            <a:tailEnd type="none" len="sm" w="sm"/>
          </a:ln>
        </p:spPr>
      </p:sp>
      <p:grpSp>
        <p:nvGrpSpPr>
          <p:cNvPr name="Group 61" id="61"/>
          <p:cNvGrpSpPr/>
          <p:nvPr/>
        </p:nvGrpSpPr>
        <p:grpSpPr>
          <a:xfrm rot="0">
            <a:off x="978027" y="7287387"/>
            <a:ext cx="224790" cy="224790"/>
            <a:chOff x="0" y="0"/>
            <a:chExt cx="299720" cy="299720"/>
          </a:xfrm>
        </p:grpSpPr>
        <p:sp>
          <p:nvSpPr>
            <p:cNvPr name="Freeform 62" id="62"/>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D7E0E2"/>
            </a:solidFill>
            <a:ln w="19050" cap="sq">
              <a:solidFill>
                <a:srgbClr val="D7E0E2"/>
              </a:solidFill>
              <a:prstDash val="solid"/>
              <a:miter/>
            </a:ln>
          </p:spPr>
        </p:sp>
      </p:grpSp>
      <p:grpSp>
        <p:nvGrpSpPr>
          <p:cNvPr name="Group 63" id="63"/>
          <p:cNvGrpSpPr/>
          <p:nvPr/>
        </p:nvGrpSpPr>
        <p:grpSpPr>
          <a:xfrm rot="0">
            <a:off x="1453896" y="7187184"/>
            <a:ext cx="6995160" cy="452628"/>
            <a:chOff x="0" y="0"/>
            <a:chExt cx="9326880" cy="603504"/>
          </a:xfrm>
        </p:grpSpPr>
        <p:sp>
          <p:nvSpPr>
            <p:cNvPr name="Freeform 64" id="64"/>
            <p:cNvSpPr/>
            <p:nvPr/>
          </p:nvSpPr>
          <p:spPr>
            <a:xfrm flipH="false" flipV="false" rot="0">
              <a:off x="0" y="0"/>
              <a:ext cx="9326880" cy="603504"/>
            </a:xfrm>
            <a:custGeom>
              <a:avLst/>
              <a:gdLst/>
              <a:ahLst/>
              <a:cxnLst/>
              <a:rect r="r" b="b" t="t" l="l"/>
              <a:pathLst>
                <a:path h="603504" w="9326880">
                  <a:moveTo>
                    <a:pt x="0" y="0"/>
                  </a:moveTo>
                  <a:lnTo>
                    <a:pt x="9326880" y="0"/>
                  </a:lnTo>
                  <a:lnTo>
                    <a:pt x="9326880" y="603504"/>
                  </a:lnTo>
                  <a:lnTo>
                    <a:pt x="0" y="603504"/>
                  </a:lnTo>
                  <a:close/>
                </a:path>
              </a:pathLst>
            </a:custGeom>
            <a:blipFill>
              <a:blip r:embed="rId3">
                <a:alphaModFix amt="0"/>
              </a:blip>
              <a:stretch>
                <a:fillRect l="0" t="-251132" r="0" b="-251132"/>
              </a:stretch>
            </a:blipFill>
          </p:spPr>
        </p:sp>
        <p:sp>
          <p:nvSpPr>
            <p:cNvPr name="TextBox 65" id="65"/>
            <p:cNvSpPr txBox="true"/>
            <p:nvPr/>
          </p:nvSpPr>
          <p:spPr>
            <a:xfrm>
              <a:off x="0" y="-66675"/>
              <a:ext cx="9326880" cy="670179"/>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Prioritization</a:t>
              </a:r>
            </a:p>
          </p:txBody>
        </p:sp>
      </p:grpSp>
      <p:sp>
        <p:nvSpPr>
          <p:cNvPr name="AutoShape 66" id="66"/>
          <p:cNvSpPr/>
          <p:nvPr/>
        </p:nvSpPr>
        <p:spPr>
          <a:xfrm rot="5061420">
            <a:off x="947871" y="7623429"/>
            <a:ext cx="290589" cy="0"/>
          </a:xfrm>
          <a:prstGeom prst="line">
            <a:avLst/>
          </a:prstGeom>
          <a:ln cap="rnd" w="19050">
            <a:solidFill>
              <a:srgbClr val="D7E0E2"/>
            </a:solidFill>
            <a:prstDash val="solid"/>
            <a:headEnd type="none" len="sm" w="sm"/>
            <a:tailEnd type="none" len="sm" w="sm"/>
          </a:ln>
        </p:spPr>
      </p:sp>
      <p:grpSp>
        <p:nvGrpSpPr>
          <p:cNvPr name="Group 67" id="67"/>
          <p:cNvGrpSpPr/>
          <p:nvPr/>
        </p:nvGrpSpPr>
        <p:grpSpPr>
          <a:xfrm rot="0">
            <a:off x="978027" y="7842885"/>
            <a:ext cx="224790" cy="224790"/>
            <a:chOff x="0" y="0"/>
            <a:chExt cx="299720" cy="299720"/>
          </a:xfrm>
        </p:grpSpPr>
        <p:sp>
          <p:nvSpPr>
            <p:cNvPr name="Freeform 68" id="68"/>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D7E0E2"/>
            </a:solidFill>
            <a:ln w="19050" cap="sq">
              <a:solidFill>
                <a:srgbClr val="D7E0E2"/>
              </a:solidFill>
              <a:prstDash val="solid"/>
              <a:miter/>
            </a:ln>
          </p:spPr>
        </p:sp>
      </p:grpSp>
      <p:grpSp>
        <p:nvGrpSpPr>
          <p:cNvPr name="Group 69" id="69"/>
          <p:cNvGrpSpPr/>
          <p:nvPr/>
        </p:nvGrpSpPr>
        <p:grpSpPr>
          <a:xfrm rot="0">
            <a:off x="1453896" y="7742682"/>
            <a:ext cx="6995160" cy="452628"/>
            <a:chOff x="0" y="0"/>
            <a:chExt cx="9326880" cy="603504"/>
          </a:xfrm>
        </p:grpSpPr>
        <p:sp>
          <p:nvSpPr>
            <p:cNvPr name="Freeform 70" id="70"/>
            <p:cNvSpPr/>
            <p:nvPr/>
          </p:nvSpPr>
          <p:spPr>
            <a:xfrm flipH="false" flipV="false" rot="0">
              <a:off x="0" y="0"/>
              <a:ext cx="9326880" cy="603504"/>
            </a:xfrm>
            <a:custGeom>
              <a:avLst/>
              <a:gdLst/>
              <a:ahLst/>
              <a:cxnLst/>
              <a:rect r="r" b="b" t="t" l="l"/>
              <a:pathLst>
                <a:path h="603504" w="9326880">
                  <a:moveTo>
                    <a:pt x="0" y="0"/>
                  </a:moveTo>
                  <a:lnTo>
                    <a:pt x="9326880" y="0"/>
                  </a:lnTo>
                  <a:lnTo>
                    <a:pt x="9326880" y="603504"/>
                  </a:lnTo>
                  <a:lnTo>
                    <a:pt x="0" y="603504"/>
                  </a:lnTo>
                  <a:close/>
                </a:path>
              </a:pathLst>
            </a:custGeom>
            <a:blipFill>
              <a:blip r:embed="rId3">
                <a:alphaModFix amt="0"/>
              </a:blip>
              <a:stretch>
                <a:fillRect l="0" t="-251132" r="0" b="-251132"/>
              </a:stretch>
            </a:blipFill>
          </p:spPr>
        </p:sp>
        <p:sp>
          <p:nvSpPr>
            <p:cNvPr name="TextBox 71" id="71"/>
            <p:cNvSpPr txBox="true"/>
            <p:nvPr/>
          </p:nvSpPr>
          <p:spPr>
            <a:xfrm>
              <a:off x="0" y="-66675"/>
              <a:ext cx="9326880" cy="670179"/>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Follow-ups</a:t>
              </a:r>
            </a:p>
          </p:txBody>
        </p:sp>
      </p:grpSp>
      <p:grpSp>
        <p:nvGrpSpPr>
          <p:cNvPr name="Group 72" id="72"/>
          <p:cNvGrpSpPr/>
          <p:nvPr/>
        </p:nvGrpSpPr>
        <p:grpSpPr>
          <a:xfrm rot="0">
            <a:off x="9632823" y="3954399"/>
            <a:ext cx="224790" cy="224790"/>
            <a:chOff x="0" y="0"/>
            <a:chExt cx="299720" cy="299720"/>
          </a:xfrm>
        </p:grpSpPr>
        <p:sp>
          <p:nvSpPr>
            <p:cNvPr name="Freeform 73" id="73"/>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087E83"/>
            </a:solidFill>
            <a:ln w="19050" cap="sq">
              <a:solidFill>
                <a:srgbClr val="087E83"/>
              </a:solidFill>
              <a:prstDash val="solid"/>
              <a:miter/>
            </a:ln>
          </p:spPr>
        </p:sp>
      </p:grpSp>
      <p:grpSp>
        <p:nvGrpSpPr>
          <p:cNvPr name="Group 74" id="74"/>
          <p:cNvGrpSpPr/>
          <p:nvPr/>
        </p:nvGrpSpPr>
        <p:grpSpPr>
          <a:xfrm rot="0">
            <a:off x="10108692" y="3854196"/>
            <a:ext cx="6926580" cy="452628"/>
            <a:chOff x="0" y="0"/>
            <a:chExt cx="9235440" cy="603504"/>
          </a:xfrm>
        </p:grpSpPr>
        <p:sp>
          <p:nvSpPr>
            <p:cNvPr name="Freeform 75" id="75"/>
            <p:cNvSpPr/>
            <p:nvPr/>
          </p:nvSpPr>
          <p:spPr>
            <a:xfrm flipH="false" flipV="false" rot="0">
              <a:off x="0" y="0"/>
              <a:ext cx="9235440" cy="603504"/>
            </a:xfrm>
            <a:custGeom>
              <a:avLst/>
              <a:gdLst/>
              <a:ahLst/>
              <a:cxnLst/>
              <a:rect r="r" b="b" t="t" l="l"/>
              <a:pathLst>
                <a:path h="603504" w="9235440">
                  <a:moveTo>
                    <a:pt x="0" y="0"/>
                  </a:moveTo>
                  <a:lnTo>
                    <a:pt x="9235440" y="0"/>
                  </a:lnTo>
                  <a:lnTo>
                    <a:pt x="9235440" y="603504"/>
                  </a:lnTo>
                  <a:lnTo>
                    <a:pt x="0" y="603504"/>
                  </a:lnTo>
                  <a:close/>
                </a:path>
              </a:pathLst>
            </a:custGeom>
            <a:blipFill>
              <a:blip r:embed="rId3">
                <a:alphaModFix amt="0"/>
              </a:blip>
              <a:stretch>
                <a:fillRect l="0" t="-248180" r="0" b="-248180"/>
              </a:stretch>
            </a:blipFill>
          </p:spPr>
        </p:sp>
        <p:sp>
          <p:nvSpPr>
            <p:cNvPr name="TextBox 76" id="76"/>
            <p:cNvSpPr txBox="true"/>
            <p:nvPr/>
          </p:nvSpPr>
          <p:spPr>
            <a:xfrm>
              <a:off x="0" y="-66675"/>
              <a:ext cx="9235440" cy="670179"/>
            </a:xfrm>
            <a:prstGeom prst="rect">
              <a:avLst/>
            </a:prstGeom>
          </p:spPr>
          <p:txBody>
            <a:bodyPr anchor="ctr" rtlCol="false" tIns="0" lIns="0" bIns="0" rIns="0"/>
            <a:lstStyle/>
            <a:p>
              <a:pPr algn="l">
                <a:lnSpc>
                  <a:spcPts val="3779"/>
                </a:lnSpc>
              </a:pPr>
              <a:r>
                <a:rPr lang="en-US" sz="3150">
                  <a:solidFill>
                    <a:srgbClr val="087E83"/>
                  </a:solidFill>
                  <a:latin typeface="Calibri (MS)"/>
                  <a:ea typeface="Calibri (MS)"/>
                  <a:cs typeface="Calibri (MS)"/>
                  <a:sym typeface="Calibri (MS)"/>
                </a:rPr>
                <a:t>Business data</a:t>
              </a:r>
            </a:p>
          </p:txBody>
        </p:sp>
      </p:grpSp>
      <p:sp>
        <p:nvSpPr>
          <p:cNvPr name="AutoShape 77" id="77"/>
          <p:cNvSpPr/>
          <p:nvPr/>
        </p:nvSpPr>
        <p:spPr>
          <a:xfrm rot="5136060">
            <a:off x="9561671" y="4331589"/>
            <a:ext cx="372570" cy="0"/>
          </a:xfrm>
          <a:prstGeom prst="line">
            <a:avLst/>
          </a:prstGeom>
          <a:ln cap="rnd" w="19050">
            <a:solidFill>
              <a:srgbClr val="087E83"/>
            </a:solidFill>
            <a:prstDash val="solid"/>
            <a:headEnd type="none" len="sm" w="sm"/>
            <a:tailEnd type="none" len="sm" w="sm"/>
          </a:ln>
        </p:spPr>
      </p:sp>
      <p:grpSp>
        <p:nvGrpSpPr>
          <p:cNvPr name="Group 78" id="78"/>
          <p:cNvGrpSpPr/>
          <p:nvPr/>
        </p:nvGrpSpPr>
        <p:grpSpPr>
          <a:xfrm rot="0">
            <a:off x="9632823" y="4585335"/>
            <a:ext cx="224790" cy="224790"/>
            <a:chOff x="0" y="0"/>
            <a:chExt cx="299720" cy="299720"/>
          </a:xfrm>
        </p:grpSpPr>
        <p:sp>
          <p:nvSpPr>
            <p:cNvPr name="Freeform 79" id="79"/>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087E83"/>
            </a:solidFill>
            <a:ln w="19050" cap="sq">
              <a:solidFill>
                <a:srgbClr val="087E83"/>
              </a:solidFill>
              <a:prstDash val="solid"/>
              <a:miter/>
            </a:ln>
          </p:spPr>
        </p:sp>
      </p:grpSp>
      <p:grpSp>
        <p:nvGrpSpPr>
          <p:cNvPr name="Group 80" id="80"/>
          <p:cNvGrpSpPr/>
          <p:nvPr/>
        </p:nvGrpSpPr>
        <p:grpSpPr>
          <a:xfrm rot="0">
            <a:off x="10108692" y="4485132"/>
            <a:ext cx="6926580" cy="452628"/>
            <a:chOff x="0" y="0"/>
            <a:chExt cx="9235440" cy="603504"/>
          </a:xfrm>
        </p:grpSpPr>
        <p:sp>
          <p:nvSpPr>
            <p:cNvPr name="Freeform 81" id="81"/>
            <p:cNvSpPr/>
            <p:nvPr/>
          </p:nvSpPr>
          <p:spPr>
            <a:xfrm flipH="false" flipV="false" rot="0">
              <a:off x="0" y="0"/>
              <a:ext cx="9235440" cy="603504"/>
            </a:xfrm>
            <a:custGeom>
              <a:avLst/>
              <a:gdLst/>
              <a:ahLst/>
              <a:cxnLst/>
              <a:rect r="r" b="b" t="t" l="l"/>
              <a:pathLst>
                <a:path h="603504" w="9235440">
                  <a:moveTo>
                    <a:pt x="0" y="0"/>
                  </a:moveTo>
                  <a:lnTo>
                    <a:pt x="9235440" y="0"/>
                  </a:lnTo>
                  <a:lnTo>
                    <a:pt x="9235440" y="603504"/>
                  </a:lnTo>
                  <a:lnTo>
                    <a:pt x="0" y="603504"/>
                  </a:lnTo>
                  <a:close/>
                </a:path>
              </a:pathLst>
            </a:custGeom>
            <a:blipFill>
              <a:blip r:embed="rId3">
                <a:alphaModFix amt="0"/>
              </a:blip>
              <a:stretch>
                <a:fillRect l="0" t="-248180" r="0" b="-248180"/>
              </a:stretch>
            </a:blipFill>
          </p:spPr>
        </p:sp>
        <p:sp>
          <p:nvSpPr>
            <p:cNvPr name="TextBox 82" id="82"/>
            <p:cNvSpPr txBox="true"/>
            <p:nvPr/>
          </p:nvSpPr>
          <p:spPr>
            <a:xfrm>
              <a:off x="0" y="-66675"/>
              <a:ext cx="9235440" cy="670179"/>
            </a:xfrm>
            <a:prstGeom prst="rect">
              <a:avLst/>
            </a:prstGeom>
          </p:spPr>
          <p:txBody>
            <a:bodyPr anchor="ctr" rtlCol="false" tIns="0" lIns="0" bIns="0" rIns="0"/>
            <a:lstStyle/>
            <a:p>
              <a:pPr algn="l">
                <a:lnSpc>
                  <a:spcPts val="3779"/>
                </a:lnSpc>
              </a:pPr>
              <a:r>
                <a:rPr lang="en-US" sz="3150">
                  <a:solidFill>
                    <a:srgbClr val="087E83"/>
                  </a:solidFill>
                  <a:latin typeface="Calibri (MS)"/>
                  <a:ea typeface="Calibri (MS)"/>
                  <a:cs typeface="Calibri (MS)"/>
                  <a:sym typeface="Calibri (MS)"/>
                </a:rPr>
                <a:t>Scan multiple signals</a:t>
              </a:r>
            </a:p>
          </p:txBody>
        </p:sp>
      </p:grpSp>
      <p:sp>
        <p:nvSpPr>
          <p:cNvPr name="AutoShape 83" id="83"/>
          <p:cNvSpPr/>
          <p:nvPr/>
        </p:nvSpPr>
        <p:spPr>
          <a:xfrm rot="5136060">
            <a:off x="9561671" y="4962525"/>
            <a:ext cx="372570" cy="0"/>
          </a:xfrm>
          <a:prstGeom prst="line">
            <a:avLst/>
          </a:prstGeom>
          <a:ln cap="rnd" w="19050">
            <a:solidFill>
              <a:srgbClr val="087E83"/>
            </a:solidFill>
            <a:prstDash val="solid"/>
            <a:headEnd type="none" len="sm" w="sm"/>
            <a:tailEnd type="none" len="sm" w="sm"/>
          </a:ln>
        </p:spPr>
      </p:sp>
      <p:grpSp>
        <p:nvGrpSpPr>
          <p:cNvPr name="Group 84" id="84"/>
          <p:cNvGrpSpPr/>
          <p:nvPr/>
        </p:nvGrpSpPr>
        <p:grpSpPr>
          <a:xfrm rot="0">
            <a:off x="9632823" y="5216271"/>
            <a:ext cx="224790" cy="224790"/>
            <a:chOff x="0" y="0"/>
            <a:chExt cx="299720" cy="299720"/>
          </a:xfrm>
        </p:grpSpPr>
        <p:sp>
          <p:nvSpPr>
            <p:cNvPr name="Freeform 85" id="85"/>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087E83"/>
            </a:solidFill>
            <a:ln w="19050" cap="sq">
              <a:solidFill>
                <a:srgbClr val="087E83"/>
              </a:solidFill>
              <a:prstDash val="solid"/>
              <a:miter/>
            </a:ln>
          </p:spPr>
        </p:sp>
      </p:grpSp>
      <p:grpSp>
        <p:nvGrpSpPr>
          <p:cNvPr name="Group 86" id="86"/>
          <p:cNvGrpSpPr/>
          <p:nvPr/>
        </p:nvGrpSpPr>
        <p:grpSpPr>
          <a:xfrm rot="0">
            <a:off x="10108692" y="5116068"/>
            <a:ext cx="6926580" cy="452628"/>
            <a:chOff x="0" y="0"/>
            <a:chExt cx="9235440" cy="603504"/>
          </a:xfrm>
        </p:grpSpPr>
        <p:sp>
          <p:nvSpPr>
            <p:cNvPr name="Freeform 87" id="87"/>
            <p:cNvSpPr/>
            <p:nvPr/>
          </p:nvSpPr>
          <p:spPr>
            <a:xfrm flipH="false" flipV="false" rot="0">
              <a:off x="0" y="0"/>
              <a:ext cx="9235440" cy="603504"/>
            </a:xfrm>
            <a:custGeom>
              <a:avLst/>
              <a:gdLst/>
              <a:ahLst/>
              <a:cxnLst/>
              <a:rect r="r" b="b" t="t" l="l"/>
              <a:pathLst>
                <a:path h="603504" w="9235440">
                  <a:moveTo>
                    <a:pt x="0" y="0"/>
                  </a:moveTo>
                  <a:lnTo>
                    <a:pt x="9235440" y="0"/>
                  </a:lnTo>
                  <a:lnTo>
                    <a:pt x="9235440" y="603504"/>
                  </a:lnTo>
                  <a:lnTo>
                    <a:pt x="0" y="603504"/>
                  </a:lnTo>
                  <a:close/>
                </a:path>
              </a:pathLst>
            </a:custGeom>
            <a:blipFill>
              <a:blip r:embed="rId3">
                <a:alphaModFix amt="0"/>
              </a:blip>
              <a:stretch>
                <a:fillRect l="0" t="-248180" r="0" b="-248180"/>
              </a:stretch>
            </a:blipFill>
          </p:spPr>
        </p:sp>
        <p:sp>
          <p:nvSpPr>
            <p:cNvPr name="TextBox 88" id="88"/>
            <p:cNvSpPr txBox="true"/>
            <p:nvPr/>
          </p:nvSpPr>
          <p:spPr>
            <a:xfrm>
              <a:off x="0" y="-66675"/>
              <a:ext cx="9235440" cy="670179"/>
            </a:xfrm>
            <a:prstGeom prst="rect">
              <a:avLst/>
            </a:prstGeom>
          </p:spPr>
          <p:txBody>
            <a:bodyPr anchor="ctr" rtlCol="false" tIns="0" lIns="0" bIns="0" rIns="0"/>
            <a:lstStyle/>
            <a:p>
              <a:pPr algn="l">
                <a:lnSpc>
                  <a:spcPts val="3779"/>
                </a:lnSpc>
              </a:pPr>
              <a:r>
                <a:rPr lang="en-US" sz="3150">
                  <a:solidFill>
                    <a:srgbClr val="087E83"/>
                  </a:solidFill>
                  <a:latin typeface="Calibri (MS)"/>
                  <a:ea typeface="Calibri (MS)"/>
                  <a:cs typeface="Calibri (MS)"/>
                  <a:sym typeface="Calibri (MS)"/>
                </a:rPr>
                <a:t>Connect related risks</a:t>
              </a:r>
            </a:p>
          </p:txBody>
        </p:sp>
      </p:grpSp>
      <p:sp>
        <p:nvSpPr>
          <p:cNvPr name="AutoShape 89" id="89"/>
          <p:cNvSpPr/>
          <p:nvPr/>
        </p:nvSpPr>
        <p:spPr>
          <a:xfrm rot="5136060">
            <a:off x="9561671" y="5593461"/>
            <a:ext cx="372570" cy="0"/>
          </a:xfrm>
          <a:prstGeom prst="line">
            <a:avLst/>
          </a:prstGeom>
          <a:ln cap="rnd" w="19050">
            <a:solidFill>
              <a:srgbClr val="087E83"/>
            </a:solidFill>
            <a:prstDash val="solid"/>
            <a:headEnd type="none" len="sm" w="sm"/>
            <a:tailEnd type="none" len="sm" w="sm"/>
          </a:ln>
        </p:spPr>
      </p:sp>
      <p:grpSp>
        <p:nvGrpSpPr>
          <p:cNvPr name="Group 90" id="90"/>
          <p:cNvGrpSpPr/>
          <p:nvPr/>
        </p:nvGrpSpPr>
        <p:grpSpPr>
          <a:xfrm rot="0">
            <a:off x="9632823" y="5847207"/>
            <a:ext cx="224790" cy="224790"/>
            <a:chOff x="0" y="0"/>
            <a:chExt cx="299720" cy="299720"/>
          </a:xfrm>
        </p:grpSpPr>
        <p:sp>
          <p:nvSpPr>
            <p:cNvPr name="Freeform 91" id="91"/>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087E83"/>
            </a:solidFill>
            <a:ln w="19050" cap="sq">
              <a:solidFill>
                <a:srgbClr val="087E83"/>
              </a:solidFill>
              <a:prstDash val="solid"/>
              <a:miter/>
            </a:ln>
          </p:spPr>
        </p:sp>
      </p:grpSp>
      <p:grpSp>
        <p:nvGrpSpPr>
          <p:cNvPr name="Group 92" id="92"/>
          <p:cNvGrpSpPr/>
          <p:nvPr/>
        </p:nvGrpSpPr>
        <p:grpSpPr>
          <a:xfrm rot="0">
            <a:off x="10108692" y="5747004"/>
            <a:ext cx="6926580" cy="452628"/>
            <a:chOff x="0" y="0"/>
            <a:chExt cx="9235440" cy="603504"/>
          </a:xfrm>
        </p:grpSpPr>
        <p:sp>
          <p:nvSpPr>
            <p:cNvPr name="Freeform 93" id="93"/>
            <p:cNvSpPr/>
            <p:nvPr/>
          </p:nvSpPr>
          <p:spPr>
            <a:xfrm flipH="false" flipV="false" rot="0">
              <a:off x="0" y="0"/>
              <a:ext cx="9235440" cy="603504"/>
            </a:xfrm>
            <a:custGeom>
              <a:avLst/>
              <a:gdLst/>
              <a:ahLst/>
              <a:cxnLst/>
              <a:rect r="r" b="b" t="t" l="l"/>
              <a:pathLst>
                <a:path h="603504" w="9235440">
                  <a:moveTo>
                    <a:pt x="0" y="0"/>
                  </a:moveTo>
                  <a:lnTo>
                    <a:pt x="9235440" y="0"/>
                  </a:lnTo>
                  <a:lnTo>
                    <a:pt x="9235440" y="603504"/>
                  </a:lnTo>
                  <a:lnTo>
                    <a:pt x="0" y="603504"/>
                  </a:lnTo>
                  <a:close/>
                </a:path>
              </a:pathLst>
            </a:custGeom>
            <a:blipFill>
              <a:blip r:embed="rId3">
                <a:alphaModFix amt="0"/>
              </a:blip>
              <a:stretch>
                <a:fillRect l="0" t="-248180" r="0" b="-248180"/>
              </a:stretch>
            </a:blipFill>
          </p:spPr>
        </p:sp>
        <p:sp>
          <p:nvSpPr>
            <p:cNvPr name="TextBox 94" id="94"/>
            <p:cNvSpPr txBox="true"/>
            <p:nvPr/>
          </p:nvSpPr>
          <p:spPr>
            <a:xfrm>
              <a:off x="0" y="-66675"/>
              <a:ext cx="9235440" cy="670179"/>
            </a:xfrm>
            <a:prstGeom prst="rect">
              <a:avLst/>
            </a:prstGeom>
          </p:spPr>
          <p:txBody>
            <a:bodyPr anchor="ctr" rtlCol="false" tIns="0" lIns="0" bIns="0" rIns="0"/>
            <a:lstStyle/>
            <a:p>
              <a:pPr algn="l">
                <a:lnSpc>
                  <a:spcPts val="3779"/>
                </a:lnSpc>
              </a:pPr>
              <a:r>
                <a:rPr lang="en-US" sz="3150">
                  <a:solidFill>
                    <a:srgbClr val="087E83"/>
                  </a:solidFill>
                  <a:latin typeface="Calibri (MS)"/>
                  <a:ea typeface="Calibri (MS)"/>
                  <a:cs typeface="Calibri (MS)"/>
                  <a:sym typeface="Calibri (MS)"/>
                </a:rPr>
                <a:t>Prioritize severity</a:t>
              </a:r>
            </a:p>
          </p:txBody>
        </p:sp>
      </p:grpSp>
      <p:sp>
        <p:nvSpPr>
          <p:cNvPr name="AutoShape 95" id="95"/>
          <p:cNvSpPr/>
          <p:nvPr/>
        </p:nvSpPr>
        <p:spPr>
          <a:xfrm rot="5136060">
            <a:off x="9561671" y="6224397"/>
            <a:ext cx="372570" cy="0"/>
          </a:xfrm>
          <a:prstGeom prst="line">
            <a:avLst/>
          </a:prstGeom>
          <a:ln cap="rnd" w="19050">
            <a:solidFill>
              <a:srgbClr val="087E83"/>
            </a:solidFill>
            <a:prstDash val="solid"/>
            <a:headEnd type="none" len="sm" w="sm"/>
            <a:tailEnd type="none" len="sm" w="sm"/>
          </a:ln>
        </p:spPr>
      </p:sp>
      <p:grpSp>
        <p:nvGrpSpPr>
          <p:cNvPr name="Group 96" id="96"/>
          <p:cNvGrpSpPr/>
          <p:nvPr/>
        </p:nvGrpSpPr>
        <p:grpSpPr>
          <a:xfrm rot="0">
            <a:off x="9632823" y="6478143"/>
            <a:ext cx="224790" cy="224790"/>
            <a:chOff x="0" y="0"/>
            <a:chExt cx="299720" cy="299720"/>
          </a:xfrm>
        </p:grpSpPr>
        <p:sp>
          <p:nvSpPr>
            <p:cNvPr name="Freeform 97" id="97"/>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087E83"/>
            </a:solidFill>
            <a:ln w="19050" cap="sq">
              <a:solidFill>
                <a:srgbClr val="087E83"/>
              </a:solidFill>
              <a:prstDash val="solid"/>
              <a:miter/>
            </a:ln>
          </p:spPr>
        </p:sp>
      </p:grpSp>
      <p:grpSp>
        <p:nvGrpSpPr>
          <p:cNvPr name="Group 98" id="98"/>
          <p:cNvGrpSpPr/>
          <p:nvPr/>
        </p:nvGrpSpPr>
        <p:grpSpPr>
          <a:xfrm rot="0">
            <a:off x="10108692" y="6377940"/>
            <a:ext cx="6926580" cy="452628"/>
            <a:chOff x="0" y="0"/>
            <a:chExt cx="9235440" cy="603504"/>
          </a:xfrm>
        </p:grpSpPr>
        <p:sp>
          <p:nvSpPr>
            <p:cNvPr name="Freeform 99" id="99"/>
            <p:cNvSpPr/>
            <p:nvPr/>
          </p:nvSpPr>
          <p:spPr>
            <a:xfrm flipH="false" flipV="false" rot="0">
              <a:off x="0" y="0"/>
              <a:ext cx="9235440" cy="603504"/>
            </a:xfrm>
            <a:custGeom>
              <a:avLst/>
              <a:gdLst/>
              <a:ahLst/>
              <a:cxnLst/>
              <a:rect r="r" b="b" t="t" l="l"/>
              <a:pathLst>
                <a:path h="603504" w="9235440">
                  <a:moveTo>
                    <a:pt x="0" y="0"/>
                  </a:moveTo>
                  <a:lnTo>
                    <a:pt x="9235440" y="0"/>
                  </a:lnTo>
                  <a:lnTo>
                    <a:pt x="9235440" y="603504"/>
                  </a:lnTo>
                  <a:lnTo>
                    <a:pt x="0" y="603504"/>
                  </a:lnTo>
                  <a:close/>
                </a:path>
              </a:pathLst>
            </a:custGeom>
            <a:blipFill>
              <a:blip r:embed="rId3">
                <a:alphaModFix amt="0"/>
              </a:blip>
              <a:stretch>
                <a:fillRect l="0" t="-248180" r="0" b="-248180"/>
              </a:stretch>
            </a:blipFill>
          </p:spPr>
        </p:sp>
        <p:sp>
          <p:nvSpPr>
            <p:cNvPr name="TextBox 100" id="100"/>
            <p:cNvSpPr txBox="true"/>
            <p:nvPr/>
          </p:nvSpPr>
          <p:spPr>
            <a:xfrm>
              <a:off x="0" y="-66675"/>
              <a:ext cx="9235440" cy="670179"/>
            </a:xfrm>
            <a:prstGeom prst="rect">
              <a:avLst/>
            </a:prstGeom>
          </p:spPr>
          <p:txBody>
            <a:bodyPr anchor="ctr" rtlCol="false" tIns="0" lIns="0" bIns="0" rIns="0"/>
            <a:lstStyle/>
            <a:p>
              <a:pPr algn="l">
                <a:lnSpc>
                  <a:spcPts val="3779"/>
                </a:lnSpc>
              </a:pPr>
              <a:r>
                <a:rPr lang="en-US" sz="3150">
                  <a:solidFill>
                    <a:srgbClr val="087E83"/>
                  </a:solidFill>
                  <a:latin typeface="Calibri (MS)"/>
                  <a:ea typeface="Calibri (MS)"/>
                  <a:cs typeface="Calibri (MS)"/>
                  <a:sym typeface="Calibri (MS)"/>
                </a:rPr>
                <a:t>Explain the evidence</a:t>
              </a:r>
            </a:p>
          </p:txBody>
        </p:sp>
      </p:grpSp>
      <p:sp>
        <p:nvSpPr>
          <p:cNvPr name="AutoShape 101" id="101"/>
          <p:cNvSpPr/>
          <p:nvPr/>
        </p:nvSpPr>
        <p:spPr>
          <a:xfrm rot="5136060">
            <a:off x="9561671" y="6855333"/>
            <a:ext cx="372570" cy="0"/>
          </a:xfrm>
          <a:prstGeom prst="line">
            <a:avLst/>
          </a:prstGeom>
          <a:ln cap="rnd" w="19050">
            <a:solidFill>
              <a:srgbClr val="087E83"/>
            </a:solidFill>
            <a:prstDash val="solid"/>
            <a:headEnd type="none" len="sm" w="sm"/>
            <a:tailEnd type="none" len="sm" w="sm"/>
          </a:ln>
        </p:spPr>
      </p:sp>
      <p:grpSp>
        <p:nvGrpSpPr>
          <p:cNvPr name="Group 102" id="102"/>
          <p:cNvGrpSpPr/>
          <p:nvPr/>
        </p:nvGrpSpPr>
        <p:grpSpPr>
          <a:xfrm rot="0">
            <a:off x="9632823" y="7109079"/>
            <a:ext cx="224790" cy="224790"/>
            <a:chOff x="0" y="0"/>
            <a:chExt cx="299720" cy="299720"/>
          </a:xfrm>
        </p:grpSpPr>
        <p:sp>
          <p:nvSpPr>
            <p:cNvPr name="Freeform 103" id="103"/>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087E83"/>
            </a:solidFill>
            <a:ln w="19050" cap="sq">
              <a:solidFill>
                <a:srgbClr val="087E83"/>
              </a:solidFill>
              <a:prstDash val="solid"/>
              <a:miter/>
            </a:ln>
          </p:spPr>
        </p:sp>
      </p:grpSp>
      <p:grpSp>
        <p:nvGrpSpPr>
          <p:cNvPr name="Group 104" id="104"/>
          <p:cNvGrpSpPr/>
          <p:nvPr/>
        </p:nvGrpSpPr>
        <p:grpSpPr>
          <a:xfrm rot="0">
            <a:off x="10108692" y="7008876"/>
            <a:ext cx="6926580" cy="452628"/>
            <a:chOff x="0" y="0"/>
            <a:chExt cx="9235440" cy="603504"/>
          </a:xfrm>
        </p:grpSpPr>
        <p:sp>
          <p:nvSpPr>
            <p:cNvPr name="Freeform 105" id="105"/>
            <p:cNvSpPr/>
            <p:nvPr/>
          </p:nvSpPr>
          <p:spPr>
            <a:xfrm flipH="false" flipV="false" rot="0">
              <a:off x="0" y="0"/>
              <a:ext cx="9235440" cy="603504"/>
            </a:xfrm>
            <a:custGeom>
              <a:avLst/>
              <a:gdLst/>
              <a:ahLst/>
              <a:cxnLst/>
              <a:rect r="r" b="b" t="t" l="l"/>
              <a:pathLst>
                <a:path h="603504" w="9235440">
                  <a:moveTo>
                    <a:pt x="0" y="0"/>
                  </a:moveTo>
                  <a:lnTo>
                    <a:pt x="9235440" y="0"/>
                  </a:lnTo>
                  <a:lnTo>
                    <a:pt x="9235440" y="603504"/>
                  </a:lnTo>
                  <a:lnTo>
                    <a:pt x="0" y="603504"/>
                  </a:lnTo>
                  <a:close/>
                </a:path>
              </a:pathLst>
            </a:custGeom>
            <a:blipFill>
              <a:blip r:embed="rId3">
                <a:alphaModFix amt="0"/>
              </a:blip>
              <a:stretch>
                <a:fillRect l="0" t="-248180" r="0" b="-248180"/>
              </a:stretch>
            </a:blipFill>
          </p:spPr>
        </p:sp>
        <p:sp>
          <p:nvSpPr>
            <p:cNvPr name="TextBox 106" id="106"/>
            <p:cNvSpPr txBox="true"/>
            <p:nvPr/>
          </p:nvSpPr>
          <p:spPr>
            <a:xfrm>
              <a:off x="0" y="-66675"/>
              <a:ext cx="9235440" cy="670179"/>
            </a:xfrm>
            <a:prstGeom prst="rect">
              <a:avLst/>
            </a:prstGeom>
          </p:spPr>
          <p:txBody>
            <a:bodyPr anchor="ctr" rtlCol="false" tIns="0" lIns="0" bIns="0" rIns="0"/>
            <a:lstStyle/>
            <a:p>
              <a:pPr algn="l">
                <a:lnSpc>
                  <a:spcPts val="3779"/>
                </a:lnSpc>
              </a:pPr>
              <a:r>
                <a:rPr lang="en-US" sz="3150">
                  <a:solidFill>
                    <a:srgbClr val="087E83"/>
                  </a:solidFill>
                  <a:latin typeface="Calibri (MS)"/>
                  <a:ea typeface="Calibri (MS)"/>
                  <a:cs typeface="Calibri (MS)"/>
                  <a:sym typeface="Calibri (MS)"/>
                </a:rPr>
                <a:t>Recommend preventive action</a:t>
              </a:r>
            </a:p>
          </p:txBody>
        </p:sp>
      </p:grpSp>
      <p:sp>
        <p:nvSpPr>
          <p:cNvPr name="AutoShape 107" id="107"/>
          <p:cNvSpPr/>
          <p:nvPr/>
        </p:nvSpPr>
        <p:spPr>
          <a:xfrm rot="5136060">
            <a:off x="9561671" y="7486269"/>
            <a:ext cx="372570" cy="0"/>
          </a:xfrm>
          <a:prstGeom prst="line">
            <a:avLst/>
          </a:prstGeom>
          <a:ln cap="rnd" w="19050">
            <a:solidFill>
              <a:srgbClr val="087E83"/>
            </a:solidFill>
            <a:prstDash val="solid"/>
            <a:headEnd type="none" len="sm" w="sm"/>
            <a:tailEnd type="none" len="sm" w="sm"/>
          </a:ln>
        </p:spPr>
      </p:sp>
      <p:grpSp>
        <p:nvGrpSpPr>
          <p:cNvPr name="Group 108" id="108"/>
          <p:cNvGrpSpPr/>
          <p:nvPr/>
        </p:nvGrpSpPr>
        <p:grpSpPr>
          <a:xfrm rot="0">
            <a:off x="9632823" y="7740015"/>
            <a:ext cx="224790" cy="224790"/>
            <a:chOff x="0" y="0"/>
            <a:chExt cx="299720" cy="299720"/>
          </a:xfrm>
        </p:grpSpPr>
        <p:sp>
          <p:nvSpPr>
            <p:cNvPr name="Freeform 109" id="109"/>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202C30"/>
            </a:solidFill>
            <a:ln w="19050" cap="sq">
              <a:solidFill>
                <a:srgbClr val="202C30"/>
              </a:solidFill>
              <a:prstDash val="solid"/>
              <a:miter/>
            </a:ln>
          </p:spPr>
        </p:sp>
      </p:grpSp>
      <p:grpSp>
        <p:nvGrpSpPr>
          <p:cNvPr name="Group 110" id="110"/>
          <p:cNvGrpSpPr/>
          <p:nvPr/>
        </p:nvGrpSpPr>
        <p:grpSpPr>
          <a:xfrm rot="0">
            <a:off x="10108692" y="7639812"/>
            <a:ext cx="6926580" cy="452628"/>
            <a:chOff x="0" y="0"/>
            <a:chExt cx="9235440" cy="603504"/>
          </a:xfrm>
        </p:grpSpPr>
        <p:sp>
          <p:nvSpPr>
            <p:cNvPr name="Freeform 111" id="111"/>
            <p:cNvSpPr/>
            <p:nvPr/>
          </p:nvSpPr>
          <p:spPr>
            <a:xfrm flipH="false" flipV="false" rot="0">
              <a:off x="0" y="0"/>
              <a:ext cx="9235440" cy="603504"/>
            </a:xfrm>
            <a:custGeom>
              <a:avLst/>
              <a:gdLst/>
              <a:ahLst/>
              <a:cxnLst/>
              <a:rect r="r" b="b" t="t" l="l"/>
              <a:pathLst>
                <a:path h="603504" w="9235440">
                  <a:moveTo>
                    <a:pt x="0" y="0"/>
                  </a:moveTo>
                  <a:lnTo>
                    <a:pt x="9235440" y="0"/>
                  </a:lnTo>
                  <a:lnTo>
                    <a:pt x="9235440" y="603504"/>
                  </a:lnTo>
                  <a:lnTo>
                    <a:pt x="0" y="603504"/>
                  </a:lnTo>
                  <a:close/>
                </a:path>
              </a:pathLst>
            </a:custGeom>
            <a:blipFill>
              <a:blip r:embed="rId3">
                <a:alphaModFix amt="0"/>
              </a:blip>
              <a:stretch>
                <a:fillRect l="0" t="-248180" r="0" b="-248180"/>
              </a:stretch>
            </a:blipFill>
          </p:spPr>
        </p:sp>
        <p:sp>
          <p:nvSpPr>
            <p:cNvPr name="TextBox 112" id="112"/>
            <p:cNvSpPr txBox="true"/>
            <p:nvPr/>
          </p:nvSpPr>
          <p:spPr>
            <a:xfrm>
              <a:off x="0" y="-9525"/>
              <a:ext cx="9235440" cy="613029"/>
            </a:xfrm>
            <a:prstGeom prst="rect">
              <a:avLst/>
            </a:prstGeom>
          </p:spPr>
          <p:txBody>
            <a:bodyPr anchor="ctr" rtlCol="false" tIns="0" lIns="0" bIns="0" rIns="0"/>
            <a:lstStyle/>
            <a:p>
              <a:pPr algn="l">
                <a:lnSpc>
                  <a:spcPts val="3779"/>
                </a:lnSpc>
              </a:pPr>
              <a:r>
                <a:rPr lang="en-US" sz="3150" b="true">
                  <a:solidFill>
                    <a:srgbClr val="202C30"/>
                  </a:solidFill>
                  <a:latin typeface="Trebuchet MS Bold"/>
                  <a:ea typeface="Trebuchet MS Bold"/>
                  <a:cs typeface="Trebuchet MS Bold"/>
                  <a:sym typeface="Trebuchet MS Bold"/>
                </a:rPr>
                <a:t>Human approval</a:t>
              </a:r>
            </a:p>
          </p:txBody>
        </p:sp>
      </p:grpSp>
      <p:grpSp>
        <p:nvGrpSpPr>
          <p:cNvPr name="Group 113" id="113"/>
          <p:cNvGrpSpPr/>
          <p:nvPr/>
        </p:nvGrpSpPr>
        <p:grpSpPr>
          <a:xfrm rot="0">
            <a:off x="815340" y="8564880"/>
            <a:ext cx="16611600" cy="742188"/>
            <a:chOff x="0" y="0"/>
            <a:chExt cx="22148800" cy="989584"/>
          </a:xfrm>
        </p:grpSpPr>
        <p:sp>
          <p:nvSpPr>
            <p:cNvPr name="Freeform 114" id="114"/>
            <p:cNvSpPr/>
            <p:nvPr/>
          </p:nvSpPr>
          <p:spPr>
            <a:xfrm flipH="false" flipV="false" rot="0">
              <a:off x="0" y="0"/>
              <a:ext cx="22148800" cy="989584"/>
            </a:xfrm>
            <a:custGeom>
              <a:avLst/>
              <a:gdLst/>
              <a:ahLst/>
              <a:cxnLst/>
              <a:rect r="r" b="b" t="t" l="l"/>
              <a:pathLst>
                <a:path h="989584" w="22148800">
                  <a:moveTo>
                    <a:pt x="0" y="0"/>
                  </a:moveTo>
                  <a:lnTo>
                    <a:pt x="22148800" y="0"/>
                  </a:lnTo>
                  <a:lnTo>
                    <a:pt x="22148800" y="989584"/>
                  </a:lnTo>
                  <a:lnTo>
                    <a:pt x="0" y="989584"/>
                  </a:lnTo>
                  <a:close/>
                </a:path>
              </a:pathLst>
            </a:custGeom>
            <a:solidFill>
              <a:srgbClr val="F5F7F7"/>
            </a:solidFill>
            <a:ln w="15240" cap="sq">
              <a:solidFill>
                <a:srgbClr val="F5F7F7"/>
              </a:solidFill>
              <a:prstDash val="solid"/>
              <a:miter/>
            </a:ln>
          </p:spPr>
        </p:sp>
      </p:grpSp>
      <p:grpSp>
        <p:nvGrpSpPr>
          <p:cNvPr name="Group 115" id="115"/>
          <p:cNvGrpSpPr/>
          <p:nvPr/>
        </p:nvGrpSpPr>
        <p:grpSpPr>
          <a:xfrm rot="0">
            <a:off x="1097280" y="8572500"/>
            <a:ext cx="8366760" cy="726948"/>
            <a:chOff x="0" y="0"/>
            <a:chExt cx="11155680" cy="969264"/>
          </a:xfrm>
        </p:grpSpPr>
        <p:sp>
          <p:nvSpPr>
            <p:cNvPr name="Freeform 116" id="116"/>
            <p:cNvSpPr/>
            <p:nvPr/>
          </p:nvSpPr>
          <p:spPr>
            <a:xfrm flipH="false" flipV="false" rot="0">
              <a:off x="0" y="0"/>
              <a:ext cx="11155680" cy="969264"/>
            </a:xfrm>
            <a:custGeom>
              <a:avLst/>
              <a:gdLst/>
              <a:ahLst/>
              <a:cxnLst/>
              <a:rect r="r" b="b" t="t" l="l"/>
              <a:pathLst>
                <a:path h="969264" w="11155680">
                  <a:moveTo>
                    <a:pt x="0" y="0"/>
                  </a:moveTo>
                  <a:lnTo>
                    <a:pt x="11155680" y="0"/>
                  </a:lnTo>
                  <a:lnTo>
                    <a:pt x="11155680" y="969264"/>
                  </a:lnTo>
                  <a:lnTo>
                    <a:pt x="0" y="969264"/>
                  </a:lnTo>
                  <a:close/>
                </a:path>
              </a:pathLst>
            </a:custGeom>
            <a:blipFill>
              <a:blip r:embed="rId3">
                <a:alphaModFix amt="0"/>
              </a:blip>
              <a:stretch>
                <a:fillRect l="0" t="-174261" r="0" b="-174261"/>
              </a:stretch>
            </a:blipFill>
          </p:spPr>
        </p:sp>
        <p:sp>
          <p:nvSpPr>
            <p:cNvPr name="TextBox 117" id="117"/>
            <p:cNvSpPr txBox="true"/>
            <p:nvPr/>
          </p:nvSpPr>
          <p:spPr>
            <a:xfrm>
              <a:off x="0" y="-57150"/>
              <a:ext cx="11155680" cy="1026414"/>
            </a:xfrm>
            <a:prstGeom prst="rect">
              <a:avLst/>
            </a:prstGeom>
          </p:spPr>
          <p:txBody>
            <a:bodyPr anchor="ctr" rtlCol="false" tIns="0" lIns="0" bIns="0" rIns="0"/>
            <a:lstStyle/>
            <a:p>
              <a:pPr algn="l">
                <a:lnSpc>
                  <a:spcPts val="2700"/>
                </a:lnSpc>
              </a:pPr>
              <a:r>
                <a:rPr lang="en-US" sz="2250">
                  <a:solidFill>
                    <a:srgbClr val="51636A"/>
                  </a:solidFill>
                  <a:latin typeface="Calibri (MS)"/>
                  <a:ea typeface="Calibri (MS)"/>
                  <a:cs typeface="Calibri (MS)"/>
                  <a:sym typeface="Calibri (MS)"/>
                </a:rPr>
                <a:t>Collect → Compare → Investigate</a:t>
              </a:r>
            </a:p>
            <a:p>
              <a:pPr algn="l">
                <a:lnSpc>
                  <a:spcPts val="2700"/>
                </a:lnSpc>
              </a:pPr>
              <a:r>
                <a:rPr lang="en-US" sz="2250">
                  <a:solidFill>
                    <a:srgbClr val="51636A"/>
                  </a:solidFill>
                  <a:latin typeface="Calibri (MS)"/>
                  <a:ea typeface="Calibri (MS)"/>
                  <a:cs typeface="Calibri (MS)"/>
                  <a:sym typeface="Calibri (MS)"/>
                </a:rPr>
                <a:t>Prioritize → Report</a:t>
              </a:r>
            </a:p>
          </p:txBody>
        </p:sp>
      </p:grpSp>
      <p:grpSp>
        <p:nvGrpSpPr>
          <p:cNvPr name="Group 118" id="118"/>
          <p:cNvGrpSpPr/>
          <p:nvPr/>
        </p:nvGrpSpPr>
        <p:grpSpPr>
          <a:xfrm rot="0">
            <a:off x="9601200" y="8572500"/>
            <a:ext cx="7406640" cy="726948"/>
            <a:chOff x="0" y="0"/>
            <a:chExt cx="9875520" cy="969264"/>
          </a:xfrm>
        </p:grpSpPr>
        <p:sp>
          <p:nvSpPr>
            <p:cNvPr name="Freeform 119" id="119"/>
            <p:cNvSpPr/>
            <p:nvPr/>
          </p:nvSpPr>
          <p:spPr>
            <a:xfrm flipH="false" flipV="false" rot="0">
              <a:off x="0" y="0"/>
              <a:ext cx="9875520" cy="969264"/>
            </a:xfrm>
            <a:custGeom>
              <a:avLst/>
              <a:gdLst/>
              <a:ahLst/>
              <a:cxnLst/>
              <a:rect r="r" b="b" t="t" l="l"/>
              <a:pathLst>
                <a:path h="969264" w="9875520">
                  <a:moveTo>
                    <a:pt x="0" y="0"/>
                  </a:moveTo>
                  <a:lnTo>
                    <a:pt x="9875520" y="0"/>
                  </a:lnTo>
                  <a:lnTo>
                    <a:pt x="9875520" y="969264"/>
                  </a:lnTo>
                  <a:lnTo>
                    <a:pt x="0" y="969264"/>
                  </a:lnTo>
                  <a:close/>
                </a:path>
              </a:pathLst>
            </a:custGeom>
            <a:blipFill>
              <a:blip r:embed="rId3">
                <a:alphaModFix amt="0"/>
              </a:blip>
              <a:stretch>
                <a:fillRect l="0" t="-148526" r="0" b="-148526"/>
              </a:stretch>
            </a:blipFill>
          </p:spPr>
        </p:sp>
        <p:sp>
          <p:nvSpPr>
            <p:cNvPr name="TextBox 120" id="120"/>
            <p:cNvSpPr txBox="true"/>
            <p:nvPr/>
          </p:nvSpPr>
          <p:spPr>
            <a:xfrm>
              <a:off x="0" y="-9525"/>
              <a:ext cx="9875520" cy="978789"/>
            </a:xfrm>
            <a:prstGeom prst="rect">
              <a:avLst/>
            </a:prstGeom>
          </p:spPr>
          <p:txBody>
            <a:bodyPr anchor="ctr" rtlCol="false" tIns="0" lIns="0" bIns="0" rIns="0"/>
            <a:lstStyle/>
            <a:p>
              <a:pPr algn="l">
                <a:lnSpc>
                  <a:spcPts val="3240"/>
                </a:lnSpc>
              </a:pPr>
              <a:r>
                <a:rPr lang="en-US" sz="2700" b="true">
                  <a:solidFill>
                    <a:srgbClr val="087E83"/>
                  </a:solidFill>
                  <a:latin typeface="Trebuchet MS Bold"/>
                  <a:ea typeface="Trebuchet MS Bold"/>
                  <a:cs typeface="Trebuchet MS Bold"/>
                  <a:sym typeface="Trebuchet MS Bold"/>
                </a:rPr>
                <a:t>Scan → Analyze → Prioritize → Recommend</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370332"/>
            <a:ext cx="1371600" cy="411480"/>
            <a:chOff x="0" y="0"/>
            <a:chExt cx="1828800" cy="548640"/>
          </a:xfrm>
        </p:grpSpPr>
        <p:sp>
          <p:nvSpPr>
            <p:cNvPr name="Freeform 3" id="3"/>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4" id="4"/>
            <p:cNvSpPr txBox="true"/>
            <p:nvPr/>
          </p:nvSpPr>
          <p:spPr>
            <a:xfrm>
              <a:off x="0" y="-19050"/>
              <a:ext cx="1828800" cy="567690"/>
            </a:xfrm>
            <a:prstGeom prst="rect">
              <a:avLst/>
            </a:prstGeom>
          </p:spPr>
          <p:txBody>
            <a:bodyPr anchor="ctr" rtlCol="false" tIns="0" lIns="0" bIns="0" rIns="0"/>
            <a:lstStyle/>
            <a:p>
              <a:pPr algn="l">
                <a:lnSpc>
                  <a:spcPts val="2700"/>
                </a:lnSpc>
              </a:pPr>
              <a:r>
                <a:rPr lang="en-US" sz="2250" b="true">
                  <a:solidFill>
                    <a:srgbClr val="087E83"/>
                  </a:solidFill>
                  <a:latin typeface="Trebuchet MS Bold"/>
                  <a:ea typeface="Trebuchet MS Bold"/>
                  <a:cs typeface="Trebuchet MS Bold"/>
                  <a:sym typeface="Trebuchet MS Bold"/>
                </a:rPr>
                <a:t>ORBI</a:t>
              </a:r>
            </a:p>
          </p:txBody>
        </p:sp>
      </p:grpSp>
      <p:grpSp>
        <p:nvGrpSpPr>
          <p:cNvPr name="Group 5" id="5"/>
          <p:cNvGrpSpPr/>
          <p:nvPr/>
        </p:nvGrpSpPr>
        <p:grpSpPr>
          <a:xfrm rot="0">
            <a:off x="2263140" y="370332"/>
            <a:ext cx="13716000" cy="411480"/>
            <a:chOff x="0" y="0"/>
            <a:chExt cx="18288000" cy="548640"/>
          </a:xfrm>
        </p:grpSpPr>
        <p:sp>
          <p:nvSpPr>
            <p:cNvPr name="Freeform 6" id="6"/>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7" id="7"/>
            <p:cNvSpPr txBox="true"/>
            <p:nvPr/>
          </p:nvSpPr>
          <p:spPr>
            <a:xfrm>
              <a:off x="0" y="-47625"/>
              <a:ext cx="18288000" cy="596265"/>
            </a:xfrm>
            <a:prstGeom prst="rect">
              <a:avLst/>
            </a:prstGeom>
          </p:spPr>
          <p:txBody>
            <a:bodyPr anchor="ctr" rtlCol="false" tIns="0" lIns="0" bIns="0" rIns="0"/>
            <a:lstStyle/>
            <a:p>
              <a:pPr algn="l">
                <a:lnSpc>
                  <a:spcPts val="2340"/>
                </a:lnSpc>
              </a:pPr>
              <a:r>
                <a:rPr lang="en-US" sz="1950">
                  <a:solidFill>
                    <a:srgbClr val="51636A"/>
                  </a:solidFill>
                  <a:latin typeface="Calibri (MS)"/>
                  <a:ea typeface="Calibri (MS)"/>
                  <a:cs typeface="Calibri (MS)"/>
                  <a:sym typeface="Calibri (MS)"/>
                </a:rPr>
                <a:t>WHAT ORBI ACTUALLY DETECTS</a:t>
              </a:r>
            </a:p>
          </p:txBody>
        </p:sp>
      </p:grpSp>
      <p:sp>
        <p:nvSpPr>
          <p:cNvPr name="AutoShape 8" id="8"/>
          <p:cNvSpPr/>
          <p:nvPr/>
        </p:nvSpPr>
        <p:spPr>
          <a:xfrm rot="5880">
            <a:off x="808663" y="9632823"/>
            <a:ext cx="16624964" cy="0"/>
          </a:xfrm>
          <a:prstGeom prst="line">
            <a:avLst/>
          </a:prstGeom>
          <a:ln cap="rnd" w="19050">
            <a:solidFill>
              <a:srgbClr val="D7E0E2"/>
            </a:solidFill>
            <a:prstDash val="solid"/>
            <a:headEnd type="none" len="sm" w="sm"/>
            <a:tailEnd type="none" len="sm" w="sm"/>
          </a:ln>
        </p:spPr>
      </p:sp>
      <p:grpSp>
        <p:nvGrpSpPr>
          <p:cNvPr name="Group 9" id="9"/>
          <p:cNvGrpSpPr/>
          <p:nvPr/>
        </p:nvGrpSpPr>
        <p:grpSpPr>
          <a:xfrm rot="0">
            <a:off x="822960" y="9779508"/>
            <a:ext cx="12344400" cy="274320"/>
            <a:chOff x="0" y="0"/>
            <a:chExt cx="16459200" cy="365760"/>
          </a:xfrm>
        </p:grpSpPr>
        <p:sp>
          <p:nvSpPr>
            <p:cNvPr name="Freeform 10" id="10"/>
            <p:cNvSpPr/>
            <p:nvPr/>
          </p:nvSpPr>
          <p:spPr>
            <a:xfrm flipH="false" flipV="false" rot="0">
              <a:off x="0" y="0"/>
              <a:ext cx="16459200" cy="365760"/>
            </a:xfrm>
            <a:custGeom>
              <a:avLst/>
              <a:gdLst/>
              <a:ahLst/>
              <a:cxnLst/>
              <a:rect r="r" b="b" t="t" l="l"/>
              <a:pathLst>
                <a:path h="365760" w="16459200">
                  <a:moveTo>
                    <a:pt x="0" y="0"/>
                  </a:moveTo>
                  <a:lnTo>
                    <a:pt x="16459200" y="0"/>
                  </a:lnTo>
                  <a:lnTo>
                    <a:pt x="16459200" y="365760"/>
                  </a:lnTo>
                  <a:lnTo>
                    <a:pt x="0" y="365760"/>
                  </a:lnTo>
                  <a:close/>
                </a:path>
              </a:pathLst>
            </a:custGeom>
            <a:blipFill>
              <a:blip r:embed="rId3">
                <a:alphaModFix amt="0"/>
              </a:blip>
              <a:stretch>
                <a:fillRect l="0" t="-826826" r="0" b="-826826"/>
              </a:stretch>
            </a:blipFill>
          </p:spPr>
        </p:sp>
        <p:sp>
          <p:nvSpPr>
            <p:cNvPr name="TextBox 11" id="11"/>
            <p:cNvSpPr txBox="true"/>
            <p:nvPr/>
          </p:nvSpPr>
          <p:spPr>
            <a:xfrm>
              <a:off x="0" y="-28575"/>
              <a:ext cx="16459200" cy="394335"/>
            </a:xfrm>
            <a:prstGeom prst="rect">
              <a:avLst/>
            </a:prstGeom>
          </p:spPr>
          <p:txBody>
            <a:bodyPr anchor="ctr" rtlCol="false" tIns="0" lIns="0" bIns="0" rIns="0"/>
            <a:lstStyle/>
            <a:p>
              <a:pPr algn="l">
                <a:lnSpc>
                  <a:spcPts val="1980"/>
                </a:lnSpc>
              </a:pPr>
              <a:r>
                <a:rPr lang="en-US" sz="1650">
                  <a:solidFill>
                    <a:srgbClr val="51636A"/>
                  </a:solidFill>
                  <a:latin typeface="Calibri (MS)"/>
                  <a:ea typeface="Calibri (MS)"/>
                  <a:cs typeface="Calibri (MS)"/>
                  <a:sym typeface="Calibri (MS)"/>
                </a:rPr>
                <a:t>Operations risk intelligence for retail SMEs</a:t>
              </a:r>
            </a:p>
          </p:txBody>
        </p:sp>
      </p:grpSp>
      <p:grpSp>
        <p:nvGrpSpPr>
          <p:cNvPr name="Group 12" id="12"/>
          <p:cNvGrpSpPr/>
          <p:nvPr/>
        </p:nvGrpSpPr>
        <p:grpSpPr>
          <a:xfrm rot="0">
            <a:off x="15979140" y="9752076"/>
            <a:ext cx="1440180" cy="342900"/>
            <a:chOff x="0" y="0"/>
            <a:chExt cx="1920240" cy="457200"/>
          </a:xfrm>
        </p:grpSpPr>
        <p:sp>
          <p:nvSpPr>
            <p:cNvPr name="Freeform 13" id="13"/>
            <p:cNvSpPr/>
            <p:nvPr/>
          </p:nvSpPr>
          <p:spPr>
            <a:xfrm flipH="false" flipV="false" rot="0">
              <a:off x="0" y="0"/>
              <a:ext cx="1920240" cy="457200"/>
            </a:xfrm>
            <a:custGeom>
              <a:avLst/>
              <a:gdLst/>
              <a:ahLst/>
              <a:cxnLst/>
              <a:rect r="r" b="b" t="t" l="l"/>
              <a:pathLst>
                <a:path h="457200" w="1920240">
                  <a:moveTo>
                    <a:pt x="0" y="0"/>
                  </a:moveTo>
                  <a:lnTo>
                    <a:pt x="1920240" y="0"/>
                  </a:lnTo>
                  <a:lnTo>
                    <a:pt x="1920240" y="457200"/>
                  </a:lnTo>
                  <a:lnTo>
                    <a:pt x="0" y="457200"/>
                  </a:lnTo>
                  <a:close/>
                </a:path>
              </a:pathLst>
            </a:custGeom>
            <a:blipFill>
              <a:blip r:embed="rId3">
                <a:alphaModFix amt="0"/>
              </a:blip>
              <a:stretch>
                <a:fillRect l="0" t="-31837" r="0" b="-31837"/>
              </a:stretch>
            </a:blipFill>
          </p:spPr>
        </p:sp>
        <p:sp>
          <p:nvSpPr>
            <p:cNvPr name="TextBox 14" id="14"/>
            <p:cNvSpPr txBox="true"/>
            <p:nvPr/>
          </p:nvSpPr>
          <p:spPr>
            <a:xfrm>
              <a:off x="0" y="-38100"/>
              <a:ext cx="1920240" cy="495300"/>
            </a:xfrm>
            <a:prstGeom prst="rect">
              <a:avLst/>
            </a:prstGeom>
          </p:spPr>
          <p:txBody>
            <a:bodyPr anchor="ctr" rtlCol="false" tIns="0" lIns="0" bIns="0" rIns="0"/>
            <a:lstStyle/>
            <a:p>
              <a:pPr algn="r">
                <a:lnSpc>
                  <a:spcPts val="2160"/>
                </a:lnSpc>
              </a:pPr>
              <a:r>
                <a:rPr lang="en-US" sz="1800">
                  <a:solidFill>
                    <a:srgbClr val="51636A"/>
                  </a:solidFill>
                  <a:latin typeface="Calibri (MS)"/>
                  <a:ea typeface="Calibri (MS)"/>
                  <a:cs typeface="Calibri (MS)"/>
                  <a:sym typeface="Calibri (MS)"/>
                </a:rPr>
                <a:t>04 / 08</a:t>
              </a:r>
            </a:p>
          </p:txBody>
        </p:sp>
      </p:grpSp>
      <p:grpSp>
        <p:nvGrpSpPr>
          <p:cNvPr name="Group 15" id="15"/>
          <p:cNvGrpSpPr/>
          <p:nvPr/>
        </p:nvGrpSpPr>
        <p:grpSpPr>
          <a:xfrm rot="0">
            <a:off x="822960" y="1234440"/>
            <a:ext cx="16596360" cy="1577340"/>
            <a:chOff x="0" y="0"/>
            <a:chExt cx="22128480" cy="2103120"/>
          </a:xfrm>
        </p:grpSpPr>
        <p:sp>
          <p:nvSpPr>
            <p:cNvPr name="Freeform 16" id="16"/>
            <p:cNvSpPr/>
            <p:nvPr/>
          </p:nvSpPr>
          <p:spPr>
            <a:xfrm flipH="false" flipV="false" rot="0">
              <a:off x="0" y="0"/>
              <a:ext cx="22128480" cy="2103120"/>
            </a:xfrm>
            <a:custGeom>
              <a:avLst/>
              <a:gdLst/>
              <a:ahLst/>
              <a:cxnLst/>
              <a:rect r="r" b="b" t="t" l="l"/>
              <a:pathLst>
                <a:path h="2103120" w="22128480">
                  <a:moveTo>
                    <a:pt x="0" y="0"/>
                  </a:moveTo>
                  <a:lnTo>
                    <a:pt x="22128480" y="0"/>
                  </a:lnTo>
                  <a:lnTo>
                    <a:pt x="22128480" y="2103120"/>
                  </a:lnTo>
                  <a:lnTo>
                    <a:pt x="0" y="2103120"/>
                  </a:lnTo>
                  <a:close/>
                </a:path>
              </a:pathLst>
            </a:custGeom>
            <a:blipFill>
              <a:blip r:embed="rId3">
                <a:alphaModFix amt="0"/>
              </a:blip>
              <a:stretch>
                <a:fillRect l="0" t="-155016" r="0" b="-155016"/>
              </a:stretch>
            </a:blipFill>
          </p:spPr>
        </p:sp>
        <p:sp>
          <p:nvSpPr>
            <p:cNvPr name="TextBox 17" id="17"/>
            <p:cNvSpPr txBox="true"/>
            <p:nvPr/>
          </p:nvSpPr>
          <p:spPr>
            <a:xfrm>
              <a:off x="0" y="-9525"/>
              <a:ext cx="22128480" cy="2112645"/>
            </a:xfrm>
            <a:prstGeom prst="rect">
              <a:avLst/>
            </a:prstGeom>
          </p:spPr>
          <p:txBody>
            <a:bodyPr anchor="ctr" rtlCol="false" tIns="0" lIns="0" bIns="0" rIns="0"/>
            <a:lstStyle/>
            <a:p>
              <a:pPr algn="l">
                <a:lnSpc>
                  <a:spcPts val="7200"/>
                </a:lnSpc>
              </a:pPr>
              <a:r>
                <a:rPr lang="en-US" sz="6000" b="true">
                  <a:solidFill>
                    <a:srgbClr val="202C30"/>
                  </a:solidFill>
                  <a:latin typeface="Trebuchet MS Bold"/>
                  <a:ea typeface="Trebuchet MS Bold"/>
                  <a:cs typeface="Trebuchet MS Bold"/>
                  <a:sym typeface="Trebuchet MS Bold"/>
                </a:rPr>
                <a:t>Connecting the Signals</a:t>
              </a:r>
            </a:p>
            <a:p>
              <a:pPr algn="l">
                <a:lnSpc>
                  <a:spcPts val="7200"/>
                </a:lnSpc>
              </a:pPr>
              <a:r>
                <a:rPr lang="en-US" sz="6000" b="true">
                  <a:solidFill>
                    <a:srgbClr val="202C30"/>
                  </a:solidFill>
                  <a:latin typeface="Trebuchet MS Bold"/>
                  <a:ea typeface="Trebuchet MS Bold"/>
                  <a:cs typeface="Trebuchet MS Bold"/>
                  <a:sym typeface="Trebuchet MS Bold"/>
                </a:rPr>
                <a:t>Behind Operational Risk</a:t>
              </a:r>
            </a:p>
          </p:txBody>
        </p:sp>
      </p:grpSp>
      <p:grpSp>
        <p:nvGrpSpPr>
          <p:cNvPr name="Group 18" id="18"/>
          <p:cNvGrpSpPr/>
          <p:nvPr/>
        </p:nvGrpSpPr>
        <p:grpSpPr>
          <a:xfrm rot="0">
            <a:off x="815340" y="2968752"/>
            <a:ext cx="7490460" cy="522732"/>
            <a:chOff x="0" y="0"/>
            <a:chExt cx="9987280" cy="696976"/>
          </a:xfrm>
        </p:grpSpPr>
        <p:sp>
          <p:nvSpPr>
            <p:cNvPr name="Freeform 19" id="19"/>
            <p:cNvSpPr/>
            <p:nvPr/>
          </p:nvSpPr>
          <p:spPr>
            <a:xfrm flipH="false" flipV="false" rot="0">
              <a:off x="0" y="0"/>
              <a:ext cx="9987280" cy="696976"/>
            </a:xfrm>
            <a:custGeom>
              <a:avLst/>
              <a:gdLst/>
              <a:ahLst/>
              <a:cxnLst/>
              <a:rect r="r" b="b" t="t" l="l"/>
              <a:pathLst>
                <a:path h="696976" w="9987280">
                  <a:moveTo>
                    <a:pt x="0" y="0"/>
                  </a:moveTo>
                  <a:lnTo>
                    <a:pt x="9987280" y="0"/>
                  </a:lnTo>
                  <a:lnTo>
                    <a:pt x="9987280" y="696976"/>
                  </a:lnTo>
                  <a:lnTo>
                    <a:pt x="0" y="696976"/>
                  </a:lnTo>
                  <a:close/>
                </a:path>
              </a:pathLst>
            </a:custGeom>
            <a:solidFill>
              <a:srgbClr val="CFE8E3"/>
            </a:solidFill>
            <a:ln w="15240" cap="sq">
              <a:solidFill>
                <a:srgbClr val="CFE8E3"/>
              </a:solidFill>
              <a:prstDash val="solid"/>
              <a:miter/>
            </a:ln>
          </p:spPr>
        </p:sp>
      </p:grpSp>
      <p:grpSp>
        <p:nvGrpSpPr>
          <p:cNvPr name="Group 20" id="20"/>
          <p:cNvGrpSpPr/>
          <p:nvPr/>
        </p:nvGrpSpPr>
        <p:grpSpPr>
          <a:xfrm rot="0">
            <a:off x="960120" y="2976372"/>
            <a:ext cx="7200900" cy="507492"/>
            <a:chOff x="0" y="0"/>
            <a:chExt cx="9601200" cy="676656"/>
          </a:xfrm>
        </p:grpSpPr>
        <p:sp>
          <p:nvSpPr>
            <p:cNvPr name="Freeform 21" id="21"/>
            <p:cNvSpPr/>
            <p:nvPr/>
          </p:nvSpPr>
          <p:spPr>
            <a:xfrm flipH="false" flipV="false" rot="0">
              <a:off x="0" y="0"/>
              <a:ext cx="9601200" cy="676656"/>
            </a:xfrm>
            <a:custGeom>
              <a:avLst/>
              <a:gdLst/>
              <a:ahLst/>
              <a:cxnLst/>
              <a:rect r="r" b="b" t="t" l="l"/>
              <a:pathLst>
                <a:path h="676656" w="9601200">
                  <a:moveTo>
                    <a:pt x="0" y="0"/>
                  </a:moveTo>
                  <a:lnTo>
                    <a:pt x="9601200" y="0"/>
                  </a:lnTo>
                  <a:lnTo>
                    <a:pt x="9601200" y="676656"/>
                  </a:lnTo>
                  <a:lnTo>
                    <a:pt x="0" y="676656"/>
                  </a:lnTo>
                  <a:close/>
                </a:path>
              </a:pathLst>
            </a:custGeom>
            <a:blipFill>
              <a:blip r:embed="rId3">
                <a:alphaModFix amt="0"/>
              </a:blip>
              <a:stretch>
                <a:fillRect l="0" t="-226476" r="0" b="-226476"/>
              </a:stretch>
            </a:blipFill>
          </p:spPr>
        </p:sp>
        <p:sp>
          <p:nvSpPr>
            <p:cNvPr name="TextBox 22" id="22"/>
            <p:cNvSpPr txBox="true"/>
            <p:nvPr/>
          </p:nvSpPr>
          <p:spPr>
            <a:xfrm>
              <a:off x="0" y="-19050"/>
              <a:ext cx="9601200" cy="695706"/>
            </a:xfrm>
            <a:prstGeom prst="rect">
              <a:avLst/>
            </a:prstGeom>
          </p:spPr>
          <p:txBody>
            <a:bodyPr anchor="ctr" rtlCol="false" tIns="0" lIns="0" bIns="0" rIns="0"/>
            <a:lstStyle/>
            <a:p>
              <a:pPr algn="l">
                <a:lnSpc>
                  <a:spcPts val="2160"/>
                </a:lnSpc>
              </a:pPr>
              <a:r>
                <a:rPr lang="en-US" sz="1800" b="true">
                  <a:solidFill>
                    <a:srgbClr val="087E83"/>
                  </a:solidFill>
                  <a:latin typeface="Trebuchet MS Bold"/>
                  <a:ea typeface="Trebuchet MS Bold"/>
                  <a:cs typeface="Trebuchet MS Bold"/>
                  <a:sym typeface="Trebuchet MS Bold"/>
                </a:rPr>
                <a:t>SYNTHETIC DEMO  /  P003 — TOMATO SAUCE</a:t>
              </a:r>
            </a:p>
          </p:txBody>
        </p:sp>
      </p:grpSp>
      <p:grpSp>
        <p:nvGrpSpPr>
          <p:cNvPr name="Group 23" id="23"/>
          <p:cNvGrpSpPr/>
          <p:nvPr/>
        </p:nvGrpSpPr>
        <p:grpSpPr>
          <a:xfrm rot="0">
            <a:off x="882015" y="3968115"/>
            <a:ext cx="252222" cy="252222"/>
            <a:chOff x="0" y="0"/>
            <a:chExt cx="336296" cy="336296"/>
          </a:xfrm>
        </p:grpSpPr>
        <p:sp>
          <p:nvSpPr>
            <p:cNvPr name="Freeform 24" id="24"/>
            <p:cNvSpPr/>
            <p:nvPr/>
          </p:nvSpPr>
          <p:spPr>
            <a:xfrm flipH="false" flipV="false" rot="0">
              <a:off x="0" y="0"/>
              <a:ext cx="336296" cy="336296"/>
            </a:xfrm>
            <a:custGeom>
              <a:avLst/>
              <a:gdLst/>
              <a:ahLst/>
              <a:cxnLst/>
              <a:rect r="r" b="b" t="t" l="l"/>
              <a:pathLst>
                <a:path h="336296" w="336296">
                  <a:moveTo>
                    <a:pt x="0" y="168148"/>
                  </a:moveTo>
                  <a:cubicBezTo>
                    <a:pt x="0" y="75311"/>
                    <a:pt x="75311" y="0"/>
                    <a:pt x="168148" y="0"/>
                  </a:cubicBezTo>
                  <a:cubicBezTo>
                    <a:pt x="260985" y="0"/>
                    <a:pt x="336296" y="75311"/>
                    <a:pt x="336296" y="168148"/>
                  </a:cubicBezTo>
                  <a:cubicBezTo>
                    <a:pt x="336296" y="260985"/>
                    <a:pt x="260985" y="336296"/>
                    <a:pt x="168148" y="336296"/>
                  </a:cubicBezTo>
                  <a:cubicBezTo>
                    <a:pt x="75311" y="336296"/>
                    <a:pt x="0" y="260985"/>
                    <a:pt x="0" y="168148"/>
                  </a:cubicBezTo>
                  <a:close/>
                </a:path>
              </a:pathLst>
            </a:custGeom>
            <a:solidFill>
              <a:srgbClr val="087E83"/>
            </a:solidFill>
            <a:ln w="19050" cap="sq">
              <a:solidFill>
                <a:srgbClr val="087E83"/>
              </a:solidFill>
              <a:prstDash val="solid"/>
              <a:miter/>
            </a:ln>
          </p:spPr>
        </p:sp>
      </p:grpSp>
      <p:grpSp>
        <p:nvGrpSpPr>
          <p:cNvPr name="Group 25" id="25"/>
          <p:cNvGrpSpPr/>
          <p:nvPr/>
        </p:nvGrpSpPr>
        <p:grpSpPr>
          <a:xfrm rot="0">
            <a:off x="1371600" y="3909060"/>
            <a:ext cx="3429000" cy="397764"/>
            <a:chOff x="0" y="0"/>
            <a:chExt cx="4572000" cy="530352"/>
          </a:xfrm>
        </p:grpSpPr>
        <p:sp>
          <p:nvSpPr>
            <p:cNvPr name="Freeform 26" id="26"/>
            <p:cNvSpPr/>
            <p:nvPr/>
          </p:nvSpPr>
          <p:spPr>
            <a:xfrm flipH="false" flipV="false" rot="0">
              <a:off x="0" y="0"/>
              <a:ext cx="4572000" cy="530352"/>
            </a:xfrm>
            <a:custGeom>
              <a:avLst/>
              <a:gdLst/>
              <a:ahLst/>
              <a:cxnLst/>
              <a:rect r="r" b="b" t="t" l="l"/>
              <a:pathLst>
                <a:path h="530352" w="4572000">
                  <a:moveTo>
                    <a:pt x="0" y="0"/>
                  </a:moveTo>
                  <a:lnTo>
                    <a:pt x="4572000" y="0"/>
                  </a:lnTo>
                  <a:lnTo>
                    <a:pt x="4572000" y="530352"/>
                  </a:lnTo>
                  <a:lnTo>
                    <a:pt x="0" y="530352"/>
                  </a:lnTo>
                  <a:close/>
                </a:path>
              </a:pathLst>
            </a:custGeom>
            <a:blipFill>
              <a:blip r:embed="rId3">
                <a:alphaModFix amt="0"/>
              </a:blip>
              <a:stretch>
                <a:fillRect l="0" t="-117974" r="0" b="-117974"/>
              </a:stretch>
            </a:blipFill>
          </p:spPr>
        </p:sp>
        <p:sp>
          <p:nvSpPr>
            <p:cNvPr name="TextBox 27" id="27"/>
            <p:cNvSpPr txBox="true"/>
            <p:nvPr/>
          </p:nvSpPr>
          <p:spPr>
            <a:xfrm>
              <a:off x="0" y="-9525"/>
              <a:ext cx="4572000" cy="539877"/>
            </a:xfrm>
            <a:prstGeom prst="rect">
              <a:avLst/>
            </a:prstGeom>
          </p:spPr>
          <p:txBody>
            <a:bodyPr anchor="ctr" rtlCol="false" tIns="0" lIns="0" bIns="0" rIns="0"/>
            <a:lstStyle/>
            <a:p>
              <a:pPr algn="l">
                <a:lnSpc>
                  <a:spcPts val="3240"/>
                </a:lnSpc>
              </a:pPr>
              <a:r>
                <a:rPr lang="en-US" sz="2700" b="true">
                  <a:solidFill>
                    <a:srgbClr val="51636A"/>
                  </a:solidFill>
                  <a:latin typeface="Trebuchet MS Bold"/>
                  <a:ea typeface="Trebuchet MS Bold"/>
                  <a:cs typeface="Trebuchet MS Bold"/>
                  <a:sym typeface="Trebuchet MS Bold"/>
                </a:rPr>
                <a:t>Inventory</a:t>
              </a:r>
            </a:p>
          </p:txBody>
        </p:sp>
      </p:grpSp>
      <p:grpSp>
        <p:nvGrpSpPr>
          <p:cNvPr name="Group 28" id="28"/>
          <p:cNvGrpSpPr/>
          <p:nvPr/>
        </p:nvGrpSpPr>
        <p:grpSpPr>
          <a:xfrm rot="0">
            <a:off x="1371600" y="4347972"/>
            <a:ext cx="7680960" cy="438912"/>
            <a:chOff x="0" y="0"/>
            <a:chExt cx="10241280" cy="585216"/>
          </a:xfrm>
        </p:grpSpPr>
        <p:sp>
          <p:nvSpPr>
            <p:cNvPr name="Freeform 29" id="29"/>
            <p:cNvSpPr/>
            <p:nvPr/>
          </p:nvSpPr>
          <p:spPr>
            <a:xfrm flipH="false" flipV="false" rot="0">
              <a:off x="0" y="0"/>
              <a:ext cx="10241280" cy="585216"/>
            </a:xfrm>
            <a:custGeom>
              <a:avLst/>
              <a:gdLst/>
              <a:ahLst/>
              <a:cxnLst/>
              <a:rect r="r" b="b" t="t" l="l"/>
              <a:pathLst>
                <a:path h="585216" w="10241280">
                  <a:moveTo>
                    <a:pt x="0" y="0"/>
                  </a:moveTo>
                  <a:lnTo>
                    <a:pt x="10241280" y="0"/>
                  </a:lnTo>
                  <a:lnTo>
                    <a:pt x="10241280" y="585216"/>
                  </a:lnTo>
                  <a:lnTo>
                    <a:pt x="0" y="585216"/>
                  </a:lnTo>
                  <a:close/>
                </a:path>
              </a:pathLst>
            </a:custGeom>
            <a:blipFill>
              <a:blip r:embed="rId3">
                <a:alphaModFix amt="0"/>
              </a:blip>
              <a:stretch>
                <a:fillRect l="0" t="-290988" r="0" b="-290988"/>
              </a:stretch>
            </a:blipFill>
          </p:spPr>
        </p:sp>
        <p:sp>
          <p:nvSpPr>
            <p:cNvPr name="TextBox 30" id="30"/>
            <p:cNvSpPr txBox="true"/>
            <p:nvPr/>
          </p:nvSpPr>
          <p:spPr>
            <a:xfrm>
              <a:off x="0" y="-66675"/>
              <a:ext cx="10241280" cy="651891"/>
            </a:xfrm>
            <a:prstGeom prst="rect">
              <a:avLst/>
            </a:prstGeom>
          </p:spPr>
          <p:txBody>
            <a:bodyPr anchor="ctr" rtlCol="false" tIns="0" lIns="0" bIns="0" rIns="0"/>
            <a:lstStyle/>
            <a:p>
              <a:pPr algn="l">
                <a:lnSpc>
                  <a:spcPts val="3960"/>
                </a:lnSpc>
              </a:pPr>
              <a:r>
                <a:rPr lang="en-US" sz="3300">
                  <a:solidFill>
                    <a:srgbClr val="202C30"/>
                  </a:solidFill>
                  <a:latin typeface="Calibri (MS)"/>
                  <a:ea typeface="Calibri (MS)"/>
                  <a:cs typeface="Calibri (MS)"/>
                  <a:sym typeface="Calibri (MS)"/>
                </a:rPr>
                <a:t>45 units available</a:t>
              </a:r>
            </a:p>
          </p:txBody>
        </p:sp>
      </p:grpSp>
      <p:grpSp>
        <p:nvGrpSpPr>
          <p:cNvPr name="Group 31" id="31"/>
          <p:cNvGrpSpPr/>
          <p:nvPr/>
        </p:nvGrpSpPr>
        <p:grpSpPr>
          <a:xfrm rot="0">
            <a:off x="882015" y="4955667"/>
            <a:ext cx="252222" cy="252222"/>
            <a:chOff x="0" y="0"/>
            <a:chExt cx="336296" cy="336296"/>
          </a:xfrm>
        </p:grpSpPr>
        <p:sp>
          <p:nvSpPr>
            <p:cNvPr name="Freeform 32" id="32"/>
            <p:cNvSpPr/>
            <p:nvPr/>
          </p:nvSpPr>
          <p:spPr>
            <a:xfrm flipH="false" flipV="false" rot="0">
              <a:off x="0" y="0"/>
              <a:ext cx="336296" cy="336296"/>
            </a:xfrm>
            <a:custGeom>
              <a:avLst/>
              <a:gdLst/>
              <a:ahLst/>
              <a:cxnLst/>
              <a:rect r="r" b="b" t="t" l="l"/>
              <a:pathLst>
                <a:path h="336296" w="336296">
                  <a:moveTo>
                    <a:pt x="0" y="168148"/>
                  </a:moveTo>
                  <a:cubicBezTo>
                    <a:pt x="0" y="75311"/>
                    <a:pt x="75311" y="0"/>
                    <a:pt x="168148" y="0"/>
                  </a:cubicBezTo>
                  <a:cubicBezTo>
                    <a:pt x="260985" y="0"/>
                    <a:pt x="336296" y="75311"/>
                    <a:pt x="336296" y="168148"/>
                  </a:cubicBezTo>
                  <a:cubicBezTo>
                    <a:pt x="336296" y="260985"/>
                    <a:pt x="260985" y="336296"/>
                    <a:pt x="168148" y="336296"/>
                  </a:cubicBezTo>
                  <a:cubicBezTo>
                    <a:pt x="75311" y="336296"/>
                    <a:pt x="0" y="260985"/>
                    <a:pt x="0" y="168148"/>
                  </a:cubicBezTo>
                  <a:close/>
                </a:path>
              </a:pathLst>
            </a:custGeom>
            <a:solidFill>
              <a:srgbClr val="087E83"/>
            </a:solidFill>
            <a:ln w="19050" cap="sq">
              <a:solidFill>
                <a:srgbClr val="087E83"/>
              </a:solidFill>
              <a:prstDash val="solid"/>
              <a:miter/>
            </a:ln>
          </p:spPr>
        </p:sp>
      </p:grpSp>
      <p:grpSp>
        <p:nvGrpSpPr>
          <p:cNvPr name="Group 33" id="33"/>
          <p:cNvGrpSpPr/>
          <p:nvPr/>
        </p:nvGrpSpPr>
        <p:grpSpPr>
          <a:xfrm rot="0">
            <a:off x="1371600" y="4896612"/>
            <a:ext cx="3429000" cy="397764"/>
            <a:chOff x="0" y="0"/>
            <a:chExt cx="4572000" cy="530352"/>
          </a:xfrm>
        </p:grpSpPr>
        <p:sp>
          <p:nvSpPr>
            <p:cNvPr name="Freeform 34" id="34"/>
            <p:cNvSpPr/>
            <p:nvPr/>
          </p:nvSpPr>
          <p:spPr>
            <a:xfrm flipH="false" flipV="false" rot="0">
              <a:off x="0" y="0"/>
              <a:ext cx="4572000" cy="530352"/>
            </a:xfrm>
            <a:custGeom>
              <a:avLst/>
              <a:gdLst/>
              <a:ahLst/>
              <a:cxnLst/>
              <a:rect r="r" b="b" t="t" l="l"/>
              <a:pathLst>
                <a:path h="530352" w="4572000">
                  <a:moveTo>
                    <a:pt x="0" y="0"/>
                  </a:moveTo>
                  <a:lnTo>
                    <a:pt x="4572000" y="0"/>
                  </a:lnTo>
                  <a:lnTo>
                    <a:pt x="4572000" y="530352"/>
                  </a:lnTo>
                  <a:lnTo>
                    <a:pt x="0" y="530352"/>
                  </a:lnTo>
                  <a:close/>
                </a:path>
              </a:pathLst>
            </a:custGeom>
            <a:blipFill>
              <a:blip r:embed="rId3">
                <a:alphaModFix amt="0"/>
              </a:blip>
              <a:stretch>
                <a:fillRect l="0" t="-117974" r="0" b="-117974"/>
              </a:stretch>
            </a:blipFill>
          </p:spPr>
        </p:sp>
        <p:sp>
          <p:nvSpPr>
            <p:cNvPr name="TextBox 35" id="35"/>
            <p:cNvSpPr txBox="true"/>
            <p:nvPr/>
          </p:nvSpPr>
          <p:spPr>
            <a:xfrm>
              <a:off x="0" y="-9525"/>
              <a:ext cx="4572000" cy="539877"/>
            </a:xfrm>
            <a:prstGeom prst="rect">
              <a:avLst/>
            </a:prstGeom>
          </p:spPr>
          <p:txBody>
            <a:bodyPr anchor="ctr" rtlCol="false" tIns="0" lIns="0" bIns="0" rIns="0"/>
            <a:lstStyle/>
            <a:p>
              <a:pPr algn="l">
                <a:lnSpc>
                  <a:spcPts val="3240"/>
                </a:lnSpc>
              </a:pPr>
              <a:r>
                <a:rPr lang="en-US" sz="2700" b="true">
                  <a:solidFill>
                    <a:srgbClr val="51636A"/>
                  </a:solidFill>
                  <a:latin typeface="Trebuchet MS Bold"/>
                  <a:ea typeface="Trebuchet MS Bold"/>
                  <a:cs typeface="Trebuchet MS Bold"/>
                  <a:sym typeface="Trebuchet MS Bold"/>
                </a:rPr>
                <a:t>Customer orders</a:t>
              </a:r>
            </a:p>
          </p:txBody>
        </p:sp>
      </p:grpSp>
      <p:grpSp>
        <p:nvGrpSpPr>
          <p:cNvPr name="Group 36" id="36"/>
          <p:cNvGrpSpPr/>
          <p:nvPr/>
        </p:nvGrpSpPr>
        <p:grpSpPr>
          <a:xfrm rot="0">
            <a:off x="1371600" y="5335524"/>
            <a:ext cx="7680960" cy="438912"/>
            <a:chOff x="0" y="0"/>
            <a:chExt cx="10241280" cy="585216"/>
          </a:xfrm>
        </p:grpSpPr>
        <p:sp>
          <p:nvSpPr>
            <p:cNvPr name="Freeform 37" id="37"/>
            <p:cNvSpPr/>
            <p:nvPr/>
          </p:nvSpPr>
          <p:spPr>
            <a:xfrm flipH="false" flipV="false" rot="0">
              <a:off x="0" y="0"/>
              <a:ext cx="10241280" cy="585216"/>
            </a:xfrm>
            <a:custGeom>
              <a:avLst/>
              <a:gdLst/>
              <a:ahLst/>
              <a:cxnLst/>
              <a:rect r="r" b="b" t="t" l="l"/>
              <a:pathLst>
                <a:path h="585216" w="10241280">
                  <a:moveTo>
                    <a:pt x="0" y="0"/>
                  </a:moveTo>
                  <a:lnTo>
                    <a:pt x="10241280" y="0"/>
                  </a:lnTo>
                  <a:lnTo>
                    <a:pt x="10241280" y="585216"/>
                  </a:lnTo>
                  <a:lnTo>
                    <a:pt x="0" y="585216"/>
                  </a:lnTo>
                  <a:close/>
                </a:path>
              </a:pathLst>
            </a:custGeom>
            <a:blipFill>
              <a:blip r:embed="rId3">
                <a:alphaModFix amt="0"/>
              </a:blip>
              <a:stretch>
                <a:fillRect l="0" t="-290988" r="0" b="-290988"/>
              </a:stretch>
            </a:blipFill>
          </p:spPr>
        </p:sp>
        <p:sp>
          <p:nvSpPr>
            <p:cNvPr name="TextBox 38" id="38"/>
            <p:cNvSpPr txBox="true"/>
            <p:nvPr/>
          </p:nvSpPr>
          <p:spPr>
            <a:xfrm>
              <a:off x="0" y="-66675"/>
              <a:ext cx="10241280" cy="651891"/>
            </a:xfrm>
            <a:prstGeom prst="rect">
              <a:avLst/>
            </a:prstGeom>
          </p:spPr>
          <p:txBody>
            <a:bodyPr anchor="ctr" rtlCol="false" tIns="0" lIns="0" bIns="0" rIns="0"/>
            <a:lstStyle/>
            <a:p>
              <a:pPr algn="l">
                <a:lnSpc>
                  <a:spcPts val="3960"/>
                </a:lnSpc>
              </a:pPr>
              <a:r>
                <a:rPr lang="en-US" sz="3300">
                  <a:solidFill>
                    <a:srgbClr val="202C30"/>
                  </a:solidFill>
                  <a:latin typeface="Calibri (MS)"/>
                  <a:ea typeface="Calibri (MS)"/>
                  <a:cs typeface="Calibri (MS)"/>
                  <a:sym typeface="Calibri (MS)"/>
                </a:rPr>
                <a:t>25 verified units unfulfilled</a:t>
              </a:r>
            </a:p>
          </p:txBody>
        </p:sp>
      </p:grpSp>
      <p:grpSp>
        <p:nvGrpSpPr>
          <p:cNvPr name="Group 39" id="39"/>
          <p:cNvGrpSpPr/>
          <p:nvPr/>
        </p:nvGrpSpPr>
        <p:grpSpPr>
          <a:xfrm rot="0">
            <a:off x="882015" y="5943219"/>
            <a:ext cx="252222" cy="252222"/>
            <a:chOff x="0" y="0"/>
            <a:chExt cx="336296" cy="336296"/>
          </a:xfrm>
        </p:grpSpPr>
        <p:sp>
          <p:nvSpPr>
            <p:cNvPr name="Freeform 40" id="40"/>
            <p:cNvSpPr/>
            <p:nvPr/>
          </p:nvSpPr>
          <p:spPr>
            <a:xfrm flipH="false" flipV="false" rot="0">
              <a:off x="0" y="0"/>
              <a:ext cx="336296" cy="336296"/>
            </a:xfrm>
            <a:custGeom>
              <a:avLst/>
              <a:gdLst/>
              <a:ahLst/>
              <a:cxnLst/>
              <a:rect r="r" b="b" t="t" l="l"/>
              <a:pathLst>
                <a:path h="336296" w="336296">
                  <a:moveTo>
                    <a:pt x="0" y="168148"/>
                  </a:moveTo>
                  <a:cubicBezTo>
                    <a:pt x="0" y="75311"/>
                    <a:pt x="75311" y="0"/>
                    <a:pt x="168148" y="0"/>
                  </a:cubicBezTo>
                  <a:cubicBezTo>
                    <a:pt x="260985" y="0"/>
                    <a:pt x="336296" y="75311"/>
                    <a:pt x="336296" y="168148"/>
                  </a:cubicBezTo>
                  <a:cubicBezTo>
                    <a:pt x="336296" y="260985"/>
                    <a:pt x="260985" y="336296"/>
                    <a:pt x="168148" y="336296"/>
                  </a:cubicBezTo>
                  <a:cubicBezTo>
                    <a:pt x="75311" y="336296"/>
                    <a:pt x="0" y="260985"/>
                    <a:pt x="0" y="168148"/>
                  </a:cubicBezTo>
                  <a:close/>
                </a:path>
              </a:pathLst>
            </a:custGeom>
            <a:solidFill>
              <a:srgbClr val="087E83"/>
            </a:solidFill>
            <a:ln w="19050" cap="sq">
              <a:solidFill>
                <a:srgbClr val="087E83"/>
              </a:solidFill>
              <a:prstDash val="solid"/>
              <a:miter/>
            </a:ln>
          </p:spPr>
        </p:sp>
      </p:grpSp>
      <p:grpSp>
        <p:nvGrpSpPr>
          <p:cNvPr name="Group 41" id="41"/>
          <p:cNvGrpSpPr/>
          <p:nvPr/>
        </p:nvGrpSpPr>
        <p:grpSpPr>
          <a:xfrm rot="0">
            <a:off x="1371600" y="5884164"/>
            <a:ext cx="3429000" cy="397764"/>
            <a:chOff x="0" y="0"/>
            <a:chExt cx="4572000" cy="530352"/>
          </a:xfrm>
        </p:grpSpPr>
        <p:sp>
          <p:nvSpPr>
            <p:cNvPr name="Freeform 42" id="42"/>
            <p:cNvSpPr/>
            <p:nvPr/>
          </p:nvSpPr>
          <p:spPr>
            <a:xfrm flipH="false" flipV="false" rot="0">
              <a:off x="0" y="0"/>
              <a:ext cx="4572000" cy="530352"/>
            </a:xfrm>
            <a:custGeom>
              <a:avLst/>
              <a:gdLst/>
              <a:ahLst/>
              <a:cxnLst/>
              <a:rect r="r" b="b" t="t" l="l"/>
              <a:pathLst>
                <a:path h="530352" w="4572000">
                  <a:moveTo>
                    <a:pt x="0" y="0"/>
                  </a:moveTo>
                  <a:lnTo>
                    <a:pt x="4572000" y="0"/>
                  </a:lnTo>
                  <a:lnTo>
                    <a:pt x="4572000" y="530352"/>
                  </a:lnTo>
                  <a:lnTo>
                    <a:pt x="0" y="530352"/>
                  </a:lnTo>
                  <a:close/>
                </a:path>
              </a:pathLst>
            </a:custGeom>
            <a:blipFill>
              <a:blip r:embed="rId3">
                <a:alphaModFix amt="0"/>
              </a:blip>
              <a:stretch>
                <a:fillRect l="0" t="-117974" r="0" b="-117974"/>
              </a:stretch>
            </a:blipFill>
          </p:spPr>
        </p:sp>
        <p:sp>
          <p:nvSpPr>
            <p:cNvPr name="TextBox 43" id="43"/>
            <p:cNvSpPr txBox="true"/>
            <p:nvPr/>
          </p:nvSpPr>
          <p:spPr>
            <a:xfrm>
              <a:off x="0" y="-9525"/>
              <a:ext cx="4572000" cy="539877"/>
            </a:xfrm>
            <a:prstGeom prst="rect">
              <a:avLst/>
            </a:prstGeom>
          </p:spPr>
          <p:txBody>
            <a:bodyPr anchor="ctr" rtlCol="false" tIns="0" lIns="0" bIns="0" rIns="0"/>
            <a:lstStyle/>
            <a:p>
              <a:pPr algn="l">
                <a:lnSpc>
                  <a:spcPts val="3240"/>
                </a:lnSpc>
              </a:pPr>
              <a:r>
                <a:rPr lang="en-US" sz="2700" b="true">
                  <a:solidFill>
                    <a:srgbClr val="51636A"/>
                  </a:solidFill>
                  <a:latin typeface="Trebuchet MS Bold"/>
                  <a:ea typeface="Trebuchet MS Bold"/>
                  <a:cs typeface="Trebuchet MS Bold"/>
                  <a:sym typeface="Trebuchet MS Bold"/>
                </a:rPr>
                <a:t>Supplier C</a:t>
              </a:r>
            </a:p>
          </p:txBody>
        </p:sp>
      </p:grpSp>
      <p:grpSp>
        <p:nvGrpSpPr>
          <p:cNvPr name="Group 44" id="44"/>
          <p:cNvGrpSpPr/>
          <p:nvPr/>
        </p:nvGrpSpPr>
        <p:grpSpPr>
          <a:xfrm rot="0">
            <a:off x="1371600" y="6323076"/>
            <a:ext cx="7680960" cy="438912"/>
            <a:chOff x="0" y="0"/>
            <a:chExt cx="10241280" cy="585216"/>
          </a:xfrm>
        </p:grpSpPr>
        <p:sp>
          <p:nvSpPr>
            <p:cNvPr name="Freeform 45" id="45"/>
            <p:cNvSpPr/>
            <p:nvPr/>
          </p:nvSpPr>
          <p:spPr>
            <a:xfrm flipH="false" flipV="false" rot="0">
              <a:off x="0" y="0"/>
              <a:ext cx="10241280" cy="585216"/>
            </a:xfrm>
            <a:custGeom>
              <a:avLst/>
              <a:gdLst/>
              <a:ahLst/>
              <a:cxnLst/>
              <a:rect r="r" b="b" t="t" l="l"/>
              <a:pathLst>
                <a:path h="585216" w="10241280">
                  <a:moveTo>
                    <a:pt x="0" y="0"/>
                  </a:moveTo>
                  <a:lnTo>
                    <a:pt x="10241280" y="0"/>
                  </a:lnTo>
                  <a:lnTo>
                    <a:pt x="10241280" y="585216"/>
                  </a:lnTo>
                  <a:lnTo>
                    <a:pt x="0" y="585216"/>
                  </a:lnTo>
                  <a:close/>
                </a:path>
              </a:pathLst>
            </a:custGeom>
            <a:blipFill>
              <a:blip r:embed="rId3">
                <a:alphaModFix amt="0"/>
              </a:blip>
              <a:stretch>
                <a:fillRect l="0" t="-290988" r="0" b="-290988"/>
              </a:stretch>
            </a:blipFill>
          </p:spPr>
        </p:sp>
        <p:sp>
          <p:nvSpPr>
            <p:cNvPr name="TextBox 46" id="46"/>
            <p:cNvSpPr txBox="true"/>
            <p:nvPr/>
          </p:nvSpPr>
          <p:spPr>
            <a:xfrm>
              <a:off x="0" y="-66675"/>
              <a:ext cx="10241280" cy="651891"/>
            </a:xfrm>
            <a:prstGeom prst="rect">
              <a:avLst/>
            </a:prstGeom>
          </p:spPr>
          <p:txBody>
            <a:bodyPr anchor="ctr" rtlCol="false" tIns="0" lIns="0" bIns="0" rIns="0"/>
            <a:lstStyle/>
            <a:p>
              <a:pPr algn="l">
                <a:lnSpc>
                  <a:spcPts val="3960"/>
                </a:lnSpc>
              </a:pPr>
              <a:r>
                <a:rPr lang="en-US" sz="3300">
                  <a:solidFill>
                    <a:srgbClr val="202C30"/>
                  </a:solidFill>
                  <a:latin typeface="Calibri (MS)"/>
                  <a:ea typeface="Calibri (MS)"/>
                  <a:cs typeface="Calibri (MS)"/>
                  <a:sym typeface="Calibri (MS)"/>
                </a:rPr>
                <a:t>68% on-time; recent delay: 5 days</a:t>
              </a:r>
            </a:p>
          </p:txBody>
        </p:sp>
      </p:grpSp>
      <p:grpSp>
        <p:nvGrpSpPr>
          <p:cNvPr name="Group 47" id="47"/>
          <p:cNvGrpSpPr/>
          <p:nvPr/>
        </p:nvGrpSpPr>
        <p:grpSpPr>
          <a:xfrm rot="0">
            <a:off x="882015" y="6930771"/>
            <a:ext cx="252222" cy="252222"/>
            <a:chOff x="0" y="0"/>
            <a:chExt cx="336296" cy="336296"/>
          </a:xfrm>
        </p:grpSpPr>
        <p:sp>
          <p:nvSpPr>
            <p:cNvPr name="Freeform 48" id="48"/>
            <p:cNvSpPr/>
            <p:nvPr/>
          </p:nvSpPr>
          <p:spPr>
            <a:xfrm flipH="false" flipV="false" rot="0">
              <a:off x="0" y="0"/>
              <a:ext cx="336296" cy="336296"/>
            </a:xfrm>
            <a:custGeom>
              <a:avLst/>
              <a:gdLst/>
              <a:ahLst/>
              <a:cxnLst/>
              <a:rect r="r" b="b" t="t" l="l"/>
              <a:pathLst>
                <a:path h="336296" w="336296">
                  <a:moveTo>
                    <a:pt x="0" y="168148"/>
                  </a:moveTo>
                  <a:cubicBezTo>
                    <a:pt x="0" y="75311"/>
                    <a:pt x="75311" y="0"/>
                    <a:pt x="168148" y="0"/>
                  </a:cubicBezTo>
                  <a:cubicBezTo>
                    <a:pt x="260985" y="0"/>
                    <a:pt x="336296" y="75311"/>
                    <a:pt x="336296" y="168148"/>
                  </a:cubicBezTo>
                  <a:cubicBezTo>
                    <a:pt x="336296" y="260985"/>
                    <a:pt x="260985" y="336296"/>
                    <a:pt x="168148" y="336296"/>
                  </a:cubicBezTo>
                  <a:cubicBezTo>
                    <a:pt x="75311" y="336296"/>
                    <a:pt x="0" y="260985"/>
                    <a:pt x="0" y="168148"/>
                  </a:cubicBezTo>
                  <a:close/>
                </a:path>
              </a:pathLst>
            </a:custGeom>
            <a:solidFill>
              <a:srgbClr val="087E83"/>
            </a:solidFill>
            <a:ln w="19050" cap="sq">
              <a:solidFill>
                <a:srgbClr val="087E83"/>
              </a:solidFill>
              <a:prstDash val="solid"/>
              <a:miter/>
            </a:ln>
          </p:spPr>
        </p:sp>
      </p:grpSp>
      <p:grpSp>
        <p:nvGrpSpPr>
          <p:cNvPr name="Group 49" id="49"/>
          <p:cNvGrpSpPr/>
          <p:nvPr/>
        </p:nvGrpSpPr>
        <p:grpSpPr>
          <a:xfrm rot="0">
            <a:off x="1371600" y="6871716"/>
            <a:ext cx="3429000" cy="397764"/>
            <a:chOff x="0" y="0"/>
            <a:chExt cx="4572000" cy="530352"/>
          </a:xfrm>
        </p:grpSpPr>
        <p:sp>
          <p:nvSpPr>
            <p:cNvPr name="Freeform 50" id="50"/>
            <p:cNvSpPr/>
            <p:nvPr/>
          </p:nvSpPr>
          <p:spPr>
            <a:xfrm flipH="false" flipV="false" rot="0">
              <a:off x="0" y="0"/>
              <a:ext cx="4572000" cy="530352"/>
            </a:xfrm>
            <a:custGeom>
              <a:avLst/>
              <a:gdLst/>
              <a:ahLst/>
              <a:cxnLst/>
              <a:rect r="r" b="b" t="t" l="l"/>
              <a:pathLst>
                <a:path h="530352" w="4572000">
                  <a:moveTo>
                    <a:pt x="0" y="0"/>
                  </a:moveTo>
                  <a:lnTo>
                    <a:pt x="4572000" y="0"/>
                  </a:lnTo>
                  <a:lnTo>
                    <a:pt x="4572000" y="530352"/>
                  </a:lnTo>
                  <a:lnTo>
                    <a:pt x="0" y="530352"/>
                  </a:lnTo>
                  <a:close/>
                </a:path>
              </a:pathLst>
            </a:custGeom>
            <a:blipFill>
              <a:blip r:embed="rId3">
                <a:alphaModFix amt="0"/>
              </a:blip>
              <a:stretch>
                <a:fillRect l="0" t="-117974" r="0" b="-117974"/>
              </a:stretch>
            </a:blipFill>
          </p:spPr>
        </p:sp>
        <p:sp>
          <p:nvSpPr>
            <p:cNvPr name="TextBox 51" id="51"/>
            <p:cNvSpPr txBox="true"/>
            <p:nvPr/>
          </p:nvSpPr>
          <p:spPr>
            <a:xfrm>
              <a:off x="0" y="-9525"/>
              <a:ext cx="4572000" cy="539877"/>
            </a:xfrm>
            <a:prstGeom prst="rect">
              <a:avLst/>
            </a:prstGeom>
          </p:spPr>
          <p:txBody>
            <a:bodyPr anchor="ctr" rtlCol="false" tIns="0" lIns="0" bIns="0" rIns="0"/>
            <a:lstStyle/>
            <a:p>
              <a:pPr algn="l">
                <a:lnSpc>
                  <a:spcPts val="3240"/>
                </a:lnSpc>
              </a:pPr>
              <a:r>
                <a:rPr lang="en-US" sz="2700" b="true">
                  <a:solidFill>
                    <a:srgbClr val="51636A"/>
                  </a:solidFill>
                  <a:latin typeface="Trebuchet MS Bold"/>
                  <a:ea typeface="Trebuchet MS Bold"/>
                  <a:cs typeface="Trebuchet MS Bold"/>
                  <a:sym typeface="Trebuchet MS Bold"/>
                </a:rPr>
                <a:t>Inbound PO</a:t>
              </a:r>
            </a:p>
          </p:txBody>
        </p:sp>
      </p:grpSp>
      <p:grpSp>
        <p:nvGrpSpPr>
          <p:cNvPr name="Group 52" id="52"/>
          <p:cNvGrpSpPr/>
          <p:nvPr/>
        </p:nvGrpSpPr>
        <p:grpSpPr>
          <a:xfrm rot="0">
            <a:off x="1371600" y="7310628"/>
            <a:ext cx="7680960" cy="438912"/>
            <a:chOff x="0" y="0"/>
            <a:chExt cx="10241280" cy="585216"/>
          </a:xfrm>
        </p:grpSpPr>
        <p:sp>
          <p:nvSpPr>
            <p:cNvPr name="Freeform 53" id="53"/>
            <p:cNvSpPr/>
            <p:nvPr/>
          </p:nvSpPr>
          <p:spPr>
            <a:xfrm flipH="false" flipV="false" rot="0">
              <a:off x="0" y="0"/>
              <a:ext cx="10241280" cy="585216"/>
            </a:xfrm>
            <a:custGeom>
              <a:avLst/>
              <a:gdLst/>
              <a:ahLst/>
              <a:cxnLst/>
              <a:rect r="r" b="b" t="t" l="l"/>
              <a:pathLst>
                <a:path h="585216" w="10241280">
                  <a:moveTo>
                    <a:pt x="0" y="0"/>
                  </a:moveTo>
                  <a:lnTo>
                    <a:pt x="10241280" y="0"/>
                  </a:lnTo>
                  <a:lnTo>
                    <a:pt x="10241280" y="585216"/>
                  </a:lnTo>
                  <a:lnTo>
                    <a:pt x="0" y="585216"/>
                  </a:lnTo>
                  <a:close/>
                </a:path>
              </a:pathLst>
            </a:custGeom>
            <a:blipFill>
              <a:blip r:embed="rId3">
                <a:alphaModFix amt="0"/>
              </a:blip>
              <a:stretch>
                <a:fillRect l="0" t="-290988" r="0" b="-290988"/>
              </a:stretch>
            </a:blipFill>
          </p:spPr>
        </p:sp>
        <p:sp>
          <p:nvSpPr>
            <p:cNvPr name="TextBox 54" id="54"/>
            <p:cNvSpPr txBox="true"/>
            <p:nvPr/>
          </p:nvSpPr>
          <p:spPr>
            <a:xfrm>
              <a:off x="0" y="-66675"/>
              <a:ext cx="10241280" cy="651891"/>
            </a:xfrm>
            <a:prstGeom prst="rect">
              <a:avLst/>
            </a:prstGeom>
          </p:spPr>
          <p:txBody>
            <a:bodyPr anchor="ctr" rtlCol="false" tIns="0" lIns="0" bIns="0" rIns="0"/>
            <a:lstStyle/>
            <a:p>
              <a:pPr algn="l">
                <a:lnSpc>
                  <a:spcPts val="3960"/>
                </a:lnSpc>
              </a:pPr>
              <a:r>
                <a:rPr lang="en-US" sz="3300">
                  <a:solidFill>
                    <a:srgbClr val="202C30"/>
                  </a:solidFill>
                  <a:latin typeface="Calibri (MS)"/>
                  <a:ea typeface="Calibri (MS)"/>
                  <a:cs typeface="Calibri (MS)"/>
                  <a:sym typeface="Calibri (MS)"/>
                </a:rPr>
                <a:t>80 units delayed until Oct. 4</a:t>
              </a:r>
            </a:p>
          </p:txBody>
        </p:sp>
      </p:grpSp>
      <p:sp>
        <p:nvSpPr>
          <p:cNvPr name="AutoShape 55" id="55"/>
          <p:cNvSpPr/>
          <p:nvPr/>
        </p:nvSpPr>
        <p:spPr>
          <a:xfrm rot="117180">
            <a:off x="8832285" y="5572887"/>
            <a:ext cx="838305" cy="0"/>
          </a:xfrm>
          <a:prstGeom prst="line">
            <a:avLst/>
          </a:prstGeom>
          <a:ln cap="rnd" w="19050">
            <a:solidFill>
              <a:srgbClr val="087E83"/>
            </a:solidFill>
            <a:prstDash val="solid"/>
            <a:headEnd type="none" len="sm" w="sm"/>
            <a:tailEnd type="triangle" len="med" w="lg"/>
          </a:ln>
        </p:spPr>
      </p:sp>
      <p:grpSp>
        <p:nvGrpSpPr>
          <p:cNvPr name="Group 56" id="56"/>
          <p:cNvGrpSpPr/>
          <p:nvPr/>
        </p:nvGrpSpPr>
        <p:grpSpPr>
          <a:xfrm rot="0">
            <a:off x="9977628" y="3874008"/>
            <a:ext cx="7449312" cy="4061460"/>
            <a:chOff x="0" y="0"/>
            <a:chExt cx="9932416" cy="5415280"/>
          </a:xfrm>
        </p:grpSpPr>
        <p:sp>
          <p:nvSpPr>
            <p:cNvPr name="Freeform 57" id="57"/>
            <p:cNvSpPr/>
            <p:nvPr/>
          </p:nvSpPr>
          <p:spPr>
            <a:xfrm flipH="false" flipV="false" rot="0">
              <a:off x="0" y="0"/>
              <a:ext cx="9932416" cy="5415280"/>
            </a:xfrm>
            <a:custGeom>
              <a:avLst/>
              <a:gdLst/>
              <a:ahLst/>
              <a:cxnLst/>
              <a:rect r="r" b="b" t="t" l="l"/>
              <a:pathLst>
                <a:path h="5415280" w="9932416">
                  <a:moveTo>
                    <a:pt x="0" y="0"/>
                  </a:moveTo>
                  <a:lnTo>
                    <a:pt x="9932416" y="0"/>
                  </a:lnTo>
                  <a:lnTo>
                    <a:pt x="9932416" y="5415280"/>
                  </a:lnTo>
                  <a:lnTo>
                    <a:pt x="0" y="5415280"/>
                  </a:lnTo>
                  <a:close/>
                </a:path>
              </a:pathLst>
            </a:custGeom>
            <a:solidFill>
              <a:srgbClr val="F9EAEB"/>
            </a:solidFill>
            <a:ln w="15240" cap="sq">
              <a:solidFill>
                <a:srgbClr val="F9EAEB"/>
              </a:solidFill>
              <a:prstDash val="solid"/>
              <a:miter/>
            </a:ln>
          </p:spPr>
        </p:sp>
      </p:grpSp>
      <p:grpSp>
        <p:nvGrpSpPr>
          <p:cNvPr name="Group 58" id="58"/>
          <p:cNvGrpSpPr/>
          <p:nvPr/>
        </p:nvGrpSpPr>
        <p:grpSpPr>
          <a:xfrm rot="0">
            <a:off x="10347960" y="4175760"/>
            <a:ext cx="1798320" cy="522732"/>
            <a:chOff x="0" y="0"/>
            <a:chExt cx="2397760" cy="696976"/>
          </a:xfrm>
        </p:grpSpPr>
        <p:sp>
          <p:nvSpPr>
            <p:cNvPr name="Freeform 59" id="59"/>
            <p:cNvSpPr/>
            <p:nvPr/>
          </p:nvSpPr>
          <p:spPr>
            <a:xfrm flipH="false" flipV="false" rot="0">
              <a:off x="0" y="0"/>
              <a:ext cx="2397760" cy="696976"/>
            </a:xfrm>
            <a:custGeom>
              <a:avLst/>
              <a:gdLst/>
              <a:ahLst/>
              <a:cxnLst/>
              <a:rect r="r" b="b" t="t" l="l"/>
              <a:pathLst>
                <a:path h="696976" w="2397760">
                  <a:moveTo>
                    <a:pt x="0" y="0"/>
                  </a:moveTo>
                  <a:lnTo>
                    <a:pt x="2397760" y="0"/>
                  </a:lnTo>
                  <a:lnTo>
                    <a:pt x="2397760" y="696976"/>
                  </a:lnTo>
                  <a:lnTo>
                    <a:pt x="0" y="696976"/>
                  </a:lnTo>
                  <a:close/>
                </a:path>
              </a:pathLst>
            </a:custGeom>
            <a:solidFill>
              <a:srgbClr val="F1CFD2"/>
            </a:solidFill>
            <a:ln w="15240" cap="sq">
              <a:solidFill>
                <a:srgbClr val="F1CFD2"/>
              </a:solidFill>
              <a:prstDash val="solid"/>
              <a:miter/>
            </a:ln>
          </p:spPr>
        </p:sp>
      </p:grpSp>
      <p:grpSp>
        <p:nvGrpSpPr>
          <p:cNvPr name="Group 60" id="60"/>
          <p:cNvGrpSpPr/>
          <p:nvPr/>
        </p:nvGrpSpPr>
        <p:grpSpPr>
          <a:xfrm rot="0">
            <a:off x="10492740" y="4183380"/>
            <a:ext cx="1508760" cy="507492"/>
            <a:chOff x="0" y="0"/>
            <a:chExt cx="2011680" cy="676656"/>
          </a:xfrm>
        </p:grpSpPr>
        <p:sp>
          <p:nvSpPr>
            <p:cNvPr name="Freeform 61" id="61"/>
            <p:cNvSpPr/>
            <p:nvPr/>
          </p:nvSpPr>
          <p:spPr>
            <a:xfrm flipH="false" flipV="false" rot="0">
              <a:off x="0" y="0"/>
              <a:ext cx="2011680" cy="676656"/>
            </a:xfrm>
            <a:custGeom>
              <a:avLst/>
              <a:gdLst/>
              <a:ahLst/>
              <a:cxnLst/>
              <a:rect r="r" b="b" t="t" l="l"/>
              <a:pathLst>
                <a:path h="676656" w="2011680">
                  <a:moveTo>
                    <a:pt x="0" y="0"/>
                  </a:moveTo>
                  <a:lnTo>
                    <a:pt x="2011680" y="0"/>
                  </a:lnTo>
                  <a:lnTo>
                    <a:pt x="2011680" y="676656"/>
                  </a:lnTo>
                  <a:lnTo>
                    <a:pt x="0" y="676656"/>
                  </a:lnTo>
                  <a:close/>
                </a:path>
              </a:pathLst>
            </a:custGeom>
            <a:blipFill>
              <a:blip r:embed="rId3">
                <a:alphaModFix amt="0"/>
              </a:blip>
              <a:stretch>
                <a:fillRect l="0" t="-7928" r="0" b="-7928"/>
              </a:stretch>
            </a:blipFill>
          </p:spPr>
        </p:sp>
        <p:sp>
          <p:nvSpPr>
            <p:cNvPr name="TextBox 62" id="62"/>
            <p:cNvSpPr txBox="true"/>
            <p:nvPr/>
          </p:nvSpPr>
          <p:spPr>
            <a:xfrm>
              <a:off x="0" y="-19050"/>
              <a:ext cx="2011680" cy="695706"/>
            </a:xfrm>
            <a:prstGeom prst="rect">
              <a:avLst/>
            </a:prstGeom>
          </p:spPr>
          <p:txBody>
            <a:bodyPr anchor="ctr" rtlCol="false" tIns="0" lIns="0" bIns="0" rIns="0"/>
            <a:lstStyle/>
            <a:p>
              <a:pPr algn="l">
                <a:lnSpc>
                  <a:spcPts val="2160"/>
                </a:lnSpc>
              </a:pPr>
              <a:r>
                <a:rPr lang="en-US" sz="1800" b="true">
                  <a:solidFill>
                    <a:srgbClr val="BB4046"/>
                  </a:solidFill>
                  <a:latin typeface="Trebuchet MS Bold"/>
                  <a:ea typeface="Trebuchet MS Bold"/>
                  <a:cs typeface="Trebuchet MS Bold"/>
                  <a:sym typeface="Trebuchet MS Bold"/>
                </a:rPr>
                <a:t>CRITICAL</a:t>
              </a:r>
            </a:p>
          </p:txBody>
        </p:sp>
      </p:grpSp>
      <p:grpSp>
        <p:nvGrpSpPr>
          <p:cNvPr name="Group 63" id="63"/>
          <p:cNvGrpSpPr/>
          <p:nvPr/>
        </p:nvGrpSpPr>
        <p:grpSpPr>
          <a:xfrm rot="0">
            <a:off x="10355580" y="4951476"/>
            <a:ext cx="6624828" cy="1303020"/>
            <a:chOff x="0" y="0"/>
            <a:chExt cx="8833104" cy="1737360"/>
          </a:xfrm>
        </p:grpSpPr>
        <p:sp>
          <p:nvSpPr>
            <p:cNvPr name="Freeform 64" id="64"/>
            <p:cNvSpPr/>
            <p:nvPr/>
          </p:nvSpPr>
          <p:spPr>
            <a:xfrm flipH="false" flipV="false" rot="0">
              <a:off x="0" y="0"/>
              <a:ext cx="8833104" cy="1737360"/>
            </a:xfrm>
            <a:custGeom>
              <a:avLst/>
              <a:gdLst/>
              <a:ahLst/>
              <a:cxnLst/>
              <a:rect r="r" b="b" t="t" l="l"/>
              <a:pathLst>
                <a:path h="1737360" w="8833104">
                  <a:moveTo>
                    <a:pt x="0" y="0"/>
                  </a:moveTo>
                  <a:lnTo>
                    <a:pt x="8833104" y="0"/>
                  </a:lnTo>
                  <a:lnTo>
                    <a:pt x="8833104" y="1737360"/>
                  </a:lnTo>
                  <a:lnTo>
                    <a:pt x="0" y="1737360"/>
                  </a:lnTo>
                  <a:close/>
                </a:path>
              </a:pathLst>
            </a:custGeom>
            <a:blipFill>
              <a:blip r:embed="rId3">
                <a:alphaModFix amt="0"/>
              </a:blip>
              <a:stretch>
                <a:fillRect l="0" t="-49066" r="0" b="-49066"/>
              </a:stretch>
            </a:blipFill>
          </p:spPr>
        </p:sp>
        <p:sp>
          <p:nvSpPr>
            <p:cNvPr name="TextBox 65" id="65"/>
            <p:cNvSpPr txBox="true"/>
            <p:nvPr/>
          </p:nvSpPr>
          <p:spPr>
            <a:xfrm>
              <a:off x="0" y="-19050"/>
              <a:ext cx="8833104" cy="1756410"/>
            </a:xfrm>
            <a:prstGeom prst="rect">
              <a:avLst/>
            </a:prstGeom>
          </p:spPr>
          <p:txBody>
            <a:bodyPr anchor="ctr" rtlCol="false" tIns="0" lIns="0" bIns="0" rIns="0"/>
            <a:lstStyle/>
            <a:p>
              <a:pPr algn="l">
                <a:lnSpc>
                  <a:spcPts val="5400"/>
                </a:lnSpc>
              </a:pPr>
              <a:r>
                <a:rPr lang="en-US" sz="4500" b="true">
                  <a:solidFill>
                    <a:srgbClr val="BB4046"/>
                  </a:solidFill>
                  <a:latin typeface="Trebuchet MS Bold"/>
                  <a:ea typeface="Trebuchet MS Bold"/>
                  <a:cs typeface="Trebuchet MS Bold"/>
                  <a:sym typeface="Trebuchet MS Bold"/>
                </a:rPr>
                <a:t>Stockout &amp;</a:t>
              </a:r>
            </a:p>
            <a:p>
              <a:pPr algn="l">
                <a:lnSpc>
                  <a:spcPts val="5400"/>
                </a:lnSpc>
              </a:pPr>
              <a:r>
                <a:rPr lang="en-US" sz="4500" b="true">
                  <a:solidFill>
                    <a:srgbClr val="BB4046"/>
                  </a:solidFill>
                  <a:latin typeface="Trebuchet MS Bold"/>
                  <a:ea typeface="Trebuchet MS Bold"/>
                  <a:cs typeface="Trebuchet MS Bold"/>
                  <a:sym typeface="Trebuchet MS Bold"/>
                </a:rPr>
                <a:t>Fulfillment Risk</a:t>
              </a:r>
            </a:p>
          </p:txBody>
        </p:sp>
      </p:grpSp>
      <p:grpSp>
        <p:nvGrpSpPr>
          <p:cNvPr name="Group 66" id="66"/>
          <p:cNvGrpSpPr/>
          <p:nvPr/>
        </p:nvGrpSpPr>
        <p:grpSpPr>
          <a:xfrm rot="0">
            <a:off x="10355580" y="6446520"/>
            <a:ext cx="4526280" cy="795528"/>
            <a:chOff x="0" y="0"/>
            <a:chExt cx="6035040" cy="1060704"/>
          </a:xfrm>
        </p:grpSpPr>
        <p:sp>
          <p:nvSpPr>
            <p:cNvPr name="Freeform 67" id="67"/>
            <p:cNvSpPr/>
            <p:nvPr/>
          </p:nvSpPr>
          <p:spPr>
            <a:xfrm flipH="false" flipV="false" rot="0">
              <a:off x="0" y="0"/>
              <a:ext cx="6035040" cy="1060704"/>
            </a:xfrm>
            <a:custGeom>
              <a:avLst/>
              <a:gdLst/>
              <a:ahLst/>
              <a:cxnLst/>
              <a:rect r="r" b="b" t="t" l="l"/>
              <a:pathLst>
                <a:path h="1060704" w="6035040">
                  <a:moveTo>
                    <a:pt x="0" y="0"/>
                  </a:moveTo>
                  <a:lnTo>
                    <a:pt x="6035040" y="0"/>
                  </a:lnTo>
                  <a:lnTo>
                    <a:pt x="6035040" y="1060704"/>
                  </a:lnTo>
                  <a:lnTo>
                    <a:pt x="0" y="1060704"/>
                  </a:lnTo>
                  <a:close/>
                </a:path>
              </a:pathLst>
            </a:custGeom>
            <a:blipFill>
              <a:blip r:embed="rId3">
                <a:alphaModFix amt="0"/>
              </a:blip>
              <a:stretch>
                <a:fillRect l="0" t="-60863" r="0" b="-60863"/>
              </a:stretch>
            </a:blipFill>
          </p:spPr>
        </p:sp>
        <p:sp>
          <p:nvSpPr>
            <p:cNvPr name="TextBox 68" id="68"/>
            <p:cNvSpPr txBox="true"/>
            <p:nvPr/>
          </p:nvSpPr>
          <p:spPr>
            <a:xfrm>
              <a:off x="0" y="-19050"/>
              <a:ext cx="6035040" cy="1079754"/>
            </a:xfrm>
            <a:prstGeom prst="rect">
              <a:avLst/>
            </a:prstGeom>
          </p:spPr>
          <p:txBody>
            <a:bodyPr anchor="ctr" rtlCol="false" tIns="0" lIns="0" bIns="0" rIns="0"/>
            <a:lstStyle/>
            <a:p>
              <a:pPr algn="l">
                <a:lnSpc>
                  <a:spcPts val="6120"/>
                </a:lnSpc>
              </a:pPr>
              <a:r>
                <a:rPr lang="en-US" sz="5100" b="true">
                  <a:solidFill>
                    <a:srgbClr val="202C30"/>
                  </a:solidFill>
                  <a:latin typeface="Trebuchet MS Bold"/>
                  <a:ea typeface="Trebuchet MS Bold"/>
                  <a:cs typeface="Trebuchet MS Bold"/>
                  <a:sym typeface="Trebuchet MS Bold"/>
                </a:rPr>
                <a:t>~4.1 days</a:t>
              </a:r>
            </a:p>
          </p:txBody>
        </p:sp>
      </p:grpSp>
      <p:grpSp>
        <p:nvGrpSpPr>
          <p:cNvPr name="Group 69" id="69"/>
          <p:cNvGrpSpPr/>
          <p:nvPr/>
        </p:nvGrpSpPr>
        <p:grpSpPr>
          <a:xfrm rot="0">
            <a:off x="10355580" y="7269480"/>
            <a:ext cx="6172200" cy="342900"/>
            <a:chOff x="0" y="0"/>
            <a:chExt cx="8229600" cy="457200"/>
          </a:xfrm>
        </p:grpSpPr>
        <p:sp>
          <p:nvSpPr>
            <p:cNvPr name="Freeform 70" id="70"/>
            <p:cNvSpPr/>
            <p:nvPr/>
          </p:nvSpPr>
          <p:spPr>
            <a:xfrm flipH="false" flipV="false" rot="0">
              <a:off x="0" y="0"/>
              <a:ext cx="8229600" cy="457200"/>
            </a:xfrm>
            <a:custGeom>
              <a:avLst/>
              <a:gdLst/>
              <a:ahLst/>
              <a:cxnLst/>
              <a:rect r="r" b="b" t="t" l="l"/>
              <a:pathLst>
                <a:path h="457200" w="8229600">
                  <a:moveTo>
                    <a:pt x="0" y="0"/>
                  </a:moveTo>
                  <a:lnTo>
                    <a:pt x="8229600" y="0"/>
                  </a:lnTo>
                  <a:lnTo>
                    <a:pt x="8229600" y="457200"/>
                  </a:lnTo>
                  <a:lnTo>
                    <a:pt x="0" y="457200"/>
                  </a:lnTo>
                  <a:close/>
                </a:path>
              </a:pathLst>
            </a:custGeom>
            <a:blipFill>
              <a:blip r:embed="rId3">
                <a:alphaModFix amt="0"/>
              </a:blip>
              <a:stretch>
                <a:fillRect l="0" t="-300730" r="0" b="-300730"/>
              </a:stretch>
            </a:blipFill>
          </p:spPr>
        </p:sp>
        <p:sp>
          <p:nvSpPr>
            <p:cNvPr name="TextBox 71" id="71"/>
            <p:cNvSpPr txBox="true"/>
            <p:nvPr/>
          </p:nvSpPr>
          <p:spPr>
            <a:xfrm>
              <a:off x="0" y="-38100"/>
              <a:ext cx="8229600" cy="495300"/>
            </a:xfrm>
            <a:prstGeom prst="rect">
              <a:avLst/>
            </a:prstGeom>
          </p:spPr>
          <p:txBody>
            <a:bodyPr anchor="ctr" rtlCol="false" tIns="0" lIns="0" bIns="0" rIns="0"/>
            <a:lstStyle/>
            <a:p>
              <a:pPr algn="l">
                <a:lnSpc>
                  <a:spcPts val="2879"/>
                </a:lnSpc>
              </a:pPr>
              <a:r>
                <a:rPr lang="en-US" sz="2400">
                  <a:solidFill>
                    <a:srgbClr val="51636A"/>
                  </a:solidFill>
                  <a:latin typeface="Calibri (MS)"/>
                  <a:ea typeface="Calibri (MS)"/>
                  <a:cs typeface="Calibri (MS)"/>
                  <a:sym typeface="Calibri (MS)"/>
                </a:rPr>
                <a:t>estimated coverage</a:t>
              </a:r>
            </a:p>
          </p:txBody>
        </p:sp>
      </p:grpSp>
      <p:grpSp>
        <p:nvGrpSpPr>
          <p:cNvPr name="Group 72" id="72"/>
          <p:cNvGrpSpPr/>
          <p:nvPr/>
        </p:nvGrpSpPr>
        <p:grpSpPr>
          <a:xfrm rot="0">
            <a:off x="891540" y="8133588"/>
            <a:ext cx="3154680" cy="411480"/>
            <a:chOff x="0" y="0"/>
            <a:chExt cx="4206240" cy="548640"/>
          </a:xfrm>
        </p:grpSpPr>
        <p:sp>
          <p:nvSpPr>
            <p:cNvPr name="Freeform 73" id="73"/>
            <p:cNvSpPr/>
            <p:nvPr/>
          </p:nvSpPr>
          <p:spPr>
            <a:xfrm flipH="false" flipV="false" rot="0">
              <a:off x="0" y="0"/>
              <a:ext cx="4206240" cy="548640"/>
            </a:xfrm>
            <a:custGeom>
              <a:avLst/>
              <a:gdLst/>
              <a:ahLst/>
              <a:cxnLst/>
              <a:rect r="r" b="b" t="t" l="l"/>
              <a:pathLst>
                <a:path h="548640" w="4206240">
                  <a:moveTo>
                    <a:pt x="0" y="0"/>
                  </a:moveTo>
                  <a:lnTo>
                    <a:pt x="4206240" y="0"/>
                  </a:lnTo>
                  <a:lnTo>
                    <a:pt x="4206240" y="548640"/>
                  </a:lnTo>
                  <a:lnTo>
                    <a:pt x="0" y="548640"/>
                  </a:lnTo>
                  <a:close/>
                </a:path>
              </a:pathLst>
            </a:custGeom>
            <a:blipFill>
              <a:blip r:embed="rId3">
                <a:alphaModFix amt="0"/>
              </a:blip>
              <a:stretch>
                <a:fillRect l="0" t="-99385" r="0" b="-99385"/>
              </a:stretch>
            </a:blipFill>
          </p:spPr>
        </p:sp>
        <p:sp>
          <p:nvSpPr>
            <p:cNvPr name="TextBox 74" id="74"/>
            <p:cNvSpPr txBox="true"/>
            <p:nvPr/>
          </p:nvSpPr>
          <p:spPr>
            <a:xfrm>
              <a:off x="0" y="-9525"/>
              <a:ext cx="4206240" cy="558165"/>
            </a:xfrm>
            <a:prstGeom prst="rect">
              <a:avLst/>
            </a:prstGeom>
          </p:spPr>
          <p:txBody>
            <a:bodyPr anchor="ctr" rtlCol="false" tIns="0" lIns="0" bIns="0" rIns="0"/>
            <a:lstStyle/>
            <a:p>
              <a:pPr algn="l">
                <a:lnSpc>
                  <a:spcPts val="3240"/>
                </a:lnSpc>
              </a:pPr>
              <a:r>
                <a:rPr lang="en-US" sz="2700" b="true">
                  <a:solidFill>
                    <a:srgbClr val="202C30"/>
                  </a:solidFill>
                  <a:latin typeface="Trebuchet MS Bold"/>
                  <a:ea typeface="Trebuchet MS Bold"/>
                  <a:cs typeface="Trebuchet MS Bold"/>
                  <a:sym typeface="Trebuchet MS Bold"/>
                </a:rPr>
                <a:t>Potential impact</a:t>
              </a:r>
            </a:p>
          </p:txBody>
        </p:sp>
      </p:grpSp>
      <p:grpSp>
        <p:nvGrpSpPr>
          <p:cNvPr name="Group 75" id="75"/>
          <p:cNvGrpSpPr/>
          <p:nvPr/>
        </p:nvGrpSpPr>
        <p:grpSpPr>
          <a:xfrm rot="0">
            <a:off x="891540" y="8627364"/>
            <a:ext cx="8023860" cy="754380"/>
            <a:chOff x="0" y="0"/>
            <a:chExt cx="10698480" cy="1005840"/>
          </a:xfrm>
        </p:grpSpPr>
        <p:sp>
          <p:nvSpPr>
            <p:cNvPr name="Freeform 76" id="76"/>
            <p:cNvSpPr/>
            <p:nvPr/>
          </p:nvSpPr>
          <p:spPr>
            <a:xfrm flipH="false" flipV="false" rot="0">
              <a:off x="0" y="0"/>
              <a:ext cx="10698480" cy="1005840"/>
            </a:xfrm>
            <a:custGeom>
              <a:avLst/>
              <a:gdLst/>
              <a:ahLst/>
              <a:cxnLst/>
              <a:rect r="r" b="b" t="t" l="l"/>
              <a:pathLst>
                <a:path h="1005840" w="10698480">
                  <a:moveTo>
                    <a:pt x="0" y="0"/>
                  </a:moveTo>
                  <a:lnTo>
                    <a:pt x="10698480" y="0"/>
                  </a:lnTo>
                  <a:lnTo>
                    <a:pt x="10698480" y="1005840"/>
                  </a:lnTo>
                  <a:lnTo>
                    <a:pt x="0" y="1005840"/>
                  </a:lnTo>
                  <a:close/>
                </a:path>
              </a:pathLst>
            </a:custGeom>
            <a:blipFill>
              <a:blip r:embed="rId3">
                <a:alphaModFix amt="0"/>
              </a:blip>
              <a:stretch>
                <a:fillRect l="0" t="-157249" r="0" b="-157249"/>
              </a:stretch>
            </a:blipFill>
          </p:spPr>
        </p:sp>
        <p:sp>
          <p:nvSpPr>
            <p:cNvPr name="TextBox 77" id="77"/>
            <p:cNvSpPr txBox="true"/>
            <p:nvPr/>
          </p:nvSpPr>
          <p:spPr>
            <a:xfrm>
              <a:off x="0" y="-57150"/>
              <a:ext cx="10698480" cy="1062990"/>
            </a:xfrm>
            <a:prstGeom prst="rect">
              <a:avLst/>
            </a:prstGeom>
          </p:spPr>
          <p:txBody>
            <a:bodyPr anchor="ctr" rtlCol="false" tIns="0" lIns="0" bIns="0" rIns="0"/>
            <a:lstStyle/>
            <a:p>
              <a:pPr algn="l">
                <a:lnSpc>
                  <a:spcPts val="3240"/>
                </a:lnSpc>
              </a:pPr>
              <a:r>
                <a:rPr lang="en-US" sz="2700">
                  <a:solidFill>
                    <a:srgbClr val="51636A"/>
                  </a:solidFill>
                  <a:latin typeface="Calibri (MS)"/>
                  <a:ea typeface="Calibri (MS)"/>
                  <a:cs typeface="Calibri (MS)"/>
                  <a:sym typeface="Calibri (MS)"/>
                </a:rPr>
                <a:t>Priority orders may remain unfulfilled</a:t>
              </a:r>
            </a:p>
            <a:p>
              <a:pPr algn="l">
                <a:lnSpc>
                  <a:spcPts val="3240"/>
                </a:lnSpc>
              </a:pPr>
              <a:r>
                <a:rPr lang="en-US" sz="2700">
                  <a:solidFill>
                    <a:srgbClr val="51636A"/>
                  </a:solidFill>
                  <a:latin typeface="Calibri (MS)"/>
                  <a:ea typeface="Calibri (MS)"/>
                  <a:cs typeface="Calibri (MS)"/>
                  <a:sym typeface="Calibri (MS)"/>
                </a:rPr>
                <a:t>before reliable replenishment arrives.</a:t>
              </a:r>
            </a:p>
          </p:txBody>
        </p:sp>
      </p:grpSp>
      <p:grpSp>
        <p:nvGrpSpPr>
          <p:cNvPr name="Group 78" id="78"/>
          <p:cNvGrpSpPr/>
          <p:nvPr/>
        </p:nvGrpSpPr>
        <p:grpSpPr>
          <a:xfrm rot="0">
            <a:off x="9985248" y="8133588"/>
            <a:ext cx="6583680" cy="411480"/>
            <a:chOff x="0" y="0"/>
            <a:chExt cx="8778240" cy="548640"/>
          </a:xfrm>
        </p:grpSpPr>
        <p:sp>
          <p:nvSpPr>
            <p:cNvPr name="Freeform 79" id="79"/>
            <p:cNvSpPr/>
            <p:nvPr/>
          </p:nvSpPr>
          <p:spPr>
            <a:xfrm flipH="false" flipV="false" rot="0">
              <a:off x="0" y="0"/>
              <a:ext cx="8778240" cy="548640"/>
            </a:xfrm>
            <a:custGeom>
              <a:avLst/>
              <a:gdLst/>
              <a:ahLst/>
              <a:cxnLst/>
              <a:rect r="r" b="b" t="t" l="l"/>
              <a:pathLst>
                <a:path h="548640" w="8778240">
                  <a:moveTo>
                    <a:pt x="0" y="0"/>
                  </a:moveTo>
                  <a:lnTo>
                    <a:pt x="8778240" y="0"/>
                  </a:lnTo>
                  <a:lnTo>
                    <a:pt x="8778240" y="548640"/>
                  </a:lnTo>
                  <a:lnTo>
                    <a:pt x="0" y="548640"/>
                  </a:lnTo>
                  <a:close/>
                </a:path>
              </a:pathLst>
            </a:custGeom>
            <a:blipFill>
              <a:blip r:embed="rId3">
                <a:alphaModFix amt="0"/>
              </a:blip>
              <a:stretch>
                <a:fillRect l="0" t="-261760" r="0" b="-261760"/>
              </a:stretch>
            </a:blipFill>
          </p:spPr>
        </p:sp>
        <p:sp>
          <p:nvSpPr>
            <p:cNvPr name="TextBox 80" id="80"/>
            <p:cNvSpPr txBox="true"/>
            <p:nvPr/>
          </p:nvSpPr>
          <p:spPr>
            <a:xfrm>
              <a:off x="0" y="-9525"/>
              <a:ext cx="8778240" cy="558165"/>
            </a:xfrm>
            <a:prstGeom prst="rect">
              <a:avLst/>
            </a:prstGeom>
          </p:spPr>
          <p:txBody>
            <a:bodyPr anchor="ctr" rtlCol="false" tIns="0" lIns="0" bIns="0" rIns="0"/>
            <a:lstStyle/>
            <a:p>
              <a:pPr algn="l">
                <a:lnSpc>
                  <a:spcPts val="3240"/>
                </a:lnSpc>
              </a:pPr>
              <a:r>
                <a:rPr lang="en-US" sz="2700" b="true">
                  <a:solidFill>
                    <a:srgbClr val="087E83"/>
                  </a:solidFill>
                  <a:latin typeface="Trebuchet MS Bold"/>
                  <a:ea typeface="Trebuchet MS Bold"/>
                  <a:cs typeface="Trebuchet MS Bold"/>
                  <a:sym typeface="Trebuchet MS Bold"/>
                </a:rPr>
                <a:t>Recommended action</a:t>
              </a:r>
            </a:p>
          </p:txBody>
        </p:sp>
      </p:grpSp>
      <p:grpSp>
        <p:nvGrpSpPr>
          <p:cNvPr name="Group 81" id="81"/>
          <p:cNvGrpSpPr/>
          <p:nvPr/>
        </p:nvGrpSpPr>
        <p:grpSpPr>
          <a:xfrm rot="0">
            <a:off x="9985248" y="8627364"/>
            <a:ext cx="7406640" cy="754380"/>
            <a:chOff x="0" y="0"/>
            <a:chExt cx="9875520" cy="1005840"/>
          </a:xfrm>
        </p:grpSpPr>
        <p:sp>
          <p:nvSpPr>
            <p:cNvPr name="Freeform 82" id="82"/>
            <p:cNvSpPr/>
            <p:nvPr/>
          </p:nvSpPr>
          <p:spPr>
            <a:xfrm flipH="false" flipV="false" rot="0">
              <a:off x="0" y="0"/>
              <a:ext cx="9875520" cy="1005840"/>
            </a:xfrm>
            <a:custGeom>
              <a:avLst/>
              <a:gdLst/>
              <a:ahLst/>
              <a:cxnLst/>
              <a:rect r="r" b="b" t="t" l="l"/>
              <a:pathLst>
                <a:path h="1005840" w="9875520">
                  <a:moveTo>
                    <a:pt x="0" y="0"/>
                  </a:moveTo>
                  <a:lnTo>
                    <a:pt x="9875520" y="0"/>
                  </a:lnTo>
                  <a:lnTo>
                    <a:pt x="9875520" y="1005840"/>
                  </a:lnTo>
                  <a:lnTo>
                    <a:pt x="0" y="1005840"/>
                  </a:lnTo>
                  <a:close/>
                </a:path>
              </a:pathLst>
            </a:custGeom>
            <a:blipFill>
              <a:blip r:embed="rId3">
                <a:alphaModFix amt="0"/>
              </a:blip>
              <a:stretch>
                <a:fillRect l="0" t="-141307" r="0" b="-141307"/>
              </a:stretch>
            </a:blipFill>
          </p:spPr>
        </p:sp>
        <p:sp>
          <p:nvSpPr>
            <p:cNvPr name="TextBox 83" id="83"/>
            <p:cNvSpPr txBox="true"/>
            <p:nvPr/>
          </p:nvSpPr>
          <p:spPr>
            <a:xfrm>
              <a:off x="0" y="-57150"/>
              <a:ext cx="9875520" cy="1062990"/>
            </a:xfrm>
            <a:prstGeom prst="rect">
              <a:avLst/>
            </a:prstGeom>
          </p:spPr>
          <p:txBody>
            <a:bodyPr anchor="ctr" rtlCol="false" tIns="0" lIns="0" bIns="0" rIns="0"/>
            <a:lstStyle/>
            <a:p>
              <a:pPr algn="l">
                <a:lnSpc>
                  <a:spcPts val="3240"/>
                </a:lnSpc>
              </a:pPr>
              <a:r>
                <a:rPr lang="en-US" sz="2700">
                  <a:solidFill>
                    <a:srgbClr val="202C30"/>
                  </a:solidFill>
                  <a:latin typeface="Calibri (MS)"/>
                  <a:ea typeface="Calibri (MS)"/>
                  <a:cs typeface="Calibri (MS)"/>
                  <a:sym typeface="Calibri (MS)"/>
                </a:rPr>
                <a:t>Confirm revised ETA / partial shipment;</a:t>
              </a:r>
            </a:p>
            <a:p>
              <a:pPr algn="l">
                <a:lnSpc>
                  <a:spcPts val="3240"/>
                </a:lnSpc>
              </a:pPr>
              <a:r>
                <a:rPr lang="en-US" sz="2700">
                  <a:solidFill>
                    <a:srgbClr val="202C30"/>
                  </a:solidFill>
                  <a:latin typeface="Calibri (MS)"/>
                  <a:ea typeface="Calibri (MS)"/>
                  <a:cs typeface="Calibri (MS)"/>
                  <a:sym typeface="Calibri (MS)"/>
                </a:rPr>
                <a:t>reserve stock for priority orders.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370332"/>
            <a:ext cx="1371600" cy="411480"/>
            <a:chOff x="0" y="0"/>
            <a:chExt cx="1828800" cy="548640"/>
          </a:xfrm>
        </p:grpSpPr>
        <p:sp>
          <p:nvSpPr>
            <p:cNvPr name="Freeform 3" id="3"/>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4" id="4"/>
            <p:cNvSpPr txBox="true"/>
            <p:nvPr/>
          </p:nvSpPr>
          <p:spPr>
            <a:xfrm>
              <a:off x="0" y="-19050"/>
              <a:ext cx="1828800" cy="567690"/>
            </a:xfrm>
            <a:prstGeom prst="rect">
              <a:avLst/>
            </a:prstGeom>
          </p:spPr>
          <p:txBody>
            <a:bodyPr anchor="ctr" rtlCol="false" tIns="0" lIns="0" bIns="0" rIns="0"/>
            <a:lstStyle/>
            <a:p>
              <a:pPr algn="l">
                <a:lnSpc>
                  <a:spcPts val="2700"/>
                </a:lnSpc>
              </a:pPr>
              <a:r>
                <a:rPr lang="en-US" sz="2250" b="true">
                  <a:solidFill>
                    <a:srgbClr val="087E83"/>
                  </a:solidFill>
                  <a:latin typeface="Trebuchet MS Bold"/>
                  <a:ea typeface="Trebuchet MS Bold"/>
                  <a:cs typeface="Trebuchet MS Bold"/>
                  <a:sym typeface="Trebuchet MS Bold"/>
                </a:rPr>
                <a:t>ORBI</a:t>
              </a:r>
            </a:p>
          </p:txBody>
        </p:sp>
      </p:grpSp>
      <p:grpSp>
        <p:nvGrpSpPr>
          <p:cNvPr name="Group 5" id="5"/>
          <p:cNvGrpSpPr/>
          <p:nvPr/>
        </p:nvGrpSpPr>
        <p:grpSpPr>
          <a:xfrm rot="0">
            <a:off x="2263140" y="370332"/>
            <a:ext cx="13716000" cy="411480"/>
            <a:chOff x="0" y="0"/>
            <a:chExt cx="18288000" cy="548640"/>
          </a:xfrm>
        </p:grpSpPr>
        <p:sp>
          <p:nvSpPr>
            <p:cNvPr name="Freeform 6" id="6"/>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7" id="7"/>
            <p:cNvSpPr txBox="true"/>
            <p:nvPr/>
          </p:nvSpPr>
          <p:spPr>
            <a:xfrm>
              <a:off x="0" y="-47625"/>
              <a:ext cx="18288000" cy="596265"/>
            </a:xfrm>
            <a:prstGeom prst="rect">
              <a:avLst/>
            </a:prstGeom>
          </p:spPr>
          <p:txBody>
            <a:bodyPr anchor="ctr" rtlCol="false" tIns="0" lIns="0" bIns="0" rIns="0"/>
            <a:lstStyle/>
            <a:p>
              <a:pPr algn="l">
                <a:lnSpc>
                  <a:spcPts val="2340"/>
                </a:lnSpc>
              </a:pPr>
              <a:r>
                <a:rPr lang="en-US" sz="1950">
                  <a:solidFill>
                    <a:srgbClr val="51636A"/>
                  </a:solidFill>
                  <a:latin typeface="Calibri (MS)"/>
                  <a:ea typeface="Calibri (MS)"/>
                  <a:cs typeface="Calibri (MS)"/>
                  <a:sym typeface="Calibri (MS)"/>
                </a:rPr>
                <a:t>BUSINESS IMPACT</a:t>
              </a:r>
            </a:p>
          </p:txBody>
        </p:sp>
      </p:grpSp>
      <p:sp>
        <p:nvSpPr>
          <p:cNvPr name="AutoShape 8" id="8"/>
          <p:cNvSpPr/>
          <p:nvPr/>
        </p:nvSpPr>
        <p:spPr>
          <a:xfrm rot="5880">
            <a:off x="808663" y="9632823"/>
            <a:ext cx="16624964" cy="0"/>
          </a:xfrm>
          <a:prstGeom prst="line">
            <a:avLst/>
          </a:prstGeom>
          <a:ln cap="rnd" w="19050">
            <a:solidFill>
              <a:srgbClr val="D7E0E2"/>
            </a:solidFill>
            <a:prstDash val="solid"/>
            <a:headEnd type="none" len="sm" w="sm"/>
            <a:tailEnd type="none" len="sm" w="sm"/>
          </a:ln>
        </p:spPr>
      </p:sp>
      <p:grpSp>
        <p:nvGrpSpPr>
          <p:cNvPr name="Group 9" id="9"/>
          <p:cNvGrpSpPr/>
          <p:nvPr/>
        </p:nvGrpSpPr>
        <p:grpSpPr>
          <a:xfrm rot="0">
            <a:off x="822960" y="9779508"/>
            <a:ext cx="12344400" cy="274320"/>
            <a:chOff x="0" y="0"/>
            <a:chExt cx="16459200" cy="365760"/>
          </a:xfrm>
        </p:grpSpPr>
        <p:sp>
          <p:nvSpPr>
            <p:cNvPr name="Freeform 10" id="10"/>
            <p:cNvSpPr/>
            <p:nvPr/>
          </p:nvSpPr>
          <p:spPr>
            <a:xfrm flipH="false" flipV="false" rot="0">
              <a:off x="0" y="0"/>
              <a:ext cx="16459200" cy="365760"/>
            </a:xfrm>
            <a:custGeom>
              <a:avLst/>
              <a:gdLst/>
              <a:ahLst/>
              <a:cxnLst/>
              <a:rect r="r" b="b" t="t" l="l"/>
              <a:pathLst>
                <a:path h="365760" w="16459200">
                  <a:moveTo>
                    <a:pt x="0" y="0"/>
                  </a:moveTo>
                  <a:lnTo>
                    <a:pt x="16459200" y="0"/>
                  </a:lnTo>
                  <a:lnTo>
                    <a:pt x="16459200" y="365760"/>
                  </a:lnTo>
                  <a:lnTo>
                    <a:pt x="0" y="365760"/>
                  </a:lnTo>
                  <a:close/>
                </a:path>
              </a:pathLst>
            </a:custGeom>
            <a:blipFill>
              <a:blip r:embed="rId3">
                <a:alphaModFix amt="0"/>
              </a:blip>
              <a:stretch>
                <a:fillRect l="0" t="-826826" r="0" b="-826826"/>
              </a:stretch>
            </a:blipFill>
          </p:spPr>
        </p:sp>
        <p:sp>
          <p:nvSpPr>
            <p:cNvPr name="TextBox 11" id="11"/>
            <p:cNvSpPr txBox="true"/>
            <p:nvPr/>
          </p:nvSpPr>
          <p:spPr>
            <a:xfrm>
              <a:off x="0" y="-28575"/>
              <a:ext cx="16459200" cy="394335"/>
            </a:xfrm>
            <a:prstGeom prst="rect">
              <a:avLst/>
            </a:prstGeom>
          </p:spPr>
          <p:txBody>
            <a:bodyPr anchor="ctr" rtlCol="false" tIns="0" lIns="0" bIns="0" rIns="0"/>
            <a:lstStyle/>
            <a:p>
              <a:pPr algn="l">
                <a:lnSpc>
                  <a:spcPts val="1980"/>
                </a:lnSpc>
              </a:pPr>
              <a:r>
                <a:rPr lang="en-US" sz="1650">
                  <a:solidFill>
                    <a:srgbClr val="51636A"/>
                  </a:solidFill>
                  <a:latin typeface="Calibri (MS)"/>
                  <a:ea typeface="Calibri (MS)"/>
                  <a:cs typeface="Calibri (MS)"/>
                  <a:sym typeface="Calibri (MS)"/>
                </a:rPr>
                <a:t>Operations risk intelligence for retail SMEs</a:t>
              </a:r>
            </a:p>
          </p:txBody>
        </p:sp>
      </p:grpSp>
      <p:grpSp>
        <p:nvGrpSpPr>
          <p:cNvPr name="Group 12" id="12"/>
          <p:cNvGrpSpPr/>
          <p:nvPr/>
        </p:nvGrpSpPr>
        <p:grpSpPr>
          <a:xfrm rot="0">
            <a:off x="15979140" y="9752076"/>
            <a:ext cx="1440180" cy="342900"/>
            <a:chOff x="0" y="0"/>
            <a:chExt cx="1920240" cy="457200"/>
          </a:xfrm>
        </p:grpSpPr>
        <p:sp>
          <p:nvSpPr>
            <p:cNvPr name="Freeform 13" id="13"/>
            <p:cNvSpPr/>
            <p:nvPr/>
          </p:nvSpPr>
          <p:spPr>
            <a:xfrm flipH="false" flipV="false" rot="0">
              <a:off x="0" y="0"/>
              <a:ext cx="1920240" cy="457200"/>
            </a:xfrm>
            <a:custGeom>
              <a:avLst/>
              <a:gdLst/>
              <a:ahLst/>
              <a:cxnLst/>
              <a:rect r="r" b="b" t="t" l="l"/>
              <a:pathLst>
                <a:path h="457200" w="1920240">
                  <a:moveTo>
                    <a:pt x="0" y="0"/>
                  </a:moveTo>
                  <a:lnTo>
                    <a:pt x="1920240" y="0"/>
                  </a:lnTo>
                  <a:lnTo>
                    <a:pt x="1920240" y="457200"/>
                  </a:lnTo>
                  <a:lnTo>
                    <a:pt x="0" y="457200"/>
                  </a:lnTo>
                  <a:close/>
                </a:path>
              </a:pathLst>
            </a:custGeom>
            <a:blipFill>
              <a:blip r:embed="rId3">
                <a:alphaModFix amt="0"/>
              </a:blip>
              <a:stretch>
                <a:fillRect l="0" t="-31837" r="0" b="-31837"/>
              </a:stretch>
            </a:blipFill>
          </p:spPr>
        </p:sp>
        <p:sp>
          <p:nvSpPr>
            <p:cNvPr name="TextBox 14" id="14"/>
            <p:cNvSpPr txBox="true"/>
            <p:nvPr/>
          </p:nvSpPr>
          <p:spPr>
            <a:xfrm>
              <a:off x="0" y="-38100"/>
              <a:ext cx="1920240" cy="495300"/>
            </a:xfrm>
            <a:prstGeom prst="rect">
              <a:avLst/>
            </a:prstGeom>
          </p:spPr>
          <p:txBody>
            <a:bodyPr anchor="ctr" rtlCol="false" tIns="0" lIns="0" bIns="0" rIns="0"/>
            <a:lstStyle/>
            <a:p>
              <a:pPr algn="r">
                <a:lnSpc>
                  <a:spcPts val="2160"/>
                </a:lnSpc>
              </a:pPr>
              <a:r>
                <a:rPr lang="en-US" sz="1800">
                  <a:solidFill>
                    <a:srgbClr val="51636A"/>
                  </a:solidFill>
                  <a:latin typeface="Calibri (MS)"/>
                  <a:ea typeface="Calibri (MS)"/>
                  <a:cs typeface="Calibri (MS)"/>
                  <a:sym typeface="Calibri (MS)"/>
                </a:rPr>
                <a:t>05 / 08</a:t>
              </a:r>
            </a:p>
          </p:txBody>
        </p:sp>
      </p:grpSp>
      <p:grpSp>
        <p:nvGrpSpPr>
          <p:cNvPr name="Group 15" id="15"/>
          <p:cNvGrpSpPr/>
          <p:nvPr/>
        </p:nvGrpSpPr>
        <p:grpSpPr>
          <a:xfrm rot="0">
            <a:off x="822960" y="1234440"/>
            <a:ext cx="16596360" cy="1577340"/>
            <a:chOff x="0" y="0"/>
            <a:chExt cx="22128480" cy="2103120"/>
          </a:xfrm>
        </p:grpSpPr>
        <p:sp>
          <p:nvSpPr>
            <p:cNvPr name="Freeform 16" id="16"/>
            <p:cNvSpPr/>
            <p:nvPr/>
          </p:nvSpPr>
          <p:spPr>
            <a:xfrm flipH="false" flipV="false" rot="0">
              <a:off x="0" y="0"/>
              <a:ext cx="22128480" cy="2103120"/>
            </a:xfrm>
            <a:custGeom>
              <a:avLst/>
              <a:gdLst/>
              <a:ahLst/>
              <a:cxnLst/>
              <a:rect r="r" b="b" t="t" l="l"/>
              <a:pathLst>
                <a:path h="2103120" w="22128480">
                  <a:moveTo>
                    <a:pt x="0" y="0"/>
                  </a:moveTo>
                  <a:lnTo>
                    <a:pt x="22128480" y="0"/>
                  </a:lnTo>
                  <a:lnTo>
                    <a:pt x="22128480" y="2103120"/>
                  </a:lnTo>
                  <a:lnTo>
                    <a:pt x="0" y="2103120"/>
                  </a:lnTo>
                  <a:close/>
                </a:path>
              </a:pathLst>
            </a:custGeom>
            <a:blipFill>
              <a:blip r:embed="rId3">
                <a:alphaModFix amt="0"/>
              </a:blip>
              <a:stretch>
                <a:fillRect l="0" t="-155016" r="0" b="-155016"/>
              </a:stretch>
            </a:blipFill>
          </p:spPr>
        </p:sp>
        <p:sp>
          <p:nvSpPr>
            <p:cNvPr name="TextBox 17" id="17"/>
            <p:cNvSpPr txBox="true"/>
            <p:nvPr/>
          </p:nvSpPr>
          <p:spPr>
            <a:xfrm>
              <a:off x="0" y="-9525"/>
              <a:ext cx="22128480" cy="2112645"/>
            </a:xfrm>
            <a:prstGeom prst="rect">
              <a:avLst/>
            </a:prstGeom>
          </p:spPr>
          <p:txBody>
            <a:bodyPr anchor="ctr" rtlCol="false" tIns="0" lIns="0" bIns="0" rIns="0"/>
            <a:lstStyle/>
            <a:p>
              <a:pPr algn="l">
                <a:lnSpc>
                  <a:spcPts val="7200"/>
                </a:lnSpc>
              </a:pPr>
              <a:r>
                <a:rPr lang="en-US" sz="6000" b="true">
                  <a:solidFill>
                    <a:srgbClr val="202C30"/>
                  </a:solidFill>
                  <a:latin typeface="Trebuchet MS Bold"/>
                  <a:ea typeface="Trebuchet MS Bold"/>
                  <a:cs typeface="Trebuchet MS Bold"/>
                  <a:sym typeface="Trebuchet MS Bold"/>
                </a:rPr>
                <a:t>From Data Overload</a:t>
              </a:r>
            </a:p>
            <a:p>
              <a:pPr algn="l">
                <a:lnSpc>
                  <a:spcPts val="7200"/>
                </a:lnSpc>
              </a:pPr>
              <a:r>
                <a:rPr lang="en-US" sz="6000" b="true">
                  <a:solidFill>
                    <a:srgbClr val="202C30"/>
                  </a:solidFill>
                  <a:latin typeface="Trebuchet MS Bold"/>
                  <a:ea typeface="Trebuchet MS Bold"/>
                  <a:cs typeface="Trebuchet MS Bold"/>
                  <a:sym typeface="Trebuchet MS Bold"/>
                </a:rPr>
                <a:t>to Actionable Decisions</a:t>
              </a:r>
            </a:p>
          </p:txBody>
        </p:sp>
      </p:grpSp>
      <p:grpSp>
        <p:nvGrpSpPr>
          <p:cNvPr name="Group 18" id="18"/>
          <p:cNvGrpSpPr/>
          <p:nvPr/>
        </p:nvGrpSpPr>
        <p:grpSpPr>
          <a:xfrm rot="0">
            <a:off x="882015" y="3296031"/>
            <a:ext cx="430530" cy="430530"/>
            <a:chOff x="0" y="0"/>
            <a:chExt cx="574040" cy="574040"/>
          </a:xfrm>
        </p:grpSpPr>
        <p:sp>
          <p:nvSpPr>
            <p:cNvPr name="Freeform 19" id="19"/>
            <p:cNvSpPr/>
            <p:nvPr/>
          </p:nvSpPr>
          <p:spPr>
            <a:xfrm flipH="false" flipV="false" rot="0">
              <a:off x="0" y="0"/>
              <a:ext cx="574040" cy="574040"/>
            </a:xfrm>
            <a:custGeom>
              <a:avLst/>
              <a:gdLst/>
              <a:ahLst/>
              <a:cxnLst/>
              <a:rect r="r" b="b" t="t" l="l"/>
              <a:pathLst>
                <a:path h="574040" w="574040">
                  <a:moveTo>
                    <a:pt x="0" y="287020"/>
                  </a:moveTo>
                  <a:cubicBezTo>
                    <a:pt x="0" y="128524"/>
                    <a:pt x="128524" y="0"/>
                    <a:pt x="287020" y="0"/>
                  </a:cubicBezTo>
                  <a:cubicBezTo>
                    <a:pt x="445516" y="0"/>
                    <a:pt x="574040" y="128524"/>
                    <a:pt x="574040" y="287020"/>
                  </a:cubicBezTo>
                  <a:cubicBezTo>
                    <a:pt x="574040" y="445516"/>
                    <a:pt x="445516" y="574040"/>
                    <a:pt x="287020" y="574040"/>
                  </a:cubicBezTo>
                  <a:cubicBezTo>
                    <a:pt x="128524" y="574040"/>
                    <a:pt x="0" y="445516"/>
                    <a:pt x="0" y="287020"/>
                  </a:cubicBezTo>
                  <a:close/>
                </a:path>
              </a:pathLst>
            </a:custGeom>
            <a:solidFill>
              <a:srgbClr val="CFE8E3"/>
            </a:solidFill>
            <a:ln w="19050" cap="sq">
              <a:solidFill>
                <a:srgbClr val="CFE8E3"/>
              </a:solidFill>
              <a:prstDash val="solid"/>
              <a:miter/>
            </a:ln>
          </p:spPr>
        </p:sp>
      </p:grpSp>
      <p:grpSp>
        <p:nvGrpSpPr>
          <p:cNvPr name="Group 20" id="20"/>
          <p:cNvGrpSpPr/>
          <p:nvPr/>
        </p:nvGrpSpPr>
        <p:grpSpPr>
          <a:xfrm rot="0">
            <a:off x="891540" y="3305556"/>
            <a:ext cx="411480" cy="411480"/>
            <a:chOff x="0" y="0"/>
            <a:chExt cx="548640" cy="548640"/>
          </a:xfrm>
        </p:grpSpPr>
        <p:sp>
          <p:nvSpPr>
            <p:cNvPr name="Freeform 21" id="21"/>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3">
                <a:alphaModFix amt="0"/>
              </a:blip>
              <a:stretch>
                <a:fillRect l="-78303" t="0" r="-78303" b="0"/>
              </a:stretch>
            </a:blipFill>
          </p:spPr>
        </p:sp>
        <p:sp>
          <p:nvSpPr>
            <p:cNvPr name="TextBox 22" id="22"/>
            <p:cNvSpPr txBox="true"/>
            <p:nvPr/>
          </p:nvSpPr>
          <p:spPr>
            <a:xfrm>
              <a:off x="0" y="-9525"/>
              <a:ext cx="548640" cy="558165"/>
            </a:xfrm>
            <a:prstGeom prst="rect">
              <a:avLst/>
            </a:prstGeom>
          </p:spPr>
          <p:txBody>
            <a:bodyPr anchor="ctr" rtlCol="false" tIns="0" lIns="0" bIns="0" rIns="0"/>
            <a:lstStyle/>
            <a:p>
              <a:pPr algn="ctr">
                <a:lnSpc>
                  <a:spcPts val="2340"/>
                </a:lnSpc>
              </a:pPr>
              <a:r>
                <a:rPr lang="en-US" sz="1950" b="true">
                  <a:solidFill>
                    <a:srgbClr val="087E83"/>
                  </a:solidFill>
                  <a:latin typeface="Trebuchet MS Bold"/>
                  <a:ea typeface="Trebuchet MS Bold"/>
                  <a:cs typeface="Trebuchet MS Bold"/>
                  <a:sym typeface="Trebuchet MS Bold"/>
                </a:rPr>
                <a:t>1</a:t>
              </a:r>
            </a:p>
          </p:txBody>
        </p:sp>
      </p:grpSp>
      <p:grpSp>
        <p:nvGrpSpPr>
          <p:cNvPr name="Group 23" id="23"/>
          <p:cNvGrpSpPr/>
          <p:nvPr/>
        </p:nvGrpSpPr>
        <p:grpSpPr>
          <a:xfrm rot="0">
            <a:off x="1604772" y="3195828"/>
            <a:ext cx="5692140" cy="548640"/>
            <a:chOff x="0" y="0"/>
            <a:chExt cx="7589520" cy="731520"/>
          </a:xfrm>
        </p:grpSpPr>
        <p:sp>
          <p:nvSpPr>
            <p:cNvPr name="Freeform 24" id="24"/>
            <p:cNvSpPr/>
            <p:nvPr/>
          </p:nvSpPr>
          <p:spPr>
            <a:xfrm flipH="false" flipV="false" rot="0">
              <a:off x="0" y="0"/>
              <a:ext cx="7589520" cy="731520"/>
            </a:xfrm>
            <a:custGeom>
              <a:avLst/>
              <a:gdLst/>
              <a:ahLst/>
              <a:cxnLst/>
              <a:rect r="r" b="b" t="t" l="l"/>
              <a:pathLst>
                <a:path h="731520" w="7589520">
                  <a:moveTo>
                    <a:pt x="0" y="0"/>
                  </a:moveTo>
                  <a:lnTo>
                    <a:pt x="7589520" y="0"/>
                  </a:lnTo>
                  <a:lnTo>
                    <a:pt x="7589520" y="731520"/>
                  </a:lnTo>
                  <a:lnTo>
                    <a:pt x="0" y="731520"/>
                  </a:lnTo>
                  <a:close/>
                </a:path>
              </a:pathLst>
            </a:custGeom>
            <a:blipFill>
              <a:blip r:embed="rId3">
                <a:alphaModFix amt="0"/>
              </a:blip>
              <a:stretch>
                <a:fillRect l="0" t="-152157" r="0" b="-152157"/>
              </a:stretch>
            </a:blipFill>
          </p:spPr>
        </p:sp>
        <p:sp>
          <p:nvSpPr>
            <p:cNvPr name="TextBox 25" id="25"/>
            <p:cNvSpPr txBox="true"/>
            <p:nvPr/>
          </p:nvSpPr>
          <p:spPr>
            <a:xfrm>
              <a:off x="0" y="-9525"/>
              <a:ext cx="7589520" cy="741045"/>
            </a:xfrm>
            <a:prstGeom prst="rect">
              <a:avLst/>
            </a:prstGeom>
          </p:spPr>
          <p:txBody>
            <a:bodyPr anchor="ctr" rtlCol="false" tIns="0" lIns="0" bIns="0" rIns="0"/>
            <a:lstStyle/>
            <a:p>
              <a:pPr algn="l">
                <a:lnSpc>
                  <a:spcPts val="3960"/>
                </a:lnSpc>
              </a:pPr>
              <a:r>
                <a:rPr lang="en-US" sz="3300" b="true">
                  <a:solidFill>
                    <a:srgbClr val="202C30"/>
                  </a:solidFill>
                  <a:latin typeface="Trebuchet MS Bold"/>
                  <a:ea typeface="Trebuchet MS Bold"/>
                  <a:cs typeface="Trebuchet MS Bold"/>
                  <a:sym typeface="Trebuchet MS Bold"/>
                </a:rPr>
                <a:t>Earlier risk detection</a:t>
              </a:r>
            </a:p>
          </p:txBody>
        </p:sp>
      </p:grpSp>
      <p:grpSp>
        <p:nvGrpSpPr>
          <p:cNvPr name="Group 26" id="26"/>
          <p:cNvGrpSpPr/>
          <p:nvPr/>
        </p:nvGrpSpPr>
        <p:grpSpPr>
          <a:xfrm rot="0">
            <a:off x="7584948" y="3195828"/>
            <a:ext cx="9656064" cy="781812"/>
            <a:chOff x="0" y="0"/>
            <a:chExt cx="12874752" cy="1042416"/>
          </a:xfrm>
        </p:grpSpPr>
        <p:sp>
          <p:nvSpPr>
            <p:cNvPr name="Freeform 27" id="27"/>
            <p:cNvSpPr/>
            <p:nvPr/>
          </p:nvSpPr>
          <p:spPr>
            <a:xfrm flipH="false" flipV="false" rot="0">
              <a:off x="0" y="0"/>
              <a:ext cx="12874752" cy="1042416"/>
            </a:xfrm>
            <a:custGeom>
              <a:avLst/>
              <a:gdLst/>
              <a:ahLst/>
              <a:cxnLst/>
              <a:rect r="r" b="b" t="t" l="l"/>
              <a:pathLst>
                <a:path h="1042416" w="12874752">
                  <a:moveTo>
                    <a:pt x="0" y="0"/>
                  </a:moveTo>
                  <a:lnTo>
                    <a:pt x="12874752" y="0"/>
                  </a:lnTo>
                  <a:lnTo>
                    <a:pt x="12874752" y="1042416"/>
                  </a:lnTo>
                  <a:lnTo>
                    <a:pt x="0" y="1042416"/>
                  </a:lnTo>
                  <a:close/>
                </a:path>
              </a:pathLst>
            </a:custGeom>
            <a:blipFill>
              <a:blip r:embed="rId3">
                <a:alphaModFix amt="0"/>
              </a:blip>
              <a:stretch>
                <a:fillRect l="0" t="-190657" r="0" b="-190657"/>
              </a:stretch>
            </a:blipFill>
          </p:spPr>
        </p:sp>
        <p:sp>
          <p:nvSpPr>
            <p:cNvPr name="TextBox 28" id="28"/>
            <p:cNvSpPr txBox="true"/>
            <p:nvPr/>
          </p:nvSpPr>
          <p:spPr>
            <a:xfrm>
              <a:off x="0" y="-66675"/>
              <a:ext cx="12874752" cy="1109091"/>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Identify issues before they become customer-facing problems.</a:t>
              </a:r>
            </a:p>
          </p:txBody>
        </p:sp>
      </p:grpSp>
      <p:grpSp>
        <p:nvGrpSpPr>
          <p:cNvPr name="Group 29" id="29"/>
          <p:cNvGrpSpPr/>
          <p:nvPr/>
        </p:nvGrpSpPr>
        <p:grpSpPr>
          <a:xfrm rot="0">
            <a:off x="882015" y="4228719"/>
            <a:ext cx="430530" cy="430530"/>
            <a:chOff x="0" y="0"/>
            <a:chExt cx="574040" cy="574040"/>
          </a:xfrm>
        </p:grpSpPr>
        <p:sp>
          <p:nvSpPr>
            <p:cNvPr name="Freeform 30" id="30"/>
            <p:cNvSpPr/>
            <p:nvPr/>
          </p:nvSpPr>
          <p:spPr>
            <a:xfrm flipH="false" flipV="false" rot="0">
              <a:off x="0" y="0"/>
              <a:ext cx="574040" cy="574040"/>
            </a:xfrm>
            <a:custGeom>
              <a:avLst/>
              <a:gdLst/>
              <a:ahLst/>
              <a:cxnLst/>
              <a:rect r="r" b="b" t="t" l="l"/>
              <a:pathLst>
                <a:path h="574040" w="574040">
                  <a:moveTo>
                    <a:pt x="0" y="287020"/>
                  </a:moveTo>
                  <a:cubicBezTo>
                    <a:pt x="0" y="128524"/>
                    <a:pt x="128524" y="0"/>
                    <a:pt x="287020" y="0"/>
                  </a:cubicBezTo>
                  <a:cubicBezTo>
                    <a:pt x="445516" y="0"/>
                    <a:pt x="574040" y="128524"/>
                    <a:pt x="574040" y="287020"/>
                  </a:cubicBezTo>
                  <a:cubicBezTo>
                    <a:pt x="574040" y="445516"/>
                    <a:pt x="445516" y="574040"/>
                    <a:pt x="287020" y="574040"/>
                  </a:cubicBezTo>
                  <a:cubicBezTo>
                    <a:pt x="128524" y="574040"/>
                    <a:pt x="0" y="445516"/>
                    <a:pt x="0" y="287020"/>
                  </a:cubicBezTo>
                  <a:close/>
                </a:path>
              </a:pathLst>
            </a:custGeom>
            <a:solidFill>
              <a:srgbClr val="CFE8E3"/>
            </a:solidFill>
            <a:ln w="19050" cap="sq">
              <a:solidFill>
                <a:srgbClr val="CFE8E3"/>
              </a:solidFill>
              <a:prstDash val="solid"/>
              <a:miter/>
            </a:ln>
          </p:spPr>
        </p:sp>
      </p:grpSp>
      <p:grpSp>
        <p:nvGrpSpPr>
          <p:cNvPr name="Group 31" id="31"/>
          <p:cNvGrpSpPr/>
          <p:nvPr/>
        </p:nvGrpSpPr>
        <p:grpSpPr>
          <a:xfrm rot="0">
            <a:off x="891540" y="4238244"/>
            <a:ext cx="411480" cy="411480"/>
            <a:chOff x="0" y="0"/>
            <a:chExt cx="548640" cy="548640"/>
          </a:xfrm>
        </p:grpSpPr>
        <p:sp>
          <p:nvSpPr>
            <p:cNvPr name="Freeform 32" id="32"/>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3">
                <a:alphaModFix amt="0"/>
              </a:blip>
              <a:stretch>
                <a:fillRect l="-78303" t="0" r="-78303" b="0"/>
              </a:stretch>
            </a:blipFill>
          </p:spPr>
        </p:sp>
        <p:sp>
          <p:nvSpPr>
            <p:cNvPr name="TextBox 33" id="33"/>
            <p:cNvSpPr txBox="true"/>
            <p:nvPr/>
          </p:nvSpPr>
          <p:spPr>
            <a:xfrm>
              <a:off x="0" y="-9525"/>
              <a:ext cx="548640" cy="558165"/>
            </a:xfrm>
            <a:prstGeom prst="rect">
              <a:avLst/>
            </a:prstGeom>
          </p:spPr>
          <p:txBody>
            <a:bodyPr anchor="ctr" rtlCol="false" tIns="0" lIns="0" bIns="0" rIns="0"/>
            <a:lstStyle/>
            <a:p>
              <a:pPr algn="ctr">
                <a:lnSpc>
                  <a:spcPts val="2340"/>
                </a:lnSpc>
              </a:pPr>
              <a:r>
                <a:rPr lang="en-US" sz="1950" b="true">
                  <a:solidFill>
                    <a:srgbClr val="087E83"/>
                  </a:solidFill>
                  <a:latin typeface="Trebuchet MS Bold"/>
                  <a:ea typeface="Trebuchet MS Bold"/>
                  <a:cs typeface="Trebuchet MS Bold"/>
                  <a:sym typeface="Trebuchet MS Bold"/>
                </a:rPr>
                <a:t>2</a:t>
              </a:r>
            </a:p>
          </p:txBody>
        </p:sp>
      </p:grpSp>
      <p:grpSp>
        <p:nvGrpSpPr>
          <p:cNvPr name="Group 34" id="34"/>
          <p:cNvGrpSpPr/>
          <p:nvPr/>
        </p:nvGrpSpPr>
        <p:grpSpPr>
          <a:xfrm rot="0">
            <a:off x="1604772" y="4128516"/>
            <a:ext cx="5692140" cy="548640"/>
            <a:chOff x="0" y="0"/>
            <a:chExt cx="7589520" cy="731520"/>
          </a:xfrm>
        </p:grpSpPr>
        <p:sp>
          <p:nvSpPr>
            <p:cNvPr name="Freeform 35" id="35"/>
            <p:cNvSpPr/>
            <p:nvPr/>
          </p:nvSpPr>
          <p:spPr>
            <a:xfrm flipH="false" flipV="false" rot="0">
              <a:off x="0" y="0"/>
              <a:ext cx="7589520" cy="731520"/>
            </a:xfrm>
            <a:custGeom>
              <a:avLst/>
              <a:gdLst/>
              <a:ahLst/>
              <a:cxnLst/>
              <a:rect r="r" b="b" t="t" l="l"/>
              <a:pathLst>
                <a:path h="731520" w="7589520">
                  <a:moveTo>
                    <a:pt x="0" y="0"/>
                  </a:moveTo>
                  <a:lnTo>
                    <a:pt x="7589520" y="0"/>
                  </a:lnTo>
                  <a:lnTo>
                    <a:pt x="7589520" y="731520"/>
                  </a:lnTo>
                  <a:lnTo>
                    <a:pt x="0" y="731520"/>
                  </a:lnTo>
                  <a:close/>
                </a:path>
              </a:pathLst>
            </a:custGeom>
            <a:blipFill>
              <a:blip r:embed="rId3">
                <a:alphaModFix amt="0"/>
              </a:blip>
              <a:stretch>
                <a:fillRect l="0" t="-152157" r="0" b="-152157"/>
              </a:stretch>
            </a:blipFill>
          </p:spPr>
        </p:sp>
        <p:sp>
          <p:nvSpPr>
            <p:cNvPr name="TextBox 36" id="36"/>
            <p:cNvSpPr txBox="true"/>
            <p:nvPr/>
          </p:nvSpPr>
          <p:spPr>
            <a:xfrm>
              <a:off x="0" y="-9525"/>
              <a:ext cx="7589520" cy="741045"/>
            </a:xfrm>
            <a:prstGeom prst="rect">
              <a:avLst/>
            </a:prstGeom>
          </p:spPr>
          <p:txBody>
            <a:bodyPr anchor="ctr" rtlCol="false" tIns="0" lIns="0" bIns="0" rIns="0"/>
            <a:lstStyle/>
            <a:p>
              <a:pPr algn="l">
                <a:lnSpc>
                  <a:spcPts val="3960"/>
                </a:lnSpc>
              </a:pPr>
              <a:r>
                <a:rPr lang="en-US" sz="3300" b="true">
                  <a:solidFill>
                    <a:srgbClr val="202C30"/>
                  </a:solidFill>
                  <a:latin typeface="Trebuchet MS Bold"/>
                  <a:ea typeface="Trebuchet MS Bold"/>
                  <a:cs typeface="Trebuchet MS Bold"/>
                  <a:sym typeface="Trebuchet MS Bold"/>
                </a:rPr>
                <a:t>Faster decision support</a:t>
              </a:r>
            </a:p>
          </p:txBody>
        </p:sp>
      </p:grpSp>
      <p:grpSp>
        <p:nvGrpSpPr>
          <p:cNvPr name="Group 37" id="37"/>
          <p:cNvGrpSpPr/>
          <p:nvPr/>
        </p:nvGrpSpPr>
        <p:grpSpPr>
          <a:xfrm rot="0">
            <a:off x="7584948" y="4128516"/>
            <a:ext cx="9656064" cy="781812"/>
            <a:chOff x="0" y="0"/>
            <a:chExt cx="12874752" cy="1042416"/>
          </a:xfrm>
        </p:grpSpPr>
        <p:sp>
          <p:nvSpPr>
            <p:cNvPr name="Freeform 38" id="38"/>
            <p:cNvSpPr/>
            <p:nvPr/>
          </p:nvSpPr>
          <p:spPr>
            <a:xfrm flipH="false" flipV="false" rot="0">
              <a:off x="0" y="0"/>
              <a:ext cx="12874752" cy="1042416"/>
            </a:xfrm>
            <a:custGeom>
              <a:avLst/>
              <a:gdLst/>
              <a:ahLst/>
              <a:cxnLst/>
              <a:rect r="r" b="b" t="t" l="l"/>
              <a:pathLst>
                <a:path h="1042416" w="12874752">
                  <a:moveTo>
                    <a:pt x="0" y="0"/>
                  </a:moveTo>
                  <a:lnTo>
                    <a:pt x="12874752" y="0"/>
                  </a:lnTo>
                  <a:lnTo>
                    <a:pt x="12874752" y="1042416"/>
                  </a:lnTo>
                  <a:lnTo>
                    <a:pt x="0" y="1042416"/>
                  </a:lnTo>
                  <a:close/>
                </a:path>
              </a:pathLst>
            </a:custGeom>
            <a:blipFill>
              <a:blip r:embed="rId3">
                <a:alphaModFix amt="0"/>
              </a:blip>
              <a:stretch>
                <a:fillRect l="0" t="-190657" r="0" b="-190657"/>
              </a:stretch>
            </a:blipFill>
          </p:spPr>
        </p:sp>
        <p:sp>
          <p:nvSpPr>
            <p:cNvPr name="TextBox 39" id="39"/>
            <p:cNvSpPr txBox="true"/>
            <p:nvPr/>
          </p:nvSpPr>
          <p:spPr>
            <a:xfrm>
              <a:off x="0" y="-66675"/>
              <a:ext cx="12874752" cy="1109091"/>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Reduce manual effort connecting sales, stock, orders and suppliers.</a:t>
              </a:r>
            </a:p>
          </p:txBody>
        </p:sp>
      </p:grpSp>
      <p:grpSp>
        <p:nvGrpSpPr>
          <p:cNvPr name="Group 40" id="40"/>
          <p:cNvGrpSpPr/>
          <p:nvPr/>
        </p:nvGrpSpPr>
        <p:grpSpPr>
          <a:xfrm rot="0">
            <a:off x="882015" y="5161407"/>
            <a:ext cx="430530" cy="430530"/>
            <a:chOff x="0" y="0"/>
            <a:chExt cx="574040" cy="574040"/>
          </a:xfrm>
        </p:grpSpPr>
        <p:sp>
          <p:nvSpPr>
            <p:cNvPr name="Freeform 41" id="41"/>
            <p:cNvSpPr/>
            <p:nvPr/>
          </p:nvSpPr>
          <p:spPr>
            <a:xfrm flipH="false" flipV="false" rot="0">
              <a:off x="0" y="0"/>
              <a:ext cx="574040" cy="574040"/>
            </a:xfrm>
            <a:custGeom>
              <a:avLst/>
              <a:gdLst/>
              <a:ahLst/>
              <a:cxnLst/>
              <a:rect r="r" b="b" t="t" l="l"/>
              <a:pathLst>
                <a:path h="574040" w="574040">
                  <a:moveTo>
                    <a:pt x="0" y="287020"/>
                  </a:moveTo>
                  <a:cubicBezTo>
                    <a:pt x="0" y="128524"/>
                    <a:pt x="128524" y="0"/>
                    <a:pt x="287020" y="0"/>
                  </a:cubicBezTo>
                  <a:cubicBezTo>
                    <a:pt x="445516" y="0"/>
                    <a:pt x="574040" y="128524"/>
                    <a:pt x="574040" y="287020"/>
                  </a:cubicBezTo>
                  <a:cubicBezTo>
                    <a:pt x="574040" y="445516"/>
                    <a:pt x="445516" y="574040"/>
                    <a:pt x="287020" y="574040"/>
                  </a:cubicBezTo>
                  <a:cubicBezTo>
                    <a:pt x="128524" y="574040"/>
                    <a:pt x="0" y="445516"/>
                    <a:pt x="0" y="287020"/>
                  </a:cubicBezTo>
                  <a:close/>
                </a:path>
              </a:pathLst>
            </a:custGeom>
            <a:solidFill>
              <a:srgbClr val="CFE8E3"/>
            </a:solidFill>
            <a:ln w="19050" cap="sq">
              <a:solidFill>
                <a:srgbClr val="CFE8E3"/>
              </a:solidFill>
              <a:prstDash val="solid"/>
              <a:miter/>
            </a:ln>
          </p:spPr>
        </p:sp>
      </p:grpSp>
      <p:grpSp>
        <p:nvGrpSpPr>
          <p:cNvPr name="Group 42" id="42"/>
          <p:cNvGrpSpPr/>
          <p:nvPr/>
        </p:nvGrpSpPr>
        <p:grpSpPr>
          <a:xfrm rot="0">
            <a:off x="891540" y="5170932"/>
            <a:ext cx="411480" cy="411480"/>
            <a:chOff x="0" y="0"/>
            <a:chExt cx="548640" cy="548640"/>
          </a:xfrm>
        </p:grpSpPr>
        <p:sp>
          <p:nvSpPr>
            <p:cNvPr name="Freeform 43" id="43"/>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3">
                <a:alphaModFix amt="0"/>
              </a:blip>
              <a:stretch>
                <a:fillRect l="-78303" t="0" r="-78303" b="0"/>
              </a:stretch>
            </a:blipFill>
          </p:spPr>
        </p:sp>
        <p:sp>
          <p:nvSpPr>
            <p:cNvPr name="TextBox 44" id="44"/>
            <p:cNvSpPr txBox="true"/>
            <p:nvPr/>
          </p:nvSpPr>
          <p:spPr>
            <a:xfrm>
              <a:off x="0" y="-9525"/>
              <a:ext cx="548640" cy="558165"/>
            </a:xfrm>
            <a:prstGeom prst="rect">
              <a:avLst/>
            </a:prstGeom>
          </p:spPr>
          <p:txBody>
            <a:bodyPr anchor="ctr" rtlCol="false" tIns="0" lIns="0" bIns="0" rIns="0"/>
            <a:lstStyle/>
            <a:p>
              <a:pPr algn="ctr">
                <a:lnSpc>
                  <a:spcPts val="2340"/>
                </a:lnSpc>
              </a:pPr>
              <a:r>
                <a:rPr lang="en-US" sz="1950" b="true">
                  <a:solidFill>
                    <a:srgbClr val="087E83"/>
                  </a:solidFill>
                  <a:latin typeface="Trebuchet MS Bold"/>
                  <a:ea typeface="Trebuchet MS Bold"/>
                  <a:cs typeface="Trebuchet MS Bold"/>
                  <a:sym typeface="Trebuchet MS Bold"/>
                </a:rPr>
                <a:t>3</a:t>
              </a:r>
            </a:p>
          </p:txBody>
        </p:sp>
      </p:grpSp>
      <p:grpSp>
        <p:nvGrpSpPr>
          <p:cNvPr name="Group 45" id="45"/>
          <p:cNvGrpSpPr/>
          <p:nvPr/>
        </p:nvGrpSpPr>
        <p:grpSpPr>
          <a:xfrm rot="0">
            <a:off x="1604772" y="5061204"/>
            <a:ext cx="5692140" cy="548640"/>
            <a:chOff x="0" y="0"/>
            <a:chExt cx="7589520" cy="731520"/>
          </a:xfrm>
        </p:grpSpPr>
        <p:sp>
          <p:nvSpPr>
            <p:cNvPr name="Freeform 46" id="46"/>
            <p:cNvSpPr/>
            <p:nvPr/>
          </p:nvSpPr>
          <p:spPr>
            <a:xfrm flipH="false" flipV="false" rot="0">
              <a:off x="0" y="0"/>
              <a:ext cx="7589520" cy="731520"/>
            </a:xfrm>
            <a:custGeom>
              <a:avLst/>
              <a:gdLst/>
              <a:ahLst/>
              <a:cxnLst/>
              <a:rect r="r" b="b" t="t" l="l"/>
              <a:pathLst>
                <a:path h="731520" w="7589520">
                  <a:moveTo>
                    <a:pt x="0" y="0"/>
                  </a:moveTo>
                  <a:lnTo>
                    <a:pt x="7589520" y="0"/>
                  </a:lnTo>
                  <a:lnTo>
                    <a:pt x="7589520" y="731520"/>
                  </a:lnTo>
                  <a:lnTo>
                    <a:pt x="0" y="731520"/>
                  </a:lnTo>
                  <a:close/>
                </a:path>
              </a:pathLst>
            </a:custGeom>
            <a:blipFill>
              <a:blip r:embed="rId3">
                <a:alphaModFix amt="0"/>
              </a:blip>
              <a:stretch>
                <a:fillRect l="0" t="-152157" r="0" b="-152157"/>
              </a:stretch>
            </a:blipFill>
          </p:spPr>
        </p:sp>
        <p:sp>
          <p:nvSpPr>
            <p:cNvPr name="TextBox 47" id="47"/>
            <p:cNvSpPr txBox="true"/>
            <p:nvPr/>
          </p:nvSpPr>
          <p:spPr>
            <a:xfrm>
              <a:off x="0" y="-9525"/>
              <a:ext cx="7589520" cy="741045"/>
            </a:xfrm>
            <a:prstGeom prst="rect">
              <a:avLst/>
            </a:prstGeom>
          </p:spPr>
          <p:txBody>
            <a:bodyPr anchor="ctr" rtlCol="false" tIns="0" lIns="0" bIns="0" rIns="0"/>
            <a:lstStyle/>
            <a:p>
              <a:pPr algn="l">
                <a:lnSpc>
                  <a:spcPts val="3960"/>
                </a:lnSpc>
              </a:pPr>
              <a:r>
                <a:rPr lang="en-US" sz="3300" b="true">
                  <a:solidFill>
                    <a:srgbClr val="202C30"/>
                  </a:solidFill>
                  <a:latin typeface="Trebuchet MS Bold"/>
                  <a:ea typeface="Trebuchet MS Bold"/>
                  <a:cs typeface="Trebuchet MS Bold"/>
                  <a:sym typeface="Trebuchet MS Bold"/>
                </a:rPr>
                <a:t>Prioritized operations</a:t>
              </a:r>
            </a:p>
          </p:txBody>
        </p:sp>
      </p:grpSp>
      <p:grpSp>
        <p:nvGrpSpPr>
          <p:cNvPr name="Group 48" id="48"/>
          <p:cNvGrpSpPr/>
          <p:nvPr/>
        </p:nvGrpSpPr>
        <p:grpSpPr>
          <a:xfrm rot="0">
            <a:off x="7584948" y="5061204"/>
            <a:ext cx="9656064" cy="781812"/>
            <a:chOff x="0" y="0"/>
            <a:chExt cx="12874752" cy="1042416"/>
          </a:xfrm>
        </p:grpSpPr>
        <p:sp>
          <p:nvSpPr>
            <p:cNvPr name="Freeform 49" id="49"/>
            <p:cNvSpPr/>
            <p:nvPr/>
          </p:nvSpPr>
          <p:spPr>
            <a:xfrm flipH="false" flipV="false" rot="0">
              <a:off x="0" y="0"/>
              <a:ext cx="12874752" cy="1042416"/>
            </a:xfrm>
            <a:custGeom>
              <a:avLst/>
              <a:gdLst/>
              <a:ahLst/>
              <a:cxnLst/>
              <a:rect r="r" b="b" t="t" l="l"/>
              <a:pathLst>
                <a:path h="1042416" w="12874752">
                  <a:moveTo>
                    <a:pt x="0" y="0"/>
                  </a:moveTo>
                  <a:lnTo>
                    <a:pt x="12874752" y="0"/>
                  </a:lnTo>
                  <a:lnTo>
                    <a:pt x="12874752" y="1042416"/>
                  </a:lnTo>
                  <a:lnTo>
                    <a:pt x="0" y="1042416"/>
                  </a:lnTo>
                  <a:close/>
                </a:path>
              </a:pathLst>
            </a:custGeom>
            <a:blipFill>
              <a:blip r:embed="rId3">
                <a:alphaModFix amt="0"/>
              </a:blip>
              <a:stretch>
                <a:fillRect l="0" t="-190657" r="0" b="-190657"/>
              </a:stretch>
            </a:blipFill>
          </p:spPr>
        </p:sp>
        <p:sp>
          <p:nvSpPr>
            <p:cNvPr name="TextBox 50" id="50"/>
            <p:cNvSpPr txBox="true"/>
            <p:nvPr/>
          </p:nvSpPr>
          <p:spPr>
            <a:xfrm>
              <a:off x="0" y="-66675"/>
              <a:ext cx="12874752" cy="1109091"/>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Separate critical risks from signals that only need monitoring.</a:t>
              </a:r>
            </a:p>
          </p:txBody>
        </p:sp>
      </p:grpSp>
      <p:grpSp>
        <p:nvGrpSpPr>
          <p:cNvPr name="Group 51" id="51"/>
          <p:cNvGrpSpPr/>
          <p:nvPr/>
        </p:nvGrpSpPr>
        <p:grpSpPr>
          <a:xfrm rot="0">
            <a:off x="882015" y="6094095"/>
            <a:ext cx="430530" cy="430530"/>
            <a:chOff x="0" y="0"/>
            <a:chExt cx="574040" cy="574040"/>
          </a:xfrm>
        </p:grpSpPr>
        <p:sp>
          <p:nvSpPr>
            <p:cNvPr name="Freeform 52" id="52"/>
            <p:cNvSpPr/>
            <p:nvPr/>
          </p:nvSpPr>
          <p:spPr>
            <a:xfrm flipH="false" flipV="false" rot="0">
              <a:off x="0" y="0"/>
              <a:ext cx="574040" cy="574040"/>
            </a:xfrm>
            <a:custGeom>
              <a:avLst/>
              <a:gdLst/>
              <a:ahLst/>
              <a:cxnLst/>
              <a:rect r="r" b="b" t="t" l="l"/>
              <a:pathLst>
                <a:path h="574040" w="574040">
                  <a:moveTo>
                    <a:pt x="0" y="287020"/>
                  </a:moveTo>
                  <a:cubicBezTo>
                    <a:pt x="0" y="128524"/>
                    <a:pt x="128524" y="0"/>
                    <a:pt x="287020" y="0"/>
                  </a:cubicBezTo>
                  <a:cubicBezTo>
                    <a:pt x="445516" y="0"/>
                    <a:pt x="574040" y="128524"/>
                    <a:pt x="574040" y="287020"/>
                  </a:cubicBezTo>
                  <a:cubicBezTo>
                    <a:pt x="574040" y="445516"/>
                    <a:pt x="445516" y="574040"/>
                    <a:pt x="287020" y="574040"/>
                  </a:cubicBezTo>
                  <a:cubicBezTo>
                    <a:pt x="128524" y="574040"/>
                    <a:pt x="0" y="445516"/>
                    <a:pt x="0" y="287020"/>
                  </a:cubicBezTo>
                  <a:close/>
                </a:path>
              </a:pathLst>
            </a:custGeom>
            <a:solidFill>
              <a:srgbClr val="CFE8E3"/>
            </a:solidFill>
            <a:ln w="19050" cap="sq">
              <a:solidFill>
                <a:srgbClr val="CFE8E3"/>
              </a:solidFill>
              <a:prstDash val="solid"/>
              <a:miter/>
            </a:ln>
          </p:spPr>
        </p:sp>
      </p:grpSp>
      <p:grpSp>
        <p:nvGrpSpPr>
          <p:cNvPr name="Group 53" id="53"/>
          <p:cNvGrpSpPr/>
          <p:nvPr/>
        </p:nvGrpSpPr>
        <p:grpSpPr>
          <a:xfrm rot="0">
            <a:off x="891540" y="6103620"/>
            <a:ext cx="411480" cy="411480"/>
            <a:chOff x="0" y="0"/>
            <a:chExt cx="548640" cy="548640"/>
          </a:xfrm>
        </p:grpSpPr>
        <p:sp>
          <p:nvSpPr>
            <p:cNvPr name="Freeform 54" id="54"/>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3">
                <a:alphaModFix amt="0"/>
              </a:blip>
              <a:stretch>
                <a:fillRect l="-78303" t="0" r="-78303" b="0"/>
              </a:stretch>
            </a:blipFill>
          </p:spPr>
        </p:sp>
        <p:sp>
          <p:nvSpPr>
            <p:cNvPr name="TextBox 55" id="55"/>
            <p:cNvSpPr txBox="true"/>
            <p:nvPr/>
          </p:nvSpPr>
          <p:spPr>
            <a:xfrm>
              <a:off x="0" y="-9525"/>
              <a:ext cx="548640" cy="558165"/>
            </a:xfrm>
            <a:prstGeom prst="rect">
              <a:avLst/>
            </a:prstGeom>
          </p:spPr>
          <p:txBody>
            <a:bodyPr anchor="ctr" rtlCol="false" tIns="0" lIns="0" bIns="0" rIns="0"/>
            <a:lstStyle/>
            <a:p>
              <a:pPr algn="ctr">
                <a:lnSpc>
                  <a:spcPts val="2340"/>
                </a:lnSpc>
              </a:pPr>
              <a:r>
                <a:rPr lang="en-US" sz="1950" b="true">
                  <a:solidFill>
                    <a:srgbClr val="087E83"/>
                  </a:solidFill>
                  <a:latin typeface="Trebuchet MS Bold"/>
                  <a:ea typeface="Trebuchet MS Bold"/>
                  <a:cs typeface="Trebuchet MS Bold"/>
                  <a:sym typeface="Trebuchet MS Bold"/>
                </a:rPr>
                <a:t>4</a:t>
              </a:r>
            </a:p>
          </p:txBody>
        </p:sp>
      </p:grpSp>
      <p:grpSp>
        <p:nvGrpSpPr>
          <p:cNvPr name="Group 56" id="56"/>
          <p:cNvGrpSpPr/>
          <p:nvPr/>
        </p:nvGrpSpPr>
        <p:grpSpPr>
          <a:xfrm rot="0">
            <a:off x="1604772" y="5993892"/>
            <a:ext cx="5692140" cy="548640"/>
            <a:chOff x="0" y="0"/>
            <a:chExt cx="7589520" cy="731520"/>
          </a:xfrm>
        </p:grpSpPr>
        <p:sp>
          <p:nvSpPr>
            <p:cNvPr name="Freeform 57" id="57"/>
            <p:cNvSpPr/>
            <p:nvPr/>
          </p:nvSpPr>
          <p:spPr>
            <a:xfrm flipH="false" flipV="false" rot="0">
              <a:off x="0" y="0"/>
              <a:ext cx="7589520" cy="731520"/>
            </a:xfrm>
            <a:custGeom>
              <a:avLst/>
              <a:gdLst/>
              <a:ahLst/>
              <a:cxnLst/>
              <a:rect r="r" b="b" t="t" l="l"/>
              <a:pathLst>
                <a:path h="731520" w="7589520">
                  <a:moveTo>
                    <a:pt x="0" y="0"/>
                  </a:moveTo>
                  <a:lnTo>
                    <a:pt x="7589520" y="0"/>
                  </a:lnTo>
                  <a:lnTo>
                    <a:pt x="7589520" y="731520"/>
                  </a:lnTo>
                  <a:lnTo>
                    <a:pt x="0" y="731520"/>
                  </a:lnTo>
                  <a:close/>
                </a:path>
              </a:pathLst>
            </a:custGeom>
            <a:blipFill>
              <a:blip r:embed="rId3">
                <a:alphaModFix amt="0"/>
              </a:blip>
              <a:stretch>
                <a:fillRect l="0" t="-152157" r="0" b="-152157"/>
              </a:stretch>
            </a:blipFill>
          </p:spPr>
        </p:sp>
        <p:sp>
          <p:nvSpPr>
            <p:cNvPr name="TextBox 58" id="58"/>
            <p:cNvSpPr txBox="true"/>
            <p:nvPr/>
          </p:nvSpPr>
          <p:spPr>
            <a:xfrm>
              <a:off x="0" y="-9525"/>
              <a:ext cx="7589520" cy="741045"/>
            </a:xfrm>
            <a:prstGeom prst="rect">
              <a:avLst/>
            </a:prstGeom>
          </p:spPr>
          <p:txBody>
            <a:bodyPr anchor="ctr" rtlCol="false" tIns="0" lIns="0" bIns="0" rIns="0"/>
            <a:lstStyle/>
            <a:p>
              <a:pPr algn="l">
                <a:lnSpc>
                  <a:spcPts val="3960"/>
                </a:lnSpc>
              </a:pPr>
              <a:r>
                <a:rPr lang="en-US" sz="3300" b="true">
                  <a:solidFill>
                    <a:srgbClr val="202C30"/>
                  </a:solidFill>
                  <a:latin typeface="Trebuchet MS Bold"/>
                  <a:ea typeface="Trebuchet MS Bold"/>
                  <a:cs typeface="Trebuchet MS Bold"/>
                  <a:sym typeface="Trebuchet MS Bold"/>
                </a:rPr>
                <a:t>Preventive action</a:t>
              </a:r>
            </a:p>
          </p:txBody>
        </p:sp>
      </p:grpSp>
      <p:grpSp>
        <p:nvGrpSpPr>
          <p:cNvPr name="Group 59" id="59"/>
          <p:cNvGrpSpPr/>
          <p:nvPr/>
        </p:nvGrpSpPr>
        <p:grpSpPr>
          <a:xfrm rot="0">
            <a:off x="7584948" y="5993892"/>
            <a:ext cx="9656064" cy="781812"/>
            <a:chOff x="0" y="0"/>
            <a:chExt cx="12874752" cy="1042416"/>
          </a:xfrm>
        </p:grpSpPr>
        <p:sp>
          <p:nvSpPr>
            <p:cNvPr name="Freeform 60" id="60"/>
            <p:cNvSpPr/>
            <p:nvPr/>
          </p:nvSpPr>
          <p:spPr>
            <a:xfrm flipH="false" flipV="false" rot="0">
              <a:off x="0" y="0"/>
              <a:ext cx="12874752" cy="1042416"/>
            </a:xfrm>
            <a:custGeom>
              <a:avLst/>
              <a:gdLst/>
              <a:ahLst/>
              <a:cxnLst/>
              <a:rect r="r" b="b" t="t" l="l"/>
              <a:pathLst>
                <a:path h="1042416" w="12874752">
                  <a:moveTo>
                    <a:pt x="0" y="0"/>
                  </a:moveTo>
                  <a:lnTo>
                    <a:pt x="12874752" y="0"/>
                  </a:lnTo>
                  <a:lnTo>
                    <a:pt x="12874752" y="1042416"/>
                  </a:lnTo>
                  <a:lnTo>
                    <a:pt x="0" y="1042416"/>
                  </a:lnTo>
                  <a:close/>
                </a:path>
              </a:pathLst>
            </a:custGeom>
            <a:blipFill>
              <a:blip r:embed="rId3">
                <a:alphaModFix amt="0"/>
              </a:blip>
              <a:stretch>
                <a:fillRect l="0" t="-190657" r="0" b="-190657"/>
              </a:stretch>
            </a:blipFill>
          </p:spPr>
        </p:sp>
        <p:sp>
          <p:nvSpPr>
            <p:cNvPr name="TextBox 61" id="61"/>
            <p:cNvSpPr txBox="true"/>
            <p:nvPr/>
          </p:nvSpPr>
          <p:spPr>
            <a:xfrm>
              <a:off x="0" y="-66675"/>
              <a:ext cx="12874752" cy="1109091"/>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Act while there is still time to intervene, not after disruption.</a:t>
              </a:r>
            </a:p>
          </p:txBody>
        </p:sp>
      </p:grpSp>
      <p:grpSp>
        <p:nvGrpSpPr>
          <p:cNvPr name="Group 62" id="62"/>
          <p:cNvGrpSpPr/>
          <p:nvPr/>
        </p:nvGrpSpPr>
        <p:grpSpPr>
          <a:xfrm rot="0">
            <a:off x="882015" y="7026783"/>
            <a:ext cx="430530" cy="430530"/>
            <a:chOff x="0" y="0"/>
            <a:chExt cx="574040" cy="574040"/>
          </a:xfrm>
        </p:grpSpPr>
        <p:sp>
          <p:nvSpPr>
            <p:cNvPr name="Freeform 63" id="63"/>
            <p:cNvSpPr/>
            <p:nvPr/>
          </p:nvSpPr>
          <p:spPr>
            <a:xfrm flipH="false" flipV="false" rot="0">
              <a:off x="0" y="0"/>
              <a:ext cx="574040" cy="574040"/>
            </a:xfrm>
            <a:custGeom>
              <a:avLst/>
              <a:gdLst/>
              <a:ahLst/>
              <a:cxnLst/>
              <a:rect r="r" b="b" t="t" l="l"/>
              <a:pathLst>
                <a:path h="574040" w="574040">
                  <a:moveTo>
                    <a:pt x="0" y="287020"/>
                  </a:moveTo>
                  <a:cubicBezTo>
                    <a:pt x="0" y="128524"/>
                    <a:pt x="128524" y="0"/>
                    <a:pt x="287020" y="0"/>
                  </a:cubicBezTo>
                  <a:cubicBezTo>
                    <a:pt x="445516" y="0"/>
                    <a:pt x="574040" y="128524"/>
                    <a:pt x="574040" y="287020"/>
                  </a:cubicBezTo>
                  <a:cubicBezTo>
                    <a:pt x="574040" y="445516"/>
                    <a:pt x="445516" y="574040"/>
                    <a:pt x="287020" y="574040"/>
                  </a:cubicBezTo>
                  <a:cubicBezTo>
                    <a:pt x="128524" y="574040"/>
                    <a:pt x="0" y="445516"/>
                    <a:pt x="0" y="287020"/>
                  </a:cubicBezTo>
                  <a:close/>
                </a:path>
              </a:pathLst>
            </a:custGeom>
            <a:solidFill>
              <a:srgbClr val="CFE8E3"/>
            </a:solidFill>
            <a:ln w="19050" cap="sq">
              <a:solidFill>
                <a:srgbClr val="CFE8E3"/>
              </a:solidFill>
              <a:prstDash val="solid"/>
              <a:miter/>
            </a:ln>
          </p:spPr>
        </p:sp>
      </p:grpSp>
      <p:grpSp>
        <p:nvGrpSpPr>
          <p:cNvPr name="Group 64" id="64"/>
          <p:cNvGrpSpPr/>
          <p:nvPr/>
        </p:nvGrpSpPr>
        <p:grpSpPr>
          <a:xfrm rot="0">
            <a:off x="891540" y="7036308"/>
            <a:ext cx="411480" cy="411480"/>
            <a:chOff x="0" y="0"/>
            <a:chExt cx="548640" cy="548640"/>
          </a:xfrm>
        </p:grpSpPr>
        <p:sp>
          <p:nvSpPr>
            <p:cNvPr name="Freeform 65" id="65"/>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3">
                <a:alphaModFix amt="0"/>
              </a:blip>
              <a:stretch>
                <a:fillRect l="-78303" t="0" r="-78303" b="0"/>
              </a:stretch>
            </a:blipFill>
          </p:spPr>
        </p:sp>
        <p:sp>
          <p:nvSpPr>
            <p:cNvPr name="TextBox 66" id="66"/>
            <p:cNvSpPr txBox="true"/>
            <p:nvPr/>
          </p:nvSpPr>
          <p:spPr>
            <a:xfrm>
              <a:off x="0" y="-9525"/>
              <a:ext cx="548640" cy="558165"/>
            </a:xfrm>
            <a:prstGeom prst="rect">
              <a:avLst/>
            </a:prstGeom>
          </p:spPr>
          <p:txBody>
            <a:bodyPr anchor="ctr" rtlCol="false" tIns="0" lIns="0" bIns="0" rIns="0"/>
            <a:lstStyle/>
            <a:p>
              <a:pPr algn="ctr">
                <a:lnSpc>
                  <a:spcPts val="2340"/>
                </a:lnSpc>
              </a:pPr>
              <a:r>
                <a:rPr lang="en-US" sz="1950" b="true">
                  <a:solidFill>
                    <a:srgbClr val="087E83"/>
                  </a:solidFill>
                  <a:latin typeface="Trebuchet MS Bold"/>
                  <a:ea typeface="Trebuchet MS Bold"/>
                  <a:cs typeface="Trebuchet MS Bold"/>
                  <a:sym typeface="Trebuchet MS Bold"/>
                </a:rPr>
                <a:t>5</a:t>
              </a:r>
            </a:p>
          </p:txBody>
        </p:sp>
      </p:grpSp>
      <p:grpSp>
        <p:nvGrpSpPr>
          <p:cNvPr name="Group 67" id="67"/>
          <p:cNvGrpSpPr/>
          <p:nvPr/>
        </p:nvGrpSpPr>
        <p:grpSpPr>
          <a:xfrm rot="0">
            <a:off x="1604772" y="6926580"/>
            <a:ext cx="5692140" cy="548640"/>
            <a:chOff x="0" y="0"/>
            <a:chExt cx="7589520" cy="731520"/>
          </a:xfrm>
        </p:grpSpPr>
        <p:sp>
          <p:nvSpPr>
            <p:cNvPr name="Freeform 68" id="68"/>
            <p:cNvSpPr/>
            <p:nvPr/>
          </p:nvSpPr>
          <p:spPr>
            <a:xfrm flipH="false" flipV="false" rot="0">
              <a:off x="0" y="0"/>
              <a:ext cx="7589520" cy="731520"/>
            </a:xfrm>
            <a:custGeom>
              <a:avLst/>
              <a:gdLst/>
              <a:ahLst/>
              <a:cxnLst/>
              <a:rect r="r" b="b" t="t" l="l"/>
              <a:pathLst>
                <a:path h="731520" w="7589520">
                  <a:moveTo>
                    <a:pt x="0" y="0"/>
                  </a:moveTo>
                  <a:lnTo>
                    <a:pt x="7589520" y="0"/>
                  </a:lnTo>
                  <a:lnTo>
                    <a:pt x="7589520" y="731520"/>
                  </a:lnTo>
                  <a:lnTo>
                    <a:pt x="0" y="731520"/>
                  </a:lnTo>
                  <a:close/>
                </a:path>
              </a:pathLst>
            </a:custGeom>
            <a:blipFill>
              <a:blip r:embed="rId3">
                <a:alphaModFix amt="0"/>
              </a:blip>
              <a:stretch>
                <a:fillRect l="0" t="-152157" r="0" b="-152157"/>
              </a:stretch>
            </a:blipFill>
          </p:spPr>
        </p:sp>
        <p:sp>
          <p:nvSpPr>
            <p:cNvPr name="TextBox 69" id="69"/>
            <p:cNvSpPr txBox="true"/>
            <p:nvPr/>
          </p:nvSpPr>
          <p:spPr>
            <a:xfrm>
              <a:off x="0" y="-9525"/>
              <a:ext cx="7589520" cy="741045"/>
            </a:xfrm>
            <a:prstGeom prst="rect">
              <a:avLst/>
            </a:prstGeom>
          </p:spPr>
          <p:txBody>
            <a:bodyPr anchor="ctr" rtlCol="false" tIns="0" lIns="0" bIns="0" rIns="0"/>
            <a:lstStyle/>
            <a:p>
              <a:pPr algn="l">
                <a:lnSpc>
                  <a:spcPts val="3960"/>
                </a:lnSpc>
              </a:pPr>
              <a:r>
                <a:rPr lang="en-US" sz="3300" b="true">
                  <a:solidFill>
                    <a:srgbClr val="202C30"/>
                  </a:solidFill>
                  <a:latin typeface="Trebuchet MS Bold"/>
                  <a:ea typeface="Trebuchet MS Bold"/>
                  <a:cs typeface="Trebuchet MS Bold"/>
                  <a:sym typeface="Trebuchet MS Bold"/>
                </a:rPr>
                <a:t>Consistent monitoring</a:t>
              </a:r>
            </a:p>
          </p:txBody>
        </p:sp>
      </p:grpSp>
      <p:grpSp>
        <p:nvGrpSpPr>
          <p:cNvPr name="Group 70" id="70"/>
          <p:cNvGrpSpPr/>
          <p:nvPr/>
        </p:nvGrpSpPr>
        <p:grpSpPr>
          <a:xfrm rot="0">
            <a:off x="7584948" y="6926580"/>
            <a:ext cx="9656064" cy="781812"/>
            <a:chOff x="0" y="0"/>
            <a:chExt cx="12874752" cy="1042416"/>
          </a:xfrm>
        </p:grpSpPr>
        <p:sp>
          <p:nvSpPr>
            <p:cNvPr name="Freeform 71" id="71"/>
            <p:cNvSpPr/>
            <p:nvPr/>
          </p:nvSpPr>
          <p:spPr>
            <a:xfrm flipH="false" flipV="false" rot="0">
              <a:off x="0" y="0"/>
              <a:ext cx="12874752" cy="1042416"/>
            </a:xfrm>
            <a:custGeom>
              <a:avLst/>
              <a:gdLst/>
              <a:ahLst/>
              <a:cxnLst/>
              <a:rect r="r" b="b" t="t" l="l"/>
              <a:pathLst>
                <a:path h="1042416" w="12874752">
                  <a:moveTo>
                    <a:pt x="0" y="0"/>
                  </a:moveTo>
                  <a:lnTo>
                    <a:pt x="12874752" y="0"/>
                  </a:lnTo>
                  <a:lnTo>
                    <a:pt x="12874752" y="1042416"/>
                  </a:lnTo>
                  <a:lnTo>
                    <a:pt x="0" y="1042416"/>
                  </a:lnTo>
                  <a:close/>
                </a:path>
              </a:pathLst>
            </a:custGeom>
            <a:blipFill>
              <a:blip r:embed="rId3">
                <a:alphaModFix amt="0"/>
              </a:blip>
              <a:stretch>
                <a:fillRect l="0" t="-190657" r="0" b="-190657"/>
              </a:stretch>
            </a:blipFill>
          </p:spPr>
        </p:sp>
        <p:sp>
          <p:nvSpPr>
            <p:cNvPr name="TextBox 72" id="72"/>
            <p:cNvSpPr txBox="true"/>
            <p:nvPr/>
          </p:nvSpPr>
          <p:spPr>
            <a:xfrm>
              <a:off x="0" y="-66675"/>
              <a:ext cx="12874752" cy="1109091"/>
            </a:xfrm>
            <a:prstGeom prst="rect">
              <a:avLst/>
            </a:prstGeom>
          </p:spPr>
          <p:txBody>
            <a:bodyPr anchor="ctr" rtlCol="false" tIns="0" lIns="0" bIns="0" rIns="0"/>
            <a:lstStyle/>
            <a:p>
              <a:pPr algn="l">
                <a:lnSpc>
                  <a:spcPts val="3600"/>
                </a:lnSpc>
              </a:pPr>
              <a:r>
                <a:rPr lang="en-US" sz="3000">
                  <a:solidFill>
                    <a:srgbClr val="51636A"/>
                  </a:solidFill>
                  <a:latin typeface="Calibri (MS)"/>
                  <a:ea typeface="Calibri (MS)"/>
                  <a:cs typeface="Calibri (MS)"/>
                  <a:sym typeface="Calibri (MS)"/>
                </a:rPr>
                <a:t>Repeat the risk scan regularly rather than rely on manual checks.</a:t>
              </a:r>
            </a:p>
          </p:txBody>
        </p:sp>
      </p:grpSp>
      <p:grpSp>
        <p:nvGrpSpPr>
          <p:cNvPr name="Group 73" id="73"/>
          <p:cNvGrpSpPr/>
          <p:nvPr/>
        </p:nvGrpSpPr>
        <p:grpSpPr>
          <a:xfrm rot="0">
            <a:off x="815340" y="8290560"/>
            <a:ext cx="16611600" cy="1030224"/>
            <a:chOff x="0" y="0"/>
            <a:chExt cx="22148800" cy="1373632"/>
          </a:xfrm>
        </p:grpSpPr>
        <p:sp>
          <p:nvSpPr>
            <p:cNvPr name="Freeform 74" id="74"/>
            <p:cNvSpPr/>
            <p:nvPr/>
          </p:nvSpPr>
          <p:spPr>
            <a:xfrm flipH="false" flipV="false" rot="0">
              <a:off x="0" y="0"/>
              <a:ext cx="22148800" cy="1373632"/>
            </a:xfrm>
            <a:custGeom>
              <a:avLst/>
              <a:gdLst/>
              <a:ahLst/>
              <a:cxnLst/>
              <a:rect r="r" b="b" t="t" l="l"/>
              <a:pathLst>
                <a:path h="1373632" w="22148800">
                  <a:moveTo>
                    <a:pt x="0" y="0"/>
                  </a:moveTo>
                  <a:lnTo>
                    <a:pt x="22148800" y="0"/>
                  </a:lnTo>
                  <a:lnTo>
                    <a:pt x="22148800" y="1373632"/>
                  </a:lnTo>
                  <a:lnTo>
                    <a:pt x="0" y="1373632"/>
                  </a:lnTo>
                  <a:close/>
                </a:path>
              </a:pathLst>
            </a:custGeom>
            <a:solidFill>
              <a:srgbClr val="087E83"/>
            </a:solidFill>
            <a:ln w="15240" cap="sq">
              <a:solidFill>
                <a:srgbClr val="087E83"/>
              </a:solidFill>
              <a:prstDash val="solid"/>
              <a:miter/>
            </a:ln>
          </p:spPr>
        </p:sp>
      </p:grpSp>
      <p:grpSp>
        <p:nvGrpSpPr>
          <p:cNvPr name="Group 75" id="75"/>
          <p:cNvGrpSpPr/>
          <p:nvPr/>
        </p:nvGrpSpPr>
        <p:grpSpPr>
          <a:xfrm rot="0">
            <a:off x="1193292" y="8394192"/>
            <a:ext cx="15841980" cy="795528"/>
            <a:chOff x="0" y="0"/>
            <a:chExt cx="21122640" cy="1060704"/>
          </a:xfrm>
        </p:grpSpPr>
        <p:sp>
          <p:nvSpPr>
            <p:cNvPr name="Freeform 76" id="76"/>
            <p:cNvSpPr/>
            <p:nvPr/>
          </p:nvSpPr>
          <p:spPr>
            <a:xfrm flipH="false" flipV="false" rot="0">
              <a:off x="0" y="0"/>
              <a:ext cx="21122639" cy="1060704"/>
            </a:xfrm>
            <a:custGeom>
              <a:avLst/>
              <a:gdLst/>
              <a:ahLst/>
              <a:cxnLst/>
              <a:rect r="r" b="b" t="t" l="l"/>
              <a:pathLst>
                <a:path h="1060704" w="21122639">
                  <a:moveTo>
                    <a:pt x="0" y="0"/>
                  </a:moveTo>
                  <a:lnTo>
                    <a:pt x="21122639" y="0"/>
                  </a:lnTo>
                  <a:lnTo>
                    <a:pt x="21122639" y="1060704"/>
                  </a:lnTo>
                  <a:lnTo>
                    <a:pt x="0" y="1060704"/>
                  </a:lnTo>
                  <a:close/>
                </a:path>
              </a:pathLst>
            </a:custGeom>
            <a:blipFill>
              <a:blip r:embed="rId3">
                <a:alphaModFix amt="0"/>
              </a:blip>
              <a:stretch>
                <a:fillRect l="0" t="-338021" r="0" b="-338020"/>
              </a:stretch>
            </a:blipFill>
          </p:spPr>
        </p:sp>
        <p:sp>
          <p:nvSpPr>
            <p:cNvPr name="TextBox 77" id="77"/>
            <p:cNvSpPr txBox="true"/>
            <p:nvPr/>
          </p:nvSpPr>
          <p:spPr>
            <a:xfrm>
              <a:off x="0" y="-9525"/>
              <a:ext cx="21122640" cy="1070229"/>
            </a:xfrm>
            <a:prstGeom prst="rect">
              <a:avLst/>
            </a:prstGeom>
          </p:spPr>
          <p:txBody>
            <a:bodyPr anchor="ctr" rtlCol="false" tIns="0" lIns="0" bIns="0" rIns="0"/>
            <a:lstStyle/>
            <a:p>
              <a:pPr algn="l">
                <a:lnSpc>
                  <a:spcPts val="3960"/>
                </a:lnSpc>
              </a:pPr>
              <a:r>
                <a:rPr lang="en-US" sz="3300" b="true">
                  <a:solidFill>
                    <a:srgbClr val="FFFFFF"/>
                  </a:solidFill>
                  <a:latin typeface="Trebuchet MS Bold"/>
                  <a:ea typeface="Trebuchet MS Bold"/>
                  <a:cs typeface="Trebuchet MS Bold"/>
                  <a:sym typeface="Trebuchet MS Bold"/>
                </a:rPr>
                <a:t>The value isn't just finding problems. It's finding the right problems early enough to act.</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370332"/>
            <a:ext cx="1371600" cy="411480"/>
            <a:chOff x="0" y="0"/>
            <a:chExt cx="1828800" cy="548640"/>
          </a:xfrm>
        </p:grpSpPr>
        <p:sp>
          <p:nvSpPr>
            <p:cNvPr name="Freeform 3" id="3"/>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4" id="4"/>
            <p:cNvSpPr txBox="true"/>
            <p:nvPr/>
          </p:nvSpPr>
          <p:spPr>
            <a:xfrm>
              <a:off x="0" y="-19050"/>
              <a:ext cx="1828800" cy="567690"/>
            </a:xfrm>
            <a:prstGeom prst="rect">
              <a:avLst/>
            </a:prstGeom>
          </p:spPr>
          <p:txBody>
            <a:bodyPr anchor="ctr" rtlCol="false" tIns="0" lIns="0" bIns="0" rIns="0"/>
            <a:lstStyle/>
            <a:p>
              <a:pPr algn="l">
                <a:lnSpc>
                  <a:spcPts val="2700"/>
                </a:lnSpc>
              </a:pPr>
              <a:r>
                <a:rPr lang="en-US" sz="2250" b="true">
                  <a:solidFill>
                    <a:srgbClr val="087E83"/>
                  </a:solidFill>
                  <a:latin typeface="Trebuchet MS Bold"/>
                  <a:ea typeface="Trebuchet MS Bold"/>
                  <a:cs typeface="Trebuchet MS Bold"/>
                  <a:sym typeface="Trebuchet MS Bold"/>
                </a:rPr>
                <a:t>ORBI</a:t>
              </a:r>
            </a:p>
          </p:txBody>
        </p:sp>
      </p:grpSp>
      <p:grpSp>
        <p:nvGrpSpPr>
          <p:cNvPr name="Group 5" id="5"/>
          <p:cNvGrpSpPr/>
          <p:nvPr/>
        </p:nvGrpSpPr>
        <p:grpSpPr>
          <a:xfrm rot="0">
            <a:off x="2263140" y="370332"/>
            <a:ext cx="13716000" cy="411480"/>
            <a:chOff x="0" y="0"/>
            <a:chExt cx="18288000" cy="548640"/>
          </a:xfrm>
        </p:grpSpPr>
        <p:sp>
          <p:nvSpPr>
            <p:cNvPr name="Freeform 6" id="6"/>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7" id="7"/>
            <p:cNvSpPr txBox="true"/>
            <p:nvPr/>
          </p:nvSpPr>
          <p:spPr>
            <a:xfrm>
              <a:off x="0" y="-47625"/>
              <a:ext cx="18288000" cy="596265"/>
            </a:xfrm>
            <a:prstGeom prst="rect">
              <a:avLst/>
            </a:prstGeom>
          </p:spPr>
          <p:txBody>
            <a:bodyPr anchor="ctr" rtlCol="false" tIns="0" lIns="0" bIns="0" rIns="0"/>
            <a:lstStyle/>
            <a:p>
              <a:pPr algn="l">
                <a:lnSpc>
                  <a:spcPts val="2340"/>
                </a:lnSpc>
              </a:pPr>
              <a:r>
                <a:rPr lang="en-US" sz="1950">
                  <a:solidFill>
                    <a:srgbClr val="51636A"/>
                  </a:solidFill>
                  <a:latin typeface="Calibri (MS)"/>
                  <a:ea typeface="Calibri (MS)"/>
                  <a:cs typeface="Calibri (MS)"/>
                  <a:sym typeface="Calibri (MS)"/>
                </a:rPr>
                <a:t>DEMO IMPACT / INDICATIVE RESULTS</a:t>
              </a:r>
            </a:p>
          </p:txBody>
        </p:sp>
      </p:grpSp>
      <p:sp>
        <p:nvSpPr>
          <p:cNvPr name="AutoShape 8" id="8"/>
          <p:cNvSpPr/>
          <p:nvPr/>
        </p:nvSpPr>
        <p:spPr>
          <a:xfrm rot="5880">
            <a:off x="808663" y="9632823"/>
            <a:ext cx="16624964" cy="0"/>
          </a:xfrm>
          <a:prstGeom prst="line">
            <a:avLst/>
          </a:prstGeom>
          <a:ln cap="rnd" w="19050">
            <a:solidFill>
              <a:srgbClr val="D7E0E2"/>
            </a:solidFill>
            <a:prstDash val="solid"/>
            <a:headEnd type="none" len="sm" w="sm"/>
            <a:tailEnd type="none" len="sm" w="sm"/>
          </a:ln>
        </p:spPr>
      </p:sp>
      <p:grpSp>
        <p:nvGrpSpPr>
          <p:cNvPr name="Group 9" id="9"/>
          <p:cNvGrpSpPr/>
          <p:nvPr/>
        </p:nvGrpSpPr>
        <p:grpSpPr>
          <a:xfrm rot="0">
            <a:off x="822960" y="9779508"/>
            <a:ext cx="12344400" cy="274320"/>
            <a:chOff x="0" y="0"/>
            <a:chExt cx="16459200" cy="365760"/>
          </a:xfrm>
        </p:grpSpPr>
        <p:sp>
          <p:nvSpPr>
            <p:cNvPr name="Freeform 10" id="10"/>
            <p:cNvSpPr/>
            <p:nvPr/>
          </p:nvSpPr>
          <p:spPr>
            <a:xfrm flipH="false" flipV="false" rot="0">
              <a:off x="0" y="0"/>
              <a:ext cx="16459200" cy="365760"/>
            </a:xfrm>
            <a:custGeom>
              <a:avLst/>
              <a:gdLst/>
              <a:ahLst/>
              <a:cxnLst/>
              <a:rect r="r" b="b" t="t" l="l"/>
              <a:pathLst>
                <a:path h="365760" w="16459200">
                  <a:moveTo>
                    <a:pt x="0" y="0"/>
                  </a:moveTo>
                  <a:lnTo>
                    <a:pt x="16459200" y="0"/>
                  </a:lnTo>
                  <a:lnTo>
                    <a:pt x="16459200" y="365760"/>
                  </a:lnTo>
                  <a:lnTo>
                    <a:pt x="0" y="365760"/>
                  </a:lnTo>
                  <a:close/>
                </a:path>
              </a:pathLst>
            </a:custGeom>
            <a:blipFill>
              <a:blip r:embed="rId3">
                <a:alphaModFix amt="0"/>
              </a:blip>
              <a:stretch>
                <a:fillRect l="0" t="-826826" r="0" b="-826826"/>
              </a:stretch>
            </a:blipFill>
          </p:spPr>
        </p:sp>
        <p:sp>
          <p:nvSpPr>
            <p:cNvPr name="TextBox 11" id="11"/>
            <p:cNvSpPr txBox="true"/>
            <p:nvPr/>
          </p:nvSpPr>
          <p:spPr>
            <a:xfrm>
              <a:off x="0" y="-28575"/>
              <a:ext cx="16459200" cy="394335"/>
            </a:xfrm>
            <a:prstGeom prst="rect">
              <a:avLst/>
            </a:prstGeom>
          </p:spPr>
          <p:txBody>
            <a:bodyPr anchor="ctr" rtlCol="false" tIns="0" lIns="0" bIns="0" rIns="0"/>
            <a:lstStyle/>
            <a:p>
              <a:pPr algn="l">
                <a:lnSpc>
                  <a:spcPts val="1980"/>
                </a:lnSpc>
              </a:pPr>
              <a:r>
                <a:rPr lang="en-US" sz="1650">
                  <a:solidFill>
                    <a:srgbClr val="51636A"/>
                  </a:solidFill>
                  <a:latin typeface="Calibri (MS)"/>
                  <a:ea typeface="Calibri (MS)"/>
                  <a:cs typeface="Calibri (MS)"/>
                  <a:sym typeface="Calibri (MS)"/>
                </a:rPr>
                <a:t>Operations risk intelligence for retail SMEs</a:t>
              </a:r>
            </a:p>
          </p:txBody>
        </p:sp>
      </p:grpSp>
      <p:grpSp>
        <p:nvGrpSpPr>
          <p:cNvPr name="Group 12" id="12"/>
          <p:cNvGrpSpPr/>
          <p:nvPr/>
        </p:nvGrpSpPr>
        <p:grpSpPr>
          <a:xfrm rot="0">
            <a:off x="15979140" y="9752076"/>
            <a:ext cx="1440180" cy="342900"/>
            <a:chOff x="0" y="0"/>
            <a:chExt cx="1920240" cy="457200"/>
          </a:xfrm>
        </p:grpSpPr>
        <p:sp>
          <p:nvSpPr>
            <p:cNvPr name="Freeform 13" id="13"/>
            <p:cNvSpPr/>
            <p:nvPr/>
          </p:nvSpPr>
          <p:spPr>
            <a:xfrm flipH="false" flipV="false" rot="0">
              <a:off x="0" y="0"/>
              <a:ext cx="1920240" cy="457200"/>
            </a:xfrm>
            <a:custGeom>
              <a:avLst/>
              <a:gdLst/>
              <a:ahLst/>
              <a:cxnLst/>
              <a:rect r="r" b="b" t="t" l="l"/>
              <a:pathLst>
                <a:path h="457200" w="1920240">
                  <a:moveTo>
                    <a:pt x="0" y="0"/>
                  </a:moveTo>
                  <a:lnTo>
                    <a:pt x="1920240" y="0"/>
                  </a:lnTo>
                  <a:lnTo>
                    <a:pt x="1920240" y="457200"/>
                  </a:lnTo>
                  <a:lnTo>
                    <a:pt x="0" y="457200"/>
                  </a:lnTo>
                  <a:close/>
                </a:path>
              </a:pathLst>
            </a:custGeom>
            <a:blipFill>
              <a:blip r:embed="rId3">
                <a:alphaModFix amt="0"/>
              </a:blip>
              <a:stretch>
                <a:fillRect l="0" t="-31837" r="0" b="-31837"/>
              </a:stretch>
            </a:blipFill>
          </p:spPr>
        </p:sp>
        <p:sp>
          <p:nvSpPr>
            <p:cNvPr name="TextBox 14" id="14"/>
            <p:cNvSpPr txBox="true"/>
            <p:nvPr/>
          </p:nvSpPr>
          <p:spPr>
            <a:xfrm>
              <a:off x="0" y="-38100"/>
              <a:ext cx="1920240" cy="495300"/>
            </a:xfrm>
            <a:prstGeom prst="rect">
              <a:avLst/>
            </a:prstGeom>
          </p:spPr>
          <p:txBody>
            <a:bodyPr anchor="ctr" rtlCol="false" tIns="0" lIns="0" bIns="0" rIns="0"/>
            <a:lstStyle/>
            <a:p>
              <a:pPr algn="r">
                <a:lnSpc>
                  <a:spcPts val="2160"/>
                </a:lnSpc>
              </a:pPr>
              <a:r>
                <a:rPr lang="en-US" sz="1800">
                  <a:solidFill>
                    <a:srgbClr val="51636A"/>
                  </a:solidFill>
                  <a:latin typeface="Calibri (MS)"/>
                  <a:ea typeface="Calibri (MS)"/>
                  <a:cs typeface="Calibri (MS)"/>
                  <a:sym typeface="Calibri (MS)"/>
                </a:rPr>
                <a:t>06 / 08</a:t>
              </a:r>
            </a:p>
          </p:txBody>
        </p:sp>
      </p:grpSp>
      <p:grpSp>
        <p:nvGrpSpPr>
          <p:cNvPr name="Group 15" id="15"/>
          <p:cNvGrpSpPr/>
          <p:nvPr/>
        </p:nvGrpSpPr>
        <p:grpSpPr>
          <a:xfrm rot="0">
            <a:off x="822960" y="1234440"/>
            <a:ext cx="16596360" cy="1577340"/>
            <a:chOff x="0" y="0"/>
            <a:chExt cx="22128480" cy="2103120"/>
          </a:xfrm>
        </p:grpSpPr>
        <p:sp>
          <p:nvSpPr>
            <p:cNvPr name="Freeform 16" id="16"/>
            <p:cNvSpPr/>
            <p:nvPr/>
          </p:nvSpPr>
          <p:spPr>
            <a:xfrm flipH="false" flipV="false" rot="0">
              <a:off x="0" y="0"/>
              <a:ext cx="22128480" cy="2103120"/>
            </a:xfrm>
            <a:custGeom>
              <a:avLst/>
              <a:gdLst/>
              <a:ahLst/>
              <a:cxnLst/>
              <a:rect r="r" b="b" t="t" l="l"/>
              <a:pathLst>
                <a:path h="2103120" w="22128480">
                  <a:moveTo>
                    <a:pt x="0" y="0"/>
                  </a:moveTo>
                  <a:lnTo>
                    <a:pt x="22128480" y="0"/>
                  </a:lnTo>
                  <a:lnTo>
                    <a:pt x="22128480" y="2103120"/>
                  </a:lnTo>
                  <a:lnTo>
                    <a:pt x="0" y="2103120"/>
                  </a:lnTo>
                  <a:close/>
                </a:path>
              </a:pathLst>
            </a:custGeom>
            <a:blipFill>
              <a:blip r:embed="rId3">
                <a:alphaModFix amt="0"/>
              </a:blip>
              <a:stretch>
                <a:fillRect l="0" t="-155016" r="0" b="-155016"/>
              </a:stretch>
            </a:blipFill>
          </p:spPr>
        </p:sp>
        <p:sp>
          <p:nvSpPr>
            <p:cNvPr name="TextBox 17" id="17"/>
            <p:cNvSpPr txBox="true"/>
            <p:nvPr/>
          </p:nvSpPr>
          <p:spPr>
            <a:xfrm>
              <a:off x="0" y="-9525"/>
              <a:ext cx="22128480" cy="2112645"/>
            </a:xfrm>
            <a:prstGeom prst="rect">
              <a:avLst/>
            </a:prstGeom>
          </p:spPr>
          <p:txBody>
            <a:bodyPr anchor="ctr" rtlCol="false" tIns="0" lIns="0" bIns="0" rIns="0"/>
            <a:lstStyle/>
            <a:p>
              <a:pPr algn="l">
                <a:lnSpc>
                  <a:spcPts val="7200"/>
                </a:lnSpc>
              </a:pPr>
              <a:r>
                <a:rPr lang="en-US" sz="6000" b="true">
                  <a:solidFill>
                    <a:srgbClr val="202C30"/>
                  </a:solidFill>
                  <a:latin typeface="Trebuchet MS Bold"/>
                  <a:ea typeface="Trebuchet MS Bold"/>
                  <a:cs typeface="Trebuchet MS Bold"/>
                  <a:sym typeface="Trebuchet MS Bold"/>
                </a:rPr>
                <a:t>What Orbi Found in Our Retail Scenario</a:t>
              </a:r>
            </a:p>
          </p:txBody>
        </p:sp>
      </p:grpSp>
      <p:grpSp>
        <p:nvGrpSpPr>
          <p:cNvPr name="Group 18" id="18"/>
          <p:cNvGrpSpPr/>
          <p:nvPr/>
        </p:nvGrpSpPr>
        <p:grpSpPr>
          <a:xfrm rot="0">
            <a:off x="815340" y="2735580"/>
            <a:ext cx="7010400" cy="522732"/>
            <a:chOff x="0" y="0"/>
            <a:chExt cx="9347200" cy="696976"/>
          </a:xfrm>
        </p:grpSpPr>
        <p:sp>
          <p:nvSpPr>
            <p:cNvPr name="Freeform 19" id="19"/>
            <p:cNvSpPr/>
            <p:nvPr/>
          </p:nvSpPr>
          <p:spPr>
            <a:xfrm flipH="false" flipV="false" rot="0">
              <a:off x="0" y="0"/>
              <a:ext cx="9347200" cy="696976"/>
            </a:xfrm>
            <a:custGeom>
              <a:avLst/>
              <a:gdLst/>
              <a:ahLst/>
              <a:cxnLst/>
              <a:rect r="r" b="b" t="t" l="l"/>
              <a:pathLst>
                <a:path h="696976" w="9347200">
                  <a:moveTo>
                    <a:pt x="0" y="0"/>
                  </a:moveTo>
                  <a:lnTo>
                    <a:pt x="9347200" y="0"/>
                  </a:lnTo>
                  <a:lnTo>
                    <a:pt x="9347200" y="696976"/>
                  </a:lnTo>
                  <a:lnTo>
                    <a:pt x="0" y="696976"/>
                  </a:lnTo>
                  <a:close/>
                </a:path>
              </a:pathLst>
            </a:custGeom>
            <a:solidFill>
              <a:srgbClr val="CFE8E3"/>
            </a:solidFill>
            <a:ln w="15240" cap="sq">
              <a:solidFill>
                <a:srgbClr val="CFE8E3"/>
              </a:solidFill>
              <a:prstDash val="solid"/>
              <a:miter/>
            </a:ln>
          </p:spPr>
        </p:sp>
      </p:grpSp>
      <p:grpSp>
        <p:nvGrpSpPr>
          <p:cNvPr name="Group 20" id="20"/>
          <p:cNvGrpSpPr/>
          <p:nvPr/>
        </p:nvGrpSpPr>
        <p:grpSpPr>
          <a:xfrm rot="0">
            <a:off x="960120" y="2743200"/>
            <a:ext cx="6720840" cy="507492"/>
            <a:chOff x="0" y="0"/>
            <a:chExt cx="8961120" cy="676656"/>
          </a:xfrm>
        </p:grpSpPr>
        <p:sp>
          <p:nvSpPr>
            <p:cNvPr name="Freeform 21" id="21"/>
            <p:cNvSpPr/>
            <p:nvPr/>
          </p:nvSpPr>
          <p:spPr>
            <a:xfrm flipH="false" flipV="false" rot="0">
              <a:off x="0" y="0"/>
              <a:ext cx="8961120" cy="676656"/>
            </a:xfrm>
            <a:custGeom>
              <a:avLst/>
              <a:gdLst/>
              <a:ahLst/>
              <a:cxnLst/>
              <a:rect r="r" b="b" t="t" l="l"/>
              <a:pathLst>
                <a:path h="676656" w="8961120">
                  <a:moveTo>
                    <a:pt x="0" y="0"/>
                  </a:moveTo>
                  <a:lnTo>
                    <a:pt x="8961120" y="0"/>
                  </a:lnTo>
                  <a:lnTo>
                    <a:pt x="8961120" y="676656"/>
                  </a:lnTo>
                  <a:lnTo>
                    <a:pt x="0" y="676656"/>
                  </a:lnTo>
                  <a:close/>
                </a:path>
              </a:pathLst>
            </a:custGeom>
            <a:blipFill>
              <a:blip r:embed="rId3">
                <a:alphaModFix amt="0"/>
              </a:blip>
              <a:stretch>
                <a:fillRect l="0" t="-208045" r="0" b="-208045"/>
              </a:stretch>
            </a:blipFill>
          </p:spPr>
        </p:sp>
        <p:sp>
          <p:nvSpPr>
            <p:cNvPr name="TextBox 22" id="22"/>
            <p:cNvSpPr txBox="true"/>
            <p:nvPr/>
          </p:nvSpPr>
          <p:spPr>
            <a:xfrm>
              <a:off x="0" y="-19050"/>
              <a:ext cx="8961120" cy="695706"/>
            </a:xfrm>
            <a:prstGeom prst="rect">
              <a:avLst/>
            </a:prstGeom>
          </p:spPr>
          <p:txBody>
            <a:bodyPr anchor="ctr" rtlCol="false" tIns="0" lIns="0" bIns="0" rIns="0"/>
            <a:lstStyle/>
            <a:p>
              <a:pPr algn="l">
                <a:lnSpc>
                  <a:spcPts val="2160"/>
                </a:lnSpc>
              </a:pPr>
              <a:r>
                <a:rPr lang="en-US" sz="1800" b="true">
                  <a:solidFill>
                    <a:srgbClr val="087E83"/>
                  </a:solidFill>
                  <a:latin typeface="Trebuchet MS Bold"/>
                  <a:ea typeface="Trebuchet MS Bold"/>
                  <a:cs typeface="Trebuchet MS Bold"/>
                  <a:sym typeface="Trebuchet MS Bold"/>
                </a:rPr>
                <a:t>SYNTHETIC RETAIL OPERATIONS DATASET</a:t>
              </a:r>
            </a:p>
          </p:txBody>
        </p:sp>
      </p:grpSp>
      <p:grpSp>
        <p:nvGrpSpPr>
          <p:cNvPr name="Group 23" id="23"/>
          <p:cNvGrpSpPr/>
          <p:nvPr/>
        </p:nvGrpSpPr>
        <p:grpSpPr>
          <a:xfrm rot="0">
            <a:off x="815340" y="3599688"/>
            <a:ext cx="3924300" cy="1414272"/>
            <a:chOff x="0" y="0"/>
            <a:chExt cx="5232400" cy="1885696"/>
          </a:xfrm>
        </p:grpSpPr>
        <p:sp>
          <p:nvSpPr>
            <p:cNvPr name="Freeform 24" id="24"/>
            <p:cNvSpPr/>
            <p:nvPr/>
          </p:nvSpPr>
          <p:spPr>
            <a:xfrm flipH="false" flipV="false" rot="0">
              <a:off x="0" y="0"/>
              <a:ext cx="5232400" cy="1885696"/>
            </a:xfrm>
            <a:custGeom>
              <a:avLst/>
              <a:gdLst/>
              <a:ahLst/>
              <a:cxnLst/>
              <a:rect r="r" b="b" t="t" l="l"/>
              <a:pathLst>
                <a:path h="1885696" w="5232400">
                  <a:moveTo>
                    <a:pt x="0" y="0"/>
                  </a:moveTo>
                  <a:lnTo>
                    <a:pt x="5232400" y="0"/>
                  </a:lnTo>
                  <a:lnTo>
                    <a:pt x="5232400" y="1885696"/>
                  </a:lnTo>
                  <a:lnTo>
                    <a:pt x="0" y="1885696"/>
                  </a:lnTo>
                  <a:close/>
                </a:path>
              </a:pathLst>
            </a:custGeom>
            <a:solidFill>
              <a:srgbClr val="F5F7F7"/>
            </a:solidFill>
            <a:ln w="15240" cap="sq">
              <a:solidFill>
                <a:srgbClr val="F5F7F7"/>
              </a:solidFill>
              <a:prstDash val="solid"/>
              <a:miter/>
            </a:ln>
          </p:spPr>
        </p:sp>
      </p:grpSp>
      <p:grpSp>
        <p:nvGrpSpPr>
          <p:cNvPr name="Group 25" id="25"/>
          <p:cNvGrpSpPr/>
          <p:nvPr/>
        </p:nvGrpSpPr>
        <p:grpSpPr>
          <a:xfrm rot="0">
            <a:off x="1042416" y="3771900"/>
            <a:ext cx="1193292" cy="891540"/>
            <a:chOff x="0" y="0"/>
            <a:chExt cx="1591056" cy="1188720"/>
          </a:xfrm>
        </p:grpSpPr>
        <p:sp>
          <p:nvSpPr>
            <p:cNvPr name="Freeform 26" id="26"/>
            <p:cNvSpPr/>
            <p:nvPr/>
          </p:nvSpPr>
          <p:spPr>
            <a:xfrm flipH="false" flipV="false" rot="0">
              <a:off x="0" y="0"/>
              <a:ext cx="1591056" cy="1188720"/>
            </a:xfrm>
            <a:custGeom>
              <a:avLst/>
              <a:gdLst/>
              <a:ahLst/>
              <a:cxnLst/>
              <a:rect r="r" b="b" t="t" l="l"/>
              <a:pathLst>
                <a:path h="1188720" w="1591056">
                  <a:moveTo>
                    <a:pt x="0" y="0"/>
                  </a:moveTo>
                  <a:lnTo>
                    <a:pt x="1591056" y="0"/>
                  </a:lnTo>
                  <a:lnTo>
                    <a:pt x="1591056" y="1188720"/>
                  </a:lnTo>
                  <a:lnTo>
                    <a:pt x="0" y="1188720"/>
                  </a:lnTo>
                  <a:close/>
                </a:path>
              </a:pathLst>
            </a:custGeom>
            <a:blipFill>
              <a:blip r:embed="rId3">
                <a:alphaModFix amt="0"/>
              </a:blip>
              <a:stretch>
                <a:fillRect l="-45858" t="0" r="-45858" b="0"/>
              </a:stretch>
            </a:blipFill>
          </p:spPr>
        </p:sp>
        <p:sp>
          <p:nvSpPr>
            <p:cNvPr name="TextBox 27" id="27"/>
            <p:cNvSpPr txBox="true"/>
            <p:nvPr/>
          </p:nvSpPr>
          <p:spPr>
            <a:xfrm>
              <a:off x="0" y="-9525"/>
              <a:ext cx="1591056" cy="1198245"/>
            </a:xfrm>
            <a:prstGeom prst="rect">
              <a:avLst/>
            </a:prstGeom>
          </p:spPr>
          <p:txBody>
            <a:bodyPr anchor="ctr" rtlCol="false" tIns="0" lIns="0" bIns="0" rIns="0"/>
            <a:lstStyle/>
            <a:p>
              <a:pPr algn="l">
                <a:lnSpc>
                  <a:spcPts val="7739"/>
                </a:lnSpc>
              </a:pPr>
              <a:r>
                <a:rPr lang="en-US" sz="6450" b="true">
                  <a:solidFill>
                    <a:srgbClr val="087E83"/>
                  </a:solidFill>
                  <a:latin typeface="Trebuchet MS Bold"/>
                  <a:ea typeface="Trebuchet MS Bold"/>
                  <a:cs typeface="Trebuchet MS Bold"/>
                  <a:sym typeface="Trebuchet MS Bold"/>
                </a:rPr>
                <a:t>10</a:t>
              </a:r>
            </a:p>
          </p:txBody>
        </p:sp>
      </p:grpSp>
      <p:grpSp>
        <p:nvGrpSpPr>
          <p:cNvPr name="Group 28" id="28"/>
          <p:cNvGrpSpPr/>
          <p:nvPr/>
        </p:nvGrpSpPr>
        <p:grpSpPr>
          <a:xfrm rot="0">
            <a:off x="2359152" y="3799332"/>
            <a:ext cx="2125980" cy="850392"/>
            <a:chOff x="0" y="0"/>
            <a:chExt cx="2834640" cy="1133856"/>
          </a:xfrm>
        </p:grpSpPr>
        <p:sp>
          <p:nvSpPr>
            <p:cNvPr name="Freeform 29" id="29"/>
            <p:cNvSpPr/>
            <p:nvPr/>
          </p:nvSpPr>
          <p:spPr>
            <a:xfrm flipH="false" flipV="false" rot="0">
              <a:off x="0" y="0"/>
              <a:ext cx="2834640" cy="1133856"/>
            </a:xfrm>
            <a:custGeom>
              <a:avLst/>
              <a:gdLst/>
              <a:ahLst/>
              <a:cxnLst/>
              <a:rect r="r" b="b" t="t" l="l"/>
              <a:pathLst>
                <a:path h="1133856" w="2834640">
                  <a:moveTo>
                    <a:pt x="0" y="0"/>
                  </a:moveTo>
                  <a:lnTo>
                    <a:pt x="2834640" y="0"/>
                  </a:lnTo>
                  <a:lnTo>
                    <a:pt x="2834640" y="1133856"/>
                  </a:lnTo>
                  <a:lnTo>
                    <a:pt x="0" y="1133856"/>
                  </a:lnTo>
                  <a:close/>
                </a:path>
              </a:pathLst>
            </a:custGeom>
            <a:blipFill>
              <a:blip r:embed="rId3">
                <a:alphaModFix amt="0"/>
              </a:blip>
              <a:stretch>
                <a:fillRect l="-1321" t="0" r="-1321" b="0"/>
              </a:stretch>
            </a:blipFill>
          </p:spPr>
        </p:sp>
        <p:sp>
          <p:nvSpPr>
            <p:cNvPr name="TextBox 30" id="30"/>
            <p:cNvSpPr txBox="true"/>
            <p:nvPr/>
          </p:nvSpPr>
          <p:spPr>
            <a:xfrm>
              <a:off x="0" y="-9525"/>
              <a:ext cx="2834640" cy="1143381"/>
            </a:xfrm>
            <a:prstGeom prst="rect">
              <a:avLst/>
            </a:prstGeom>
          </p:spPr>
          <p:txBody>
            <a:bodyPr anchor="ctr" rtlCol="false" tIns="0" lIns="0" bIns="0" rIns="0"/>
            <a:lstStyle/>
            <a:p>
              <a:pPr algn="l">
                <a:lnSpc>
                  <a:spcPts val="3419"/>
                </a:lnSpc>
              </a:pPr>
              <a:r>
                <a:rPr lang="en-US" sz="2850" b="true">
                  <a:solidFill>
                    <a:srgbClr val="202C30"/>
                  </a:solidFill>
                  <a:latin typeface="Trebuchet MS Bold"/>
                  <a:ea typeface="Trebuchet MS Bold"/>
                  <a:cs typeface="Trebuchet MS Bold"/>
                  <a:sym typeface="Trebuchet MS Bold"/>
                </a:rPr>
                <a:t>SKUs</a:t>
              </a:r>
            </a:p>
          </p:txBody>
        </p:sp>
      </p:grpSp>
      <p:grpSp>
        <p:nvGrpSpPr>
          <p:cNvPr name="Group 31" id="31"/>
          <p:cNvGrpSpPr/>
          <p:nvPr/>
        </p:nvGrpSpPr>
        <p:grpSpPr>
          <a:xfrm rot="0">
            <a:off x="5039868" y="3599688"/>
            <a:ext cx="3924300" cy="1414272"/>
            <a:chOff x="0" y="0"/>
            <a:chExt cx="5232400" cy="1885696"/>
          </a:xfrm>
        </p:grpSpPr>
        <p:sp>
          <p:nvSpPr>
            <p:cNvPr name="Freeform 32" id="32"/>
            <p:cNvSpPr/>
            <p:nvPr/>
          </p:nvSpPr>
          <p:spPr>
            <a:xfrm flipH="false" flipV="false" rot="0">
              <a:off x="0" y="0"/>
              <a:ext cx="5232400" cy="1885696"/>
            </a:xfrm>
            <a:custGeom>
              <a:avLst/>
              <a:gdLst/>
              <a:ahLst/>
              <a:cxnLst/>
              <a:rect r="r" b="b" t="t" l="l"/>
              <a:pathLst>
                <a:path h="1885696" w="5232400">
                  <a:moveTo>
                    <a:pt x="0" y="0"/>
                  </a:moveTo>
                  <a:lnTo>
                    <a:pt x="5232400" y="0"/>
                  </a:lnTo>
                  <a:lnTo>
                    <a:pt x="5232400" y="1885696"/>
                  </a:lnTo>
                  <a:lnTo>
                    <a:pt x="0" y="1885696"/>
                  </a:lnTo>
                  <a:close/>
                </a:path>
              </a:pathLst>
            </a:custGeom>
            <a:solidFill>
              <a:srgbClr val="F5F7F7"/>
            </a:solidFill>
            <a:ln w="15240" cap="sq">
              <a:solidFill>
                <a:srgbClr val="F5F7F7"/>
              </a:solidFill>
              <a:prstDash val="solid"/>
              <a:miter/>
            </a:ln>
          </p:spPr>
        </p:sp>
      </p:grpSp>
      <p:grpSp>
        <p:nvGrpSpPr>
          <p:cNvPr name="Group 33" id="33"/>
          <p:cNvGrpSpPr/>
          <p:nvPr/>
        </p:nvGrpSpPr>
        <p:grpSpPr>
          <a:xfrm rot="0">
            <a:off x="5266944" y="3771900"/>
            <a:ext cx="1193292" cy="891540"/>
            <a:chOff x="0" y="0"/>
            <a:chExt cx="1591056" cy="1188720"/>
          </a:xfrm>
        </p:grpSpPr>
        <p:sp>
          <p:nvSpPr>
            <p:cNvPr name="Freeform 34" id="34"/>
            <p:cNvSpPr/>
            <p:nvPr/>
          </p:nvSpPr>
          <p:spPr>
            <a:xfrm flipH="false" flipV="false" rot="0">
              <a:off x="0" y="0"/>
              <a:ext cx="1591056" cy="1188720"/>
            </a:xfrm>
            <a:custGeom>
              <a:avLst/>
              <a:gdLst/>
              <a:ahLst/>
              <a:cxnLst/>
              <a:rect r="r" b="b" t="t" l="l"/>
              <a:pathLst>
                <a:path h="1188720" w="1591056">
                  <a:moveTo>
                    <a:pt x="0" y="0"/>
                  </a:moveTo>
                  <a:lnTo>
                    <a:pt x="1591056" y="0"/>
                  </a:lnTo>
                  <a:lnTo>
                    <a:pt x="1591056" y="1188720"/>
                  </a:lnTo>
                  <a:lnTo>
                    <a:pt x="0" y="1188720"/>
                  </a:lnTo>
                  <a:close/>
                </a:path>
              </a:pathLst>
            </a:custGeom>
            <a:blipFill>
              <a:blip r:embed="rId3">
                <a:alphaModFix amt="0"/>
              </a:blip>
              <a:stretch>
                <a:fillRect l="-45858" t="0" r="-45858" b="0"/>
              </a:stretch>
            </a:blipFill>
          </p:spPr>
        </p:sp>
        <p:sp>
          <p:nvSpPr>
            <p:cNvPr name="TextBox 35" id="35"/>
            <p:cNvSpPr txBox="true"/>
            <p:nvPr/>
          </p:nvSpPr>
          <p:spPr>
            <a:xfrm>
              <a:off x="0" y="-9525"/>
              <a:ext cx="1591056" cy="1198245"/>
            </a:xfrm>
            <a:prstGeom prst="rect">
              <a:avLst/>
            </a:prstGeom>
          </p:spPr>
          <p:txBody>
            <a:bodyPr anchor="ctr" rtlCol="false" tIns="0" lIns="0" bIns="0" rIns="0"/>
            <a:lstStyle/>
            <a:p>
              <a:pPr algn="l">
                <a:lnSpc>
                  <a:spcPts val="7739"/>
                </a:lnSpc>
              </a:pPr>
              <a:r>
                <a:rPr lang="en-US" sz="6450" b="true">
                  <a:solidFill>
                    <a:srgbClr val="087E83"/>
                  </a:solidFill>
                  <a:latin typeface="Trebuchet MS Bold"/>
                  <a:ea typeface="Trebuchet MS Bold"/>
                  <a:cs typeface="Trebuchet MS Bold"/>
                  <a:sym typeface="Trebuchet MS Bold"/>
                </a:rPr>
                <a:t>6</a:t>
              </a:r>
            </a:p>
          </p:txBody>
        </p:sp>
      </p:grpSp>
      <p:grpSp>
        <p:nvGrpSpPr>
          <p:cNvPr name="Group 36" id="36"/>
          <p:cNvGrpSpPr/>
          <p:nvPr/>
        </p:nvGrpSpPr>
        <p:grpSpPr>
          <a:xfrm rot="0">
            <a:off x="6583680" y="3799332"/>
            <a:ext cx="2125980" cy="850392"/>
            <a:chOff x="0" y="0"/>
            <a:chExt cx="2834640" cy="1133856"/>
          </a:xfrm>
        </p:grpSpPr>
        <p:sp>
          <p:nvSpPr>
            <p:cNvPr name="Freeform 37" id="37"/>
            <p:cNvSpPr/>
            <p:nvPr/>
          </p:nvSpPr>
          <p:spPr>
            <a:xfrm flipH="false" flipV="false" rot="0">
              <a:off x="0" y="0"/>
              <a:ext cx="2834640" cy="1133856"/>
            </a:xfrm>
            <a:custGeom>
              <a:avLst/>
              <a:gdLst/>
              <a:ahLst/>
              <a:cxnLst/>
              <a:rect r="r" b="b" t="t" l="l"/>
              <a:pathLst>
                <a:path h="1133856" w="2834640">
                  <a:moveTo>
                    <a:pt x="0" y="0"/>
                  </a:moveTo>
                  <a:lnTo>
                    <a:pt x="2834640" y="0"/>
                  </a:lnTo>
                  <a:lnTo>
                    <a:pt x="2834640" y="1133856"/>
                  </a:lnTo>
                  <a:lnTo>
                    <a:pt x="0" y="1133856"/>
                  </a:lnTo>
                  <a:close/>
                </a:path>
              </a:pathLst>
            </a:custGeom>
            <a:blipFill>
              <a:blip r:embed="rId3">
                <a:alphaModFix amt="0"/>
              </a:blip>
              <a:stretch>
                <a:fillRect l="-1321" t="0" r="-1321" b="0"/>
              </a:stretch>
            </a:blipFill>
          </p:spPr>
        </p:sp>
        <p:sp>
          <p:nvSpPr>
            <p:cNvPr name="TextBox 38" id="38"/>
            <p:cNvSpPr txBox="true"/>
            <p:nvPr/>
          </p:nvSpPr>
          <p:spPr>
            <a:xfrm>
              <a:off x="0" y="-9525"/>
              <a:ext cx="2834640" cy="1143381"/>
            </a:xfrm>
            <a:prstGeom prst="rect">
              <a:avLst/>
            </a:prstGeom>
          </p:spPr>
          <p:txBody>
            <a:bodyPr anchor="ctr" rtlCol="false" tIns="0" lIns="0" bIns="0" rIns="0"/>
            <a:lstStyle/>
            <a:p>
              <a:pPr algn="l">
                <a:lnSpc>
                  <a:spcPts val="3419"/>
                </a:lnSpc>
              </a:pPr>
              <a:r>
                <a:rPr lang="en-US" sz="2850" b="true">
                  <a:solidFill>
                    <a:srgbClr val="202C30"/>
                  </a:solidFill>
                  <a:latin typeface="Trebuchet MS Bold"/>
                  <a:ea typeface="Trebuchet MS Bold"/>
                  <a:cs typeface="Trebuchet MS Bold"/>
                  <a:sym typeface="Trebuchet MS Bold"/>
                </a:rPr>
                <a:t>Suppliers</a:t>
              </a:r>
            </a:p>
          </p:txBody>
        </p:sp>
      </p:grpSp>
      <p:grpSp>
        <p:nvGrpSpPr>
          <p:cNvPr name="Group 39" id="39"/>
          <p:cNvGrpSpPr/>
          <p:nvPr/>
        </p:nvGrpSpPr>
        <p:grpSpPr>
          <a:xfrm rot="0">
            <a:off x="9264396" y="3599688"/>
            <a:ext cx="3924300" cy="1414272"/>
            <a:chOff x="0" y="0"/>
            <a:chExt cx="5232400" cy="1885696"/>
          </a:xfrm>
        </p:grpSpPr>
        <p:sp>
          <p:nvSpPr>
            <p:cNvPr name="Freeform 40" id="40"/>
            <p:cNvSpPr/>
            <p:nvPr/>
          </p:nvSpPr>
          <p:spPr>
            <a:xfrm flipH="false" flipV="false" rot="0">
              <a:off x="0" y="0"/>
              <a:ext cx="5232400" cy="1885696"/>
            </a:xfrm>
            <a:custGeom>
              <a:avLst/>
              <a:gdLst/>
              <a:ahLst/>
              <a:cxnLst/>
              <a:rect r="r" b="b" t="t" l="l"/>
              <a:pathLst>
                <a:path h="1885696" w="5232400">
                  <a:moveTo>
                    <a:pt x="0" y="0"/>
                  </a:moveTo>
                  <a:lnTo>
                    <a:pt x="5232400" y="0"/>
                  </a:lnTo>
                  <a:lnTo>
                    <a:pt x="5232400" y="1885696"/>
                  </a:lnTo>
                  <a:lnTo>
                    <a:pt x="0" y="1885696"/>
                  </a:lnTo>
                  <a:close/>
                </a:path>
              </a:pathLst>
            </a:custGeom>
            <a:solidFill>
              <a:srgbClr val="F5F7F7"/>
            </a:solidFill>
            <a:ln w="15240" cap="sq">
              <a:solidFill>
                <a:srgbClr val="F5F7F7"/>
              </a:solidFill>
              <a:prstDash val="solid"/>
              <a:miter/>
            </a:ln>
          </p:spPr>
        </p:sp>
      </p:grpSp>
      <p:grpSp>
        <p:nvGrpSpPr>
          <p:cNvPr name="Group 41" id="41"/>
          <p:cNvGrpSpPr/>
          <p:nvPr/>
        </p:nvGrpSpPr>
        <p:grpSpPr>
          <a:xfrm rot="0">
            <a:off x="9491472" y="3771900"/>
            <a:ext cx="1193292" cy="891540"/>
            <a:chOff x="0" y="0"/>
            <a:chExt cx="1591056" cy="1188720"/>
          </a:xfrm>
        </p:grpSpPr>
        <p:sp>
          <p:nvSpPr>
            <p:cNvPr name="Freeform 42" id="42"/>
            <p:cNvSpPr/>
            <p:nvPr/>
          </p:nvSpPr>
          <p:spPr>
            <a:xfrm flipH="false" flipV="false" rot="0">
              <a:off x="0" y="0"/>
              <a:ext cx="1591056" cy="1188720"/>
            </a:xfrm>
            <a:custGeom>
              <a:avLst/>
              <a:gdLst/>
              <a:ahLst/>
              <a:cxnLst/>
              <a:rect r="r" b="b" t="t" l="l"/>
              <a:pathLst>
                <a:path h="1188720" w="1591056">
                  <a:moveTo>
                    <a:pt x="0" y="0"/>
                  </a:moveTo>
                  <a:lnTo>
                    <a:pt x="1591056" y="0"/>
                  </a:lnTo>
                  <a:lnTo>
                    <a:pt x="1591056" y="1188720"/>
                  </a:lnTo>
                  <a:lnTo>
                    <a:pt x="0" y="1188720"/>
                  </a:lnTo>
                  <a:close/>
                </a:path>
              </a:pathLst>
            </a:custGeom>
            <a:blipFill>
              <a:blip r:embed="rId3">
                <a:alphaModFix amt="0"/>
              </a:blip>
              <a:stretch>
                <a:fillRect l="-45858" t="0" r="-45858" b="0"/>
              </a:stretch>
            </a:blipFill>
          </p:spPr>
        </p:sp>
        <p:sp>
          <p:nvSpPr>
            <p:cNvPr name="TextBox 43" id="43"/>
            <p:cNvSpPr txBox="true"/>
            <p:nvPr/>
          </p:nvSpPr>
          <p:spPr>
            <a:xfrm>
              <a:off x="0" y="-9525"/>
              <a:ext cx="1591056" cy="1198245"/>
            </a:xfrm>
            <a:prstGeom prst="rect">
              <a:avLst/>
            </a:prstGeom>
          </p:spPr>
          <p:txBody>
            <a:bodyPr anchor="ctr" rtlCol="false" tIns="0" lIns="0" bIns="0" rIns="0"/>
            <a:lstStyle/>
            <a:p>
              <a:pPr algn="l">
                <a:lnSpc>
                  <a:spcPts val="7739"/>
                </a:lnSpc>
              </a:pPr>
              <a:r>
                <a:rPr lang="en-US" sz="6450" b="true">
                  <a:solidFill>
                    <a:srgbClr val="087E83"/>
                  </a:solidFill>
                  <a:latin typeface="Trebuchet MS Bold"/>
                  <a:ea typeface="Trebuchet MS Bold"/>
                  <a:cs typeface="Trebuchet MS Bold"/>
                  <a:sym typeface="Trebuchet MS Bold"/>
                </a:rPr>
                <a:t>8</a:t>
              </a:r>
            </a:p>
          </p:txBody>
        </p:sp>
      </p:grpSp>
      <p:grpSp>
        <p:nvGrpSpPr>
          <p:cNvPr name="Group 44" id="44"/>
          <p:cNvGrpSpPr/>
          <p:nvPr/>
        </p:nvGrpSpPr>
        <p:grpSpPr>
          <a:xfrm rot="0">
            <a:off x="10808208" y="3799332"/>
            <a:ext cx="2125980" cy="850392"/>
            <a:chOff x="0" y="0"/>
            <a:chExt cx="2834640" cy="1133856"/>
          </a:xfrm>
        </p:grpSpPr>
        <p:sp>
          <p:nvSpPr>
            <p:cNvPr name="Freeform 45" id="45"/>
            <p:cNvSpPr/>
            <p:nvPr/>
          </p:nvSpPr>
          <p:spPr>
            <a:xfrm flipH="false" flipV="false" rot="0">
              <a:off x="0" y="0"/>
              <a:ext cx="2834640" cy="1133856"/>
            </a:xfrm>
            <a:custGeom>
              <a:avLst/>
              <a:gdLst/>
              <a:ahLst/>
              <a:cxnLst/>
              <a:rect r="r" b="b" t="t" l="l"/>
              <a:pathLst>
                <a:path h="1133856" w="2834640">
                  <a:moveTo>
                    <a:pt x="0" y="0"/>
                  </a:moveTo>
                  <a:lnTo>
                    <a:pt x="2834640" y="0"/>
                  </a:lnTo>
                  <a:lnTo>
                    <a:pt x="2834640" y="1133856"/>
                  </a:lnTo>
                  <a:lnTo>
                    <a:pt x="0" y="1133856"/>
                  </a:lnTo>
                  <a:close/>
                </a:path>
              </a:pathLst>
            </a:custGeom>
            <a:blipFill>
              <a:blip r:embed="rId3">
                <a:alphaModFix amt="0"/>
              </a:blip>
              <a:stretch>
                <a:fillRect l="-1321" t="0" r="-1321" b="0"/>
              </a:stretch>
            </a:blipFill>
          </p:spPr>
        </p:sp>
        <p:sp>
          <p:nvSpPr>
            <p:cNvPr name="TextBox 46" id="46"/>
            <p:cNvSpPr txBox="true"/>
            <p:nvPr/>
          </p:nvSpPr>
          <p:spPr>
            <a:xfrm>
              <a:off x="0" y="-9525"/>
              <a:ext cx="2834640" cy="1143381"/>
            </a:xfrm>
            <a:prstGeom prst="rect">
              <a:avLst/>
            </a:prstGeom>
          </p:spPr>
          <p:txBody>
            <a:bodyPr anchor="ctr" rtlCol="false" tIns="0" lIns="0" bIns="0" rIns="0"/>
            <a:lstStyle/>
            <a:p>
              <a:pPr algn="l">
                <a:lnSpc>
                  <a:spcPts val="3419"/>
                </a:lnSpc>
              </a:pPr>
              <a:r>
                <a:rPr lang="en-US" sz="2850" b="true">
                  <a:solidFill>
                    <a:srgbClr val="202C30"/>
                  </a:solidFill>
                  <a:latin typeface="Trebuchet MS Bold"/>
                  <a:ea typeface="Trebuchet MS Bold"/>
                  <a:cs typeface="Trebuchet MS Bold"/>
                  <a:sym typeface="Trebuchet MS Bold"/>
                </a:rPr>
                <a:t>Customer orders</a:t>
              </a:r>
            </a:p>
          </p:txBody>
        </p:sp>
      </p:grpSp>
      <p:grpSp>
        <p:nvGrpSpPr>
          <p:cNvPr name="Group 47" id="47"/>
          <p:cNvGrpSpPr/>
          <p:nvPr/>
        </p:nvGrpSpPr>
        <p:grpSpPr>
          <a:xfrm rot="0">
            <a:off x="13488924" y="3599688"/>
            <a:ext cx="3924300" cy="1414272"/>
            <a:chOff x="0" y="0"/>
            <a:chExt cx="5232400" cy="1885696"/>
          </a:xfrm>
        </p:grpSpPr>
        <p:sp>
          <p:nvSpPr>
            <p:cNvPr name="Freeform 48" id="48"/>
            <p:cNvSpPr/>
            <p:nvPr/>
          </p:nvSpPr>
          <p:spPr>
            <a:xfrm flipH="false" flipV="false" rot="0">
              <a:off x="0" y="0"/>
              <a:ext cx="5232400" cy="1885696"/>
            </a:xfrm>
            <a:custGeom>
              <a:avLst/>
              <a:gdLst/>
              <a:ahLst/>
              <a:cxnLst/>
              <a:rect r="r" b="b" t="t" l="l"/>
              <a:pathLst>
                <a:path h="1885696" w="5232400">
                  <a:moveTo>
                    <a:pt x="0" y="0"/>
                  </a:moveTo>
                  <a:lnTo>
                    <a:pt x="5232400" y="0"/>
                  </a:lnTo>
                  <a:lnTo>
                    <a:pt x="5232400" y="1885696"/>
                  </a:lnTo>
                  <a:lnTo>
                    <a:pt x="0" y="1885696"/>
                  </a:lnTo>
                  <a:close/>
                </a:path>
              </a:pathLst>
            </a:custGeom>
            <a:solidFill>
              <a:srgbClr val="F5F7F7"/>
            </a:solidFill>
            <a:ln w="15240" cap="sq">
              <a:solidFill>
                <a:srgbClr val="F5F7F7"/>
              </a:solidFill>
              <a:prstDash val="solid"/>
              <a:miter/>
            </a:ln>
          </p:spPr>
        </p:sp>
      </p:grpSp>
      <p:grpSp>
        <p:nvGrpSpPr>
          <p:cNvPr name="Group 49" id="49"/>
          <p:cNvGrpSpPr/>
          <p:nvPr/>
        </p:nvGrpSpPr>
        <p:grpSpPr>
          <a:xfrm rot="0">
            <a:off x="13716000" y="3771900"/>
            <a:ext cx="1193292" cy="891540"/>
            <a:chOff x="0" y="0"/>
            <a:chExt cx="1591056" cy="1188720"/>
          </a:xfrm>
        </p:grpSpPr>
        <p:sp>
          <p:nvSpPr>
            <p:cNvPr name="Freeform 50" id="50"/>
            <p:cNvSpPr/>
            <p:nvPr/>
          </p:nvSpPr>
          <p:spPr>
            <a:xfrm flipH="false" flipV="false" rot="0">
              <a:off x="0" y="0"/>
              <a:ext cx="1591056" cy="1188720"/>
            </a:xfrm>
            <a:custGeom>
              <a:avLst/>
              <a:gdLst/>
              <a:ahLst/>
              <a:cxnLst/>
              <a:rect r="r" b="b" t="t" l="l"/>
              <a:pathLst>
                <a:path h="1188720" w="1591056">
                  <a:moveTo>
                    <a:pt x="0" y="0"/>
                  </a:moveTo>
                  <a:lnTo>
                    <a:pt x="1591056" y="0"/>
                  </a:lnTo>
                  <a:lnTo>
                    <a:pt x="1591056" y="1188720"/>
                  </a:lnTo>
                  <a:lnTo>
                    <a:pt x="0" y="1188720"/>
                  </a:lnTo>
                  <a:close/>
                </a:path>
              </a:pathLst>
            </a:custGeom>
            <a:blipFill>
              <a:blip r:embed="rId3">
                <a:alphaModFix amt="0"/>
              </a:blip>
              <a:stretch>
                <a:fillRect l="-45858" t="0" r="-45858" b="0"/>
              </a:stretch>
            </a:blipFill>
          </p:spPr>
        </p:sp>
        <p:sp>
          <p:nvSpPr>
            <p:cNvPr name="TextBox 51" id="51"/>
            <p:cNvSpPr txBox="true"/>
            <p:nvPr/>
          </p:nvSpPr>
          <p:spPr>
            <a:xfrm>
              <a:off x="0" y="-9525"/>
              <a:ext cx="1591056" cy="1198245"/>
            </a:xfrm>
            <a:prstGeom prst="rect">
              <a:avLst/>
            </a:prstGeom>
          </p:spPr>
          <p:txBody>
            <a:bodyPr anchor="ctr" rtlCol="false" tIns="0" lIns="0" bIns="0" rIns="0"/>
            <a:lstStyle/>
            <a:p>
              <a:pPr algn="l">
                <a:lnSpc>
                  <a:spcPts val="7739"/>
                </a:lnSpc>
              </a:pPr>
              <a:r>
                <a:rPr lang="en-US" sz="6450" b="true">
                  <a:solidFill>
                    <a:srgbClr val="087E83"/>
                  </a:solidFill>
                  <a:latin typeface="Trebuchet MS Bold"/>
                  <a:ea typeface="Trebuchet MS Bold"/>
                  <a:cs typeface="Trebuchet MS Bold"/>
                  <a:sym typeface="Trebuchet MS Bold"/>
                </a:rPr>
                <a:t>6</a:t>
              </a:r>
            </a:p>
          </p:txBody>
        </p:sp>
      </p:grpSp>
      <p:grpSp>
        <p:nvGrpSpPr>
          <p:cNvPr name="Group 52" id="52"/>
          <p:cNvGrpSpPr/>
          <p:nvPr/>
        </p:nvGrpSpPr>
        <p:grpSpPr>
          <a:xfrm rot="0">
            <a:off x="15032736" y="3799332"/>
            <a:ext cx="2125980" cy="850392"/>
            <a:chOff x="0" y="0"/>
            <a:chExt cx="2834640" cy="1133856"/>
          </a:xfrm>
        </p:grpSpPr>
        <p:sp>
          <p:nvSpPr>
            <p:cNvPr name="Freeform 53" id="53"/>
            <p:cNvSpPr/>
            <p:nvPr/>
          </p:nvSpPr>
          <p:spPr>
            <a:xfrm flipH="false" flipV="false" rot="0">
              <a:off x="0" y="0"/>
              <a:ext cx="2834640" cy="1133856"/>
            </a:xfrm>
            <a:custGeom>
              <a:avLst/>
              <a:gdLst/>
              <a:ahLst/>
              <a:cxnLst/>
              <a:rect r="r" b="b" t="t" l="l"/>
              <a:pathLst>
                <a:path h="1133856" w="2834640">
                  <a:moveTo>
                    <a:pt x="0" y="0"/>
                  </a:moveTo>
                  <a:lnTo>
                    <a:pt x="2834640" y="0"/>
                  </a:lnTo>
                  <a:lnTo>
                    <a:pt x="2834640" y="1133856"/>
                  </a:lnTo>
                  <a:lnTo>
                    <a:pt x="0" y="1133856"/>
                  </a:lnTo>
                  <a:close/>
                </a:path>
              </a:pathLst>
            </a:custGeom>
            <a:blipFill>
              <a:blip r:embed="rId3">
                <a:alphaModFix amt="0"/>
              </a:blip>
              <a:stretch>
                <a:fillRect l="-1321" t="0" r="-1321" b="0"/>
              </a:stretch>
            </a:blipFill>
          </p:spPr>
        </p:sp>
        <p:sp>
          <p:nvSpPr>
            <p:cNvPr name="TextBox 54" id="54"/>
            <p:cNvSpPr txBox="true"/>
            <p:nvPr/>
          </p:nvSpPr>
          <p:spPr>
            <a:xfrm>
              <a:off x="0" y="-9525"/>
              <a:ext cx="2834640" cy="1143381"/>
            </a:xfrm>
            <a:prstGeom prst="rect">
              <a:avLst/>
            </a:prstGeom>
          </p:spPr>
          <p:txBody>
            <a:bodyPr anchor="ctr" rtlCol="false" tIns="0" lIns="0" bIns="0" rIns="0"/>
            <a:lstStyle/>
            <a:p>
              <a:pPr algn="l">
                <a:lnSpc>
                  <a:spcPts val="3419"/>
                </a:lnSpc>
              </a:pPr>
              <a:r>
                <a:rPr lang="en-US" sz="2850" b="true">
                  <a:solidFill>
                    <a:srgbClr val="202C30"/>
                  </a:solidFill>
                  <a:latin typeface="Trebuchet MS Bold"/>
                  <a:ea typeface="Trebuchet MS Bold"/>
                  <a:cs typeface="Trebuchet MS Bold"/>
                  <a:sym typeface="Trebuchet MS Bold"/>
                </a:rPr>
                <a:t>Inbound POs</a:t>
              </a:r>
            </a:p>
          </p:txBody>
        </p:sp>
      </p:grpSp>
      <p:grpSp>
        <p:nvGrpSpPr>
          <p:cNvPr name="Group 55" id="55"/>
          <p:cNvGrpSpPr/>
          <p:nvPr/>
        </p:nvGrpSpPr>
        <p:grpSpPr>
          <a:xfrm rot="0">
            <a:off x="815340" y="5341620"/>
            <a:ext cx="5268468" cy="947928"/>
            <a:chOff x="0" y="0"/>
            <a:chExt cx="7024624" cy="1263904"/>
          </a:xfrm>
        </p:grpSpPr>
        <p:sp>
          <p:nvSpPr>
            <p:cNvPr name="Freeform 56" id="56"/>
            <p:cNvSpPr/>
            <p:nvPr/>
          </p:nvSpPr>
          <p:spPr>
            <a:xfrm flipH="false" flipV="false" rot="0">
              <a:off x="0" y="0"/>
              <a:ext cx="7024624" cy="1263904"/>
            </a:xfrm>
            <a:custGeom>
              <a:avLst/>
              <a:gdLst/>
              <a:ahLst/>
              <a:cxnLst/>
              <a:rect r="r" b="b" t="t" l="l"/>
              <a:pathLst>
                <a:path h="1263904" w="7024624">
                  <a:moveTo>
                    <a:pt x="0" y="0"/>
                  </a:moveTo>
                  <a:lnTo>
                    <a:pt x="7024624" y="0"/>
                  </a:lnTo>
                  <a:lnTo>
                    <a:pt x="7024624" y="1263904"/>
                  </a:lnTo>
                  <a:lnTo>
                    <a:pt x="0" y="1263904"/>
                  </a:lnTo>
                  <a:close/>
                </a:path>
              </a:pathLst>
            </a:custGeom>
            <a:solidFill>
              <a:srgbClr val="F9EAEB"/>
            </a:solidFill>
            <a:ln w="15240" cap="sq">
              <a:solidFill>
                <a:srgbClr val="F9EAEB"/>
              </a:solidFill>
              <a:prstDash val="solid"/>
              <a:miter/>
            </a:ln>
          </p:spPr>
        </p:sp>
      </p:grpSp>
      <p:grpSp>
        <p:nvGrpSpPr>
          <p:cNvPr name="Group 57" id="57"/>
          <p:cNvGrpSpPr/>
          <p:nvPr/>
        </p:nvGrpSpPr>
        <p:grpSpPr>
          <a:xfrm rot="0">
            <a:off x="1042416" y="5458968"/>
            <a:ext cx="713232" cy="644652"/>
            <a:chOff x="0" y="0"/>
            <a:chExt cx="950976" cy="859536"/>
          </a:xfrm>
        </p:grpSpPr>
        <p:sp>
          <p:nvSpPr>
            <p:cNvPr name="Freeform 58" id="58"/>
            <p:cNvSpPr/>
            <p:nvPr/>
          </p:nvSpPr>
          <p:spPr>
            <a:xfrm flipH="false" flipV="false" rot="0">
              <a:off x="0" y="0"/>
              <a:ext cx="950976" cy="859536"/>
            </a:xfrm>
            <a:custGeom>
              <a:avLst/>
              <a:gdLst/>
              <a:ahLst/>
              <a:cxnLst/>
              <a:rect r="r" b="b" t="t" l="l"/>
              <a:pathLst>
                <a:path h="859536" w="950976">
                  <a:moveTo>
                    <a:pt x="0" y="0"/>
                  </a:moveTo>
                  <a:lnTo>
                    <a:pt x="950976" y="0"/>
                  </a:lnTo>
                  <a:lnTo>
                    <a:pt x="950976" y="859536"/>
                  </a:lnTo>
                  <a:lnTo>
                    <a:pt x="0" y="859536"/>
                  </a:lnTo>
                  <a:close/>
                </a:path>
              </a:pathLst>
            </a:custGeom>
            <a:blipFill>
              <a:blip r:embed="rId3">
                <a:alphaModFix amt="0"/>
              </a:blip>
              <a:stretch>
                <a:fillRect l="-65966" t="0" r="-65966" b="0"/>
              </a:stretch>
            </a:blipFill>
          </p:spPr>
        </p:sp>
        <p:sp>
          <p:nvSpPr>
            <p:cNvPr name="TextBox 59" id="59"/>
            <p:cNvSpPr txBox="true"/>
            <p:nvPr/>
          </p:nvSpPr>
          <p:spPr>
            <a:xfrm>
              <a:off x="0" y="-19050"/>
              <a:ext cx="950976" cy="878586"/>
            </a:xfrm>
            <a:prstGeom prst="rect">
              <a:avLst/>
            </a:prstGeom>
          </p:spPr>
          <p:txBody>
            <a:bodyPr anchor="ctr" rtlCol="false" tIns="0" lIns="0" bIns="0" rIns="0"/>
            <a:lstStyle/>
            <a:p>
              <a:pPr algn="l">
                <a:lnSpc>
                  <a:spcPts val="5400"/>
                </a:lnSpc>
              </a:pPr>
              <a:r>
                <a:rPr lang="en-US" sz="4500" b="true">
                  <a:solidFill>
                    <a:srgbClr val="BB4046"/>
                  </a:solidFill>
                  <a:latin typeface="Trebuchet MS Bold"/>
                  <a:ea typeface="Trebuchet MS Bold"/>
                  <a:cs typeface="Trebuchet MS Bold"/>
                  <a:sym typeface="Trebuchet MS Bold"/>
                </a:rPr>
                <a:t>1</a:t>
              </a:r>
            </a:p>
          </p:txBody>
        </p:sp>
      </p:grpSp>
      <p:grpSp>
        <p:nvGrpSpPr>
          <p:cNvPr name="Group 60" id="60"/>
          <p:cNvGrpSpPr/>
          <p:nvPr/>
        </p:nvGrpSpPr>
        <p:grpSpPr>
          <a:xfrm rot="0">
            <a:off x="2002536" y="5458968"/>
            <a:ext cx="3840480" cy="644652"/>
            <a:chOff x="0" y="0"/>
            <a:chExt cx="5120640" cy="859536"/>
          </a:xfrm>
        </p:grpSpPr>
        <p:sp>
          <p:nvSpPr>
            <p:cNvPr name="Freeform 61" id="61"/>
            <p:cNvSpPr/>
            <p:nvPr/>
          </p:nvSpPr>
          <p:spPr>
            <a:xfrm flipH="false" flipV="false" rot="0">
              <a:off x="0" y="0"/>
              <a:ext cx="5120640" cy="859536"/>
            </a:xfrm>
            <a:custGeom>
              <a:avLst/>
              <a:gdLst/>
              <a:ahLst/>
              <a:cxnLst/>
              <a:rect r="r" b="b" t="t" l="l"/>
              <a:pathLst>
                <a:path h="859536" w="5120640">
                  <a:moveTo>
                    <a:pt x="0" y="0"/>
                  </a:moveTo>
                  <a:lnTo>
                    <a:pt x="5120640" y="0"/>
                  </a:lnTo>
                  <a:lnTo>
                    <a:pt x="5120640" y="859536"/>
                  </a:lnTo>
                  <a:lnTo>
                    <a:pt x="0" y="859536"/>
                  </a:lnTo>
                  <a:close/>
                </a:path>
              </a:pathLst>
            </a:custGeom>
            <a:blipFill>
              <a:blip r:embed="rId3">
                <a:alphaModFix amt="0"/>
              </a:blip>
              <a:stretch>
                <a:fillRect l="0" t="-66081" r="0" b="-66081"/>
              </a:stretch>
            </a:blipFill>
          </p:spPr>
        </p:sp>
        <p:sp>
          <p:nvSpPr>
            <p:cNvPr name="TextBox 62" id="62"/>
            <p:cNvSpPr txBox="true"/>
            <p:nvPr/>
          </p:nvSpPr>
          <p:spPr>
            <a:xfrm>
              <a:off x="0" y="-9525"/>
              <a:ext cx="5120640" cy="869061"/>
            </a:xfrm>
            <a:prstGeom prst="rect">
              <a:avLst/>
            </a:prstGeom>
          </p:spPr>
          <p:txBody>
            <a:bodyPr anchor="ctr" rtlCol="false" tIns="0" lIns="0" bIns="0" rIns="0"/>
            <a:lstStyle/>
            <a:p>
              <a:pPr algn="l">
                <a:lnSpc>
                  <a:spcPts val="3600"/>
                </a:lnSpc>
              </a:pPr>
              <a:r>
                <a:rPr lang="en-US" sz="3000" b="true">
                  <a:solidFill>
                    <a:srgbClr val="BB4046"/>
                  </a:solidFill>
                  <a:latin typeface="Trebuchet MS Bold"/>
                  <a:ea typeface="Trebuchet MS Bold"/>
                  <a:cs typeface="Trebuchet MS Bold"/>
                  <a:sym typeface="Trebuchet MS Bold"/>
                </a:rPr>
                <a:t>Critical risk</a:t>
              </a:r>
            </a:p>
          </p:txBody>
        </p:sp>
      </p:grpSp>
      <p:grpSp>
        <p:nvGrpSpPr>
          <p:cNvPr name="Group 63" id="63"/>
          <p:cNvGrpSpPr/>
          <p:nvPr/>
        </p:nvGrpSpPr>
        <p:grpSpPr>
          <a:xfrm rot="0">
            <a:off x="6480048" y="5341620"/>
            <a:ext cx="5268468" cy="947928"/>
            <a:chOff x="0" y="0"/>
            <a:chExt cx="7024624" cy="1263904"/>
          </a:xfrm>
        </p:grpSpPr>
        <p:sp>
          <p:nvSpPr>
            <p:cNvPr name="Freeform 64" id="64"/>
            <p:cNvSpPr/>
            <p:nvPr/>
          </p:nvSpPr>
          <p:spPr>
            <a:xfrm flipH="false" flipV="false" rot="0">
              <a:off x="0" y="0"/>
              <a:ext cx="7024624" cy="1263904"/>
            </a:xfrm>
            <a:custGeom>
              <a:avLst/>
              <a:gdLst/>
              <a:ahLst/>
              <a:cxnLst/>
              <a:rect r="r" b="b" t="t" l="l"/>
              <a:pathLst>
                <a:path h="1263904" w="7024624">
                  <a:moveTo>
                    <a:pt x="0" y="0"/>
                  </a:moveTo>
                  <a:lnTo>
                    <a:pt x="7024624" y="0"/>
                  </a:lnTo>
                  <a:lnTo>
                    <a:pt x="7024624" y="1263904"/>
                  </a:lnTo>
                  <a:lnTo>
                    <a:pt x="0" y="1263904"/>
                  </a:lnTo>
                  <a:close/>
                </a:path>
              </a:pathLst>
            </a:custGeom>
            <a:solidFill>
              <a:srgbClr val="FAEEDB"/>
            </a:solidFill>
            <a:ln w="15240" cap="sq">
              <a:solidFill>
                <a:srgbClr val="FAEEDB"/>
              </a:solidFill>
              <a:prstDash val="solid"/>
              <a:miter/>
            </a:ln>
          </p:spPr>
        </p:sp>
      </p:grpSp>
      <p:grpSp>
        <p:nvGrpSpPr>
          <p:cNvPr name="Group 65" id="65"/>
          <p:cNvGrpSpPr/>
          <p:nvPr/>
        </p:nvGrpSpPr>
        <p:grpSpPr>
          <a:xfrm rot="0">
            <a:off x="6707124" y="5458968"/>
            <a:ext cx="713232" cy="644652"/>
            <a:chOff x="0" y="0"/>
            <a:chExt cx="950976" cy="859536"/>
          </a:xfrm>
        </p:grpSpPr>
        <p:sp>
          <p:nvSpPr>
            <p:cNvPr name="Freeform 66" id="66"/>
            <p:cNvSpPr/>
            <p:nvPr/>
          </p:nvSpPr>
          <p:spPr>
            <a:xfrm flipH="false" flipV="false" rot="0">
              <a:off x="0" y="0"/>
              <a:ext cx="950976" cy="859536"/>
            </a:xfrm>
            <a:custGeom>
              <a:avLst/>
              <a:gdLst/>
              <a:ahLst/>
              <a:cxnLst/>
              <a:rect r="r" b="b" t="t" l="l"/>
              <a:pathLst>
                <a:path h="859536" w="950976">
                  <a:moveTo>
                    <a:pt x="0" y="0"/>
                  </a:moveTo>
                  <a:lnTo>
                    <a:pt x="950976" y="0"/>
                  </a:lnTo>
                  <a:lnTo>
                    <a:pt x="950976" y="859536"/>
                  </a:lnTo>
                  <a:lnTo>
                    <a:pt x="0" y="859536"/>
                  </a:lnTo>
                  <a:close/>
                </a:path>
              </a:pathLst>
            </a:custGeom>
            <a:blipFill>
              <a:blip r:embed="rId3">
                <a:alphaModFix amt="0"/>
              </a:blip>
              <a:stretch>
                <a:fillRect l="-65966" t="0" r="-65966" b="0"/>
              </a:stretch>
            </a:blipFill>
          </p:spPr>
        </p:sp>
        <p:sp>
          <p:nvSpPr>
            <p:cNvPr name="TextBox 67" id="67"/>
            <p:cNvSpPr txBox="true"/>
            <p:nvPr/>
          </p:nvSpPr>
          <p:spPr>
            <a:xfrm>
              <a:off x="0" y="-19050"/>
              <a:ext cx="950976" cy="878586"/>
            </a:xfrm>
            <a:prstGeom prst="rect">
              <a:avLst/>
            </a:prstGeom>
          </p:spPr>
          <p:txBody>
            <a:bodyPr anchor="ctr" rtlCol="false" tIns="0" lIns="0" bIns="0" rIns="0"/>
            <a:lstStyle/>
            <a:p>
              <a:pPr algn="l">
                <a:lnSpc>
                  <a:spcPts val="5400"/>
                </a:lnSpc>
              </a:pPr>
              <a:r>
                <a:rPr lang="en-US" sz="4500" b="true">
                  <a:solidFill>
                    <a:srgbClr val="AD6818"/>
                  </a:solidFill>
                  <a:latin typeface="Trebuchet MS Bold"/>
                  <a:ea typeface="Trebuchet MS Bold"/>
                  <a:cs typeface="Trebuchet MS Bold"/>
                  <a:sym typeface="Trebuchet MS Bold"/>
                </a:rPr>
                <a:t>3</a:t>
              </a:r>
            </a:p>
          </p:txBody>
        </p:sp>
      </p:grpSp>
      <p:grpSp>
        <p:nvGrpSpPr>
          <p:cNvPr name="Group 68" id="68"/>
          <p:cNvGrpSpPr/>
          <p:nvPr/>
        </p:nvGrpSpPr>
        <p:grpSpPr>
          <a:xfrm rot="0">
            <a:off x="7667244" y="5458968"/>
            <a:ext cx="3840480" cy="644652"/>
            <a:chOff x="0" y="0"/>
            <a:chExt cx="5120640" cy="859536"/>
          </a:xfrm>
        </p:grpSpPr>
        <p:sp>
          <p:nvSpPr>
            <p:cNvPr name="Freeform 69" id="69"/>
            <p:cNvSpPr/>
            <p:nvPr/>
          </p:nvSpPr>
          <p:spPr>
            <a:xfrm flipH="false" flipV="false" rot="0">
              <a:off x="0" y="0"/>
              <a:ext cx="5120640" cy="859536"/>
            </a:xfrm>
            <a:custGeom>
              <a:avLst/>
              <a:gdLst/>
              <a:ahLst/>
              <a:cxnLst/>
              <a:rect r="r" b="b" t="t" l="l"/>
              <a:pathLst>
                <a:path h="859536" w="5120640">
                  <a:moveTo>
                    <a:pt x="0" y="0"/>
                  </a:moveTo>
                  <a:lnTo>
                    <a:pt x="5120640" y="0"/>
                  </a:lnTo>
                  <a:lnTo>
                    <a:pt x="5120640" y="859536"/>
                  </a:lnTo>
                  <a:lnTo>
                    <a:pt x="0" y="859536"/>
                  </a:lnTo>
                  <a:close/>
                </a:path>
              </a:pathLst>
            </a:custGeom>
            <a:blipFill>
              <a:blip r:embed="rId3">
                <a:alphaModFix amt="0"/>
              </a:blip>
              <a:stretch>
                <a:fillRect l="0" t="-66081" r="0" b="-66081"/>
              </a:stretch>
            </a:blipFill>
          </p:spPr>
        </p:sp>
        <p:sp>
          <p:nvSpPr>
            <p:cNvPr name="TextBox 70" id="70"/>
            <p:cNvSpPr txBox="true"/>
            <p:nvPr/>
          </p:nvSpPr>
          <p:spPr>
            <a:xfrm>
              <a:off x="0" y="-9525"/>
              <a:ext cx="5120640" cy="869061"/>
            </a:xfrm>
            <a:prstGeom prst="rect">
              <a:avLst/>
            </a:prstGeom>
          </p:spPr>
          <p:txBody>
            <a:bodyPr anchor="ctr" rtlCol="false" tIns="0" lIns="0" bIns="0" rIns="0"/>
            <a:lstStyle/>
            <a:p>
              <a:pPr algn="l">
                <a:lnSpc>
                  <a:spcPts val="3600"/>
                </a:lnSpc>
              </a:pPr>
              <a:r>
                <a:rPr lang="en-US" sz="3000" b="true">
                  <a:solidFill>
                    <a:srgbClr val="AD6818"/>
                  </a:solidFill>
                  <a:latin typeface="Trebuchet MS Bold"/>
                  <a:ea typeface="Trebuchet MS Bold"/>
                  <a:cs typeface="Trebuchet MS Bold"/>
                  <a:sym typeface="Trebuchet MS Bold"/>
                </a:rPr>
                <a:t>High risks</a:t>
              </a:r>
            </a:p>
          </p:txBody>
        </p:sp>
      </p:grpSp>
      <p:grpSp>
        <p:nvGrpSpPr>
          <p:cNvPr name="Group 71" id="71"/>
          <p:cNvGrpSpPr/>
          <p:nvPr/>
        </p:nvGrpSpPr>
        <p:grpSpPr>
          <a:xfrm rot="0">
            <a:off x="12144756" y="5341620"/>
            <a:ext cx="5268468" cy="947928"/>
            <a:chOff x="0" y="0"/>
            <a:chExt cx="7024624" cy="1263904"/>
          </a:xfrm>
        </p:grpSpPr>
        <p:sp>
          <p:nvSpPr>
            <p:cNvPr name="Freeform 72" id="72"/>
            <p:cNvSpPr/>
            <p:nvPr/>
          </p:nvSpPr>
          <p:spPr>
            <a:xfrm flipH="false" flipV="false" rot="0">
              <a:off x="0" y="0"/>
              <a:ext cx="7024624" cy="1263904"/>
            </a:xfrm>
            <a:custGeom>
              <a:avLst/>
              <a:gdLst/>
              <a:ahLst/>
              <a:cxnLst/>
              <a:rect r="r" b="b" t="t" l="l"/>
              <a:pathLst>
                <a:path h="1263904" w="7024624">
                  <a:moveTo>
                    <a:pt x="0" y="0"/>
                  </a:moveTo>
                  <a:lnTo>
                    <a:pt x="7024624" y="0"/>
                  </a:lnTo>
                  <a:lnTo>
                    <a:pt x="7024624" y="1263904"/>
                  </a:lnTo>
                  <a:lnTo>
                    <a:pt x="0" y="1263904"/>
                  </a:lnTo>
                  <a:close/>
                </a:path>
              </a:pathLst>
            </a:custGeom>
            <a:solidFill>
              <a:srgbClr val="CFE8E3"/>
            </a:solidFill>
            <a:ln w="15240" cap="sq">
              <a:solidFill>
                <a:srgbClr val="CFE8E3"/>
              </a:solidFill>
              <a:prstDash val="solid"/>
              <a:miter/>
            </a:ln>
          </p:spPr>
        </p:sp>
      </p:grpSp>
      <p:grpSp>
        <p:nvGrpSpPr>
          <p:cNvPr name="Group 73" id="73"/>
          <p:cNvGrpSpPr/>
          <p:nvPr/>
        </p:nvGrpSpPr>
        <p:grpSpPr>
          <a:xfrm rot="0">
            <a:off x="12371832" y="5458968"/>
            <a:ext cx="713232" cy="644652"/>
            <a:chOff x="0" y="0"/>
            <a:chExt cx="950976" cy="859536"/>
          </a:xfrm>
        </p:grpSpPr>
        <p:sp>
          <p:nvSpPr>
            <p:cNvPr name="Freeform 74" id="74"/>
            <p:cNvSpPr/>
            <p:nvPr/>
          </p:nvSpPr>
          <p:spPr>
            <a:xfrm flipH="false" flipV="false" rot="0">
              <a:off x="0" y="0"/>
              <a:ext cx="950976" cy="859536"/>
            </a:xfrm>
            <a:custGeom>
              <a:avLst/>
              <a:gdLst/>
              <a:ahLst/>
              <a:cxnLst/>
              <a:rect r="r" b="b" t="t" l="l"/>
              <a:pathLst>
                <a:path h="859536" w="950976">
                  <a:moveTo>
                    <a:pt x="0" y="0"/>
                  </a:moveTo>
                  <a:lnTo>
                    <a:pt x="950976" y="0"/>
                  </a:lnTo>
                  <a:lnTo>
                    <a:pt x="950976" y="859536"/>
                  </a:lnTo>
                  <a:lnTo>
                    <a:pt x="0" y="859536"/>
                  </a:lnTo>
                  <a:close/>
                </a:path>
              </a:pathLst>
            </a:custGeom>
            <a:blipFill>
              <a:blip r:embed="rId3">
                <a:alphaModFix amt="0"/>
              </a:blip>
              <a:stretch>
                <a:fillRect l="-65966" t="0" r="-65966" b="0"/>
              </a:stretch>
            </a:blipFill>
          </p:spPr>
        </p:sp>
        <p:sp>
          <p:nvSpPr>
            <p:cNvPr name="TextBox 75" id="75"/>
            <p:cNvSpPr txBox="true"/>
            <p:nvPr/>
          </p:nvSpPr>
          <p:spPr>
            <a:xfrm>
              <a:off x="0" y="-19050"/>
              <a:ext cx="950976" cy="878586"/>
            </a:xfrm>
            <a:prstGeom prst="rect">
              <a:avLst/>
            </a:prstGeom>
          </p:spPr>
          <p:txBody>
            <a:bodyPr anchor="ctr" rtlCol="false" tIns="0" lIns="0" bIns="0" rIns="0"/>
            <a:lstStyle/>
            <a:p>
              <a:pPr algn="l">
                <a:lnSpc>
                  <a:spcPts val="5400"/>
                </a:lnSpc>
              </a:pPr>
              <a:r>
                <a:rPr lang="en-US" sz="4500" b="true">
                  <a:solidFill>
                    <a:srgbClr val="087E83"/>
                  </a:solidFill>
                  <a:latin typeface="Trebuchet MS Bold"/>
                  <a:ea typeface="Trebuchet MS Bold"/>
                  <a:cs typeface="Trebuchet MS Bold"/>
                  <a:sym typeface="Trebuchet MS Bold"/>
                </a:rPr>
                <a:t>2</a:t>
              </a:r>
            </a:p>
          </p:txBody>
        </p:sp>
      </p:grpSp>
      <p:grpSp>
        <p:nvGrpSpPr>
          <p:cNvPr name="Group 76" id="76"/>
          <p:cNvGrpSpPr/>
          <p:nvPr/>
        </p:nvGrpSpPr>
        <p:grpSpPr>
          <a:xfrm rot="0">
            <a:off x="13331952" y="5458968"/>
            <a:ext cx="3840480" cy="644652"/>
            <a:chOff x="0" y="0"/>
            <a:chExt cx="5120640" cy="859536"/>
          </a:xfrm>
        </p:grpSpPr>
        <p:sp>
          <p:nvSpPr>
            <p:cNvPr name="Freeform 77" id="77"/>
            <p:cNvSpPr/>
            <p:nvPr/>
          </p:nvSpPr>
          <p:spPr>
            <a:xfrm flipH="false" flipV="false" rot="0">
              <a:off x="0" y="0"/>
              <a:ext cx="5120640" cy="859536"/>
            </a:xfrm>
            <a:custGeom>
              <a:avLst/>
              <a:gdLst/>
              <a:ahLst/>
              <a:cxnLst/>
              <a:rect r="r" b="b" t="t" l="l"/>
              <a:pathLst>
                <a:path h="859536" w="5120640">
                  <a:moveTo>
                    <a:pt x="0" y="0"/>
                  </a:moveTo>
                  <a:lnTo>
                    <a:pt x="5120640" y="0"/>
                  </a:lnTo>
                  <a:lnTo>
                    <a:pt x="5120640" y="859536"/>
                  </a:lnTo>
                  <a:lnTo>
                    <a:pt x="0" y="859536"/>
                  </a:lnTo>
                  <a:close/>
                </a:path>
              </a:pathLst>
            </a:custGeom>
            <a:blipFill>
              <a:blip r:embed="rId3">
                <a:alphaModFix amt="0"/>
              </a:blip>
              <a:stretch>
                <a:fillRect l="0" t="-66081" r="0" b="-66081"/>
              </a:stretch>
            </a:blipFill>
          </p:spPr>
        </p:sp>
        <p:sp>
          <p:nvSpPr>
            <p:cNvPr name="TextBox 78" id="78"/>
            <p:cNvSpPr txBox="true"/>
            <p:nvPr/>
          </p:nvSpPr>
          <p:spPr>
            <a:xfrm>
              <a:off x="0" y="-9525"/>
              <a:ext cx="5120640" cy="869061"/>
            </a:xfrm>
            <a:prstGeom prst="rect">
              <a:avLst/>
            </a:prstGeom>
          </p:spPr>
          <p:txBody>
            <a:bodyPr anchor="ctr" rtlCol="false" tIns="0" lIns="0" bIns="0" rIns="0"/>
            <a:lstStyle/>
            <a:p>
              <a:pPr algn="l">
                <a:lnSpc>
                  <a:spcPts val="3600"/>
                </a:lnSpc>
              </a:pPr>
              <a:r>
                <a:rPr lang="en-US" sz="3000" b="true">
                  <a:solidFill>
                    <a:srgbClr val="087E83"/>
                  </a:solidFill>
                  <a:latin typeface="Trebuchet MS Bold"/>
                  <a:ea typeface="Trebuchet MS Bold"/>
                  <a:cs typeface="Trebuchet MS Bold"/>
                  <a:sym typeface="Trebuchet MS Bold"/>
                </a:rPr>
                <a:t>Medium / watchlist</a:t>
              </a:r>
            </a:p>
          </p:txBody>
        </p:sp>
      </p:grpSp>
      <p:grpSp>
        <p:nvGrpSpPr>
          <p:cNvPr name="Group 79" id="79"/>
          <p:cNvGrpSpPr/>
          <p:nvPr/>
        </p:nvGrpSpPr>
        <p:grpSpPr>
          <a:xfrm rot="0">
            <a:off x="822960" y="6624828"/>
            <a:ext cx="1783080" cy="480060"/>
            <a:chOff x="0" y="0"/>
            <a:chExt cx="2377440" cy="640080"/>
          </a:xfrm>
        </p:grpSpPr>
        <p:sp>
          <p:nvSpPr>
            <p:cNvPr name="Freeform 80" id="80"/>
            <p:cNvSpPr/>
            <p:nvPr/>
          </p:nvSpPr>
          <p:spPr>
            <a:xfrm flipH="false" flipV="false" rot="0">
              <a:off x="0" y="0"/>
              <a:ext cx="2377440" cy="640080"/>
            </a:xfrm>
            <a:custGeom>
              <a:avLst/>
              <a:gdLst/>
              <a:ahLst/>
              <a:cxnLst/>
              <a:rect r="r" b="b" t="t" l="l"/>
              <a:pathLst>
                <a:path h="640080" w="2377440">
                  <a:moveTo>
                    <a:pt x="0" y="0"/>
                  </a:moveTo>
                  <a:lnTo>
                    <a:pt x="2377440" y="0"/>
                  </a:lnTo>
                  <a:lnTo>
                    <a:pt x="2377440" y="640080"/>
                  </a:lnTo>
                  <a:lnTo>
                    <a:pt x="0" y="640080"/>
                  </a:lnTo>
                  <a:close/>
                </a:path>
              </a:pathLst>
            </a:custGeom>
            <a:blipFill>
              <a:blip r:embed="rId3">
                <a:alphaModFix amt="0"/>
              </a:blip>
              <a:stretch>
                <a:fillRect l="0" t="-22372" r="0" b="-22372"/>
              </a:stretch>
            </a:blipFill>
          </p:spPr>
        </p:sp>
        <p:sp>
          <p:nvSpPr>
            <p:cNvPr name="TextBox 81" id="81"/>
            <p:cNvSpPr txBox="true"/>
            <p:nvPr/>
          </p:nvSpPr>
          <p:spPr>
            <a:xfrm>
              <a:off x="0" y="-9525"/>
              <a:ext cx="2377440" cy="649605"/>
            </a:xfrm>
            <a:prstGeom prst="rect">
              <a:avLst/>
            </a:prstGeom>
          </p:spPr>
          <p:txBody>
            <a:bodyPr anchor="ctr" rtlCol="false" tIns="0" lIns="0" bIns="0" rIns="0"/>
            <a:lstStyle/>
            <a:p>
              <a:pPr algn="l">
                <a:lnSpc>
                  <a:spcPts val="2879"/>
                </a:lnSpc>
              </a:pPr>
              <a:r>
                <a:rPr lang="en-US" sz="2400" b="true">
                  <a:solidFill>
                    <a:srgbClr val="51636A"/>
                  </a:solidFill>
                  <a:latin typeface="Trebuchet MS Bold"/>
                  <a:ea typeface="Trebuchet MS Bold"/>
                  <a:cs typeface="Trebuchet MS Bold"/>
                  <a:sym typeface="Trebuchet MS Bold"/>
                </a:rPr>
                <a:t>Exposure</a:t>
              </a:r>
            </a:p>
          </p:txBody>
        </p:sp>
      </p:grpSp>
      <p:grpSp>
        <p:nvGrpSpPr>
          <p:cNvPr name="Group 82" id="82"/>
          <p:cNvGrpSpPr/>
          <p:nvPr/>
        </p:nvGrpSpPr>
        <p:grpSpPr>
          <a:xfrm rot="0">
            <a:off x="2880360" y="6624828"/>
            <a:ext cx="3017520" cy="480060"/>
            <a:chOff x="0" y="0"/>
            <a:chExt cx="4023360" cy="640080"/>
          </a:xfrm>
        </p:grpSpPr>
        <p:sp>
          <p:nvSpPr>
            <p:cNvPr name="Freeform 83" id="83"/>
            <p:cNvSpPr/>
            <p:nvPr/>
          </p:nvSpPr>
          <p:spPr>
            <a:xfrm flipH="false" flipV="false" rot="0">
              <a:off x="0" y="0"/>
              <a:ext cx="4023360" cy="640080"/>
            </a:xfrm>
            <a:custGeom>
              <a:avLst/>
              <a:gdLst/>
              <a:ahLst/>
              <a:cxnLst/>
              <a:rect r="r" b="b" t="t" l="l"/>
              <a:pathLst>
                <a:path h="640080" w="4023360">
                  <a:moveTo>
                    <a:pt x="0" y="0"/>
                  </a:moveTo>
                  <a:lnTo>
                    <a:pt x="4023360" y="0"/>
                  </a:lnTo>
                  <a:lnTo>
                    <a:pt x="4023360" y="640080"/>
                  </a:lnTo>
                  <a:lnTo>
                    <a:pt x="0" y="640080"/>
                  </a:lnTo>
                  <a:close/>
                </a:path>
              </a:pathLst>
            </a:custGeom>
            <a:blipFill>
              <a:blip r:embed="rId3">
                <a:alphaModFix amt="0"/>
              </a:blip>
              <a:stretch>
                <a:fillRect l="0" t="-72477" r="0" b="-72477"/>
              </a:stretch>
            </a:blipFill>
          </p:spPr>
        </p:sp>
        <p:sp>
          <p:nvSpPr>
            <p:cNvPr name="TextBox 84" id="84"/>
            <p:cNvSpPr txBox="true"/>
            <p:nvPr/>
          </p:nvSpPr>
          <p:spPr>
            <a:xfrm>
              <a:off x="0" y="-9525"/>
              <a:ext cx="4023360" cy="649605"/>
            </a:xfrm>
            <a:prstGeom prst="rect">
              <a:avLst/>
            </a:prstGeom>
          </p:spPr>
          <p:txBody>
            <a:bodyPr anchor="ctr" rtlCol="false" tIns="0" lIns="0" bIns="0" rIns="0"/>
            <a:lstStyle/>
            <a:p>
              <a:pPr algn="l">
                <a:lnSpc>
                  <a:spcPts val="2879"/>
                </a:lnSpc>
              </a:pPr>
              <a:r>
                <a:rPr lang="en-US" sz="2400" b="true">
                  <a:solidFill>
                    <a:srgbClr val="51636A"/>
                  </a:solidFill>
                  <a:latin typeface="Trebuchet MS Bold"/>
                  <a:ea typeface="Trebuchet MS Bold"/>
                  <a:cs typeface="Trebuchet MS Bold"/>
                  <a:sym typeface="Trebuchet MS Bold"/>
                </a:rPr>
                <a:t>On hand</a:t>
              </a:r>
            </a:p>
          </p:txBody>
        </p:sp>
      </p:grpSp>
      <p:grpSp>
        <p:nvGrpSpPr>
          <p:cNvPr name="Group 85" id="85"/>
          <p:cNvGrpSpPr/>
          <p:nvPr/>
        </p:nvGrpSpPr>
        <p:grpSpPr>
          <a:xfrm rot="0">
            <a:off x="6515100" y="6624828"/>
            <a:ext cx="6858000" cy="480060"/>
            <a:chOff x="0" y="0"/>
            <a:chExt cx="9144000" cy="640080"/>
          </a:xfrm>
        </p:grpSpPr>
        <p:sp>
          <p:nvSpPr>
            <p:cNvPr name="Freeform 86" id="86"/>
            <p:cNvSpPr/>
            <p:nvPr/>
          </p:nvSpPr>
          <p:spPr>
            <a:xfrm flipH="false" flipV="false" rot="0">
              <a:off x="0" y="0"/>
              <a:ext cx="9144000" cy="640080"/>
            </a:xfrm>
            <a:custGeom>
              <a:avLst/>
              <a:gdLst/>
              <a:ahLst/>
              <a:cxnLst/>
              <a:rect r="r" b="b" t="t" l="l"/>
              <a:pathLst>
                <a:path h="640080" w="9144000">
                  <a:moveTo>
                    <a:pt x="0" y="0"/>
                  </a:moveTo>
                  <a:lnTo>
                    <a:pt x="9144000" y="0"/>
                  </a:lnTo>
                  <a:lnTo>
                    <a:pt x="9144000" y="640080"/>
                  </a:lnTo>
                  <a:lnTo>
                    <a:pt x="0" y="640080"/>
                  </a:lnTo>
                  <a:close/>
                </a:path>
              </a:pathLst>
            </a:custGeom>
            <a:blipFill>
              <a:blip r:embed="rId3">
                <a:alphaModFix amt="0"/>
              </a:blip>
              <a:stretch>
                <a:fillRect l="0" t="-228357" r="0" b="-228357"/>
              </a:stretch>
            </a:blipFill>
          </p:spPr>
        </p:sp>
        <p:sp>
          <p:nvSpPr>
            <p:cNvPr name="TextBox 87" id="87"/>
            <p:cNvSpPr txBox="true"/>
            <p:nvPr/>
          </p:nvSpPr>
          <p:spPr>
            <a:xfrm>
              <a:off x="0" y="-9525"/>
              <a:ext cx="9144000" cy="649605"/>
            </a:xfrm>
            <a:prstGeom prst="rect">
              <a:avLst/>
            </a:prstGeom>
          </p:spPr>
          <p:txBody>
            <a:bodyPr anchor="ctr" rtlCol="false" tIns="0" lIns="0" bIns="0" rIns="0"/>
            <a:lstStyle/>
            <a:p>
              <a:pPr algn="l">
                <a:lnSpc>
                  <a:spcPts val="2879"/>
                </a:lnSpc>
              </a:pPr>
              <a:r>
                <a:rPr lang="en-US" sz="2400" b="true">
                  <a:solidFill>
                    <a:srgbClr val="51636A"/>
                  </a:solidFill>
                  <a:latin typeface="Trebuchet MS Bold"/>
                  <a:ea typeface="Trebuchet MS Bold"/>
                  <a:cs typeface="Trebuchet MS Bold"/>
                  <a:sym typeface="Trebuchet MS Bold"/>
                </a:rPr>
                <a:t>Unfulfilled / pending</a:t>
              </a:r>
            </a:p>
          </p:txBody>
        </p:sp>
      </p:grpSp>
      <p:grpSp>
        <p:nvGrpSpPr>
          <p:cNvPr name="Group 88" id="88"/>
          <p:cNvGrpSpPr/>
          <p:nvPr/>
        </p:nvGrpSpPr>
        <p:grpSpPr>
          <a:xfrm rot="0">
            <a:off x="13921740" y="6624828"/>
            <a:ext cx="3497580" cy="480060"/>
            <a:chOff x="0" y="0"/>
            <a:chExt cx="4663440" cy="640080"/>
          </a:xfrm>
        </p:grpSpPr>
        <p:sp>
          <p:nvSpPr>
            <p:cNvPr name="Freeform 89" id="89"/>
            <p:cNvSpPr/>
            <p:nvPr/>
          </p:nvSpPr>
          <p:spPr>
            <a:xfrm flipH="false" flipV="false" rot="0">
              <a:off x="0" y="0"/>
              <a:ext cx="4663440" cy="640080"/>
            </a:xfrm>
            <a:custGeom>
              <a:avLst/>
              <a:gdLst/>
              <a:ahLst/>
              <a:cxnLst/>
              <a:rect r="r" b="b" t="t" l="l"/>
              <a:pathLst>
                <a:path h="640080" w="4663440">
                  <a:moveTo>
                    <a:pt x="0" y="0"/>
                  </a:moveTo>
                  <a:lnTo>
                    <a:pt x="4663440" y="0"/>
                  </a:lnTo>
                  <a:lnTo>
                    <a:pt x="4663440" y="640080"/>
                  </a:lnTo>
                  <a:lnTo>
                    <a:pt x="0" y="640080"/>
                  </a:lnTo>
                  <a:close/>
                </a:path>
              </a:pathLst>
            </a:custGeom>
            <a:blipFill>
              <a:blip r:embed="rId3">
                <a:alphaModFix amt="0"/>
              </a:blip>
              <a:stretch>
                <a:fillRect l="0" t="-91962" r="0" b="-91962"/>
              </a:stretch>
            </a:blipFill>
          </p:spPr>
        </p:sp>
        <p:sp>
          <p:nvSpPr>
            <p:cNvPr name="TextBox 90" id="90"/>
            <p:cNvSpPr txBox="true"/>
            <p:nvPr/>
          </p:nvSpPr>
          <p:spPr>
            <a:xfrm>
              <a:off x="0" y="-9525"/>
              <a:ext cx="4663440" cy="649605"/>
            </a:xfrm>
            <a:prstGeom prst="rect">
              <a:avLst/>
            </a:prstGeom>
          </p:spPr>
          <p:txBody>
            <a:bodyPr anchor="ctr" rtlCol="false" tIns="0" lIns="0" bIns="0" rIns="0"/>
            <a:lstStyle/>
            <a:p>
              <a:pPr algn="l">
                <a:lnSpc>
                  <a:spcPts val="2879"/>
                </a:lnSpc>
              </a:pPr>
              <a:r>
                <a:rPr lang="en-US" sz="2400" b="true">
                  <a:solidFill>
                    <a:srgbClr val="51636A"/>
                  </a:solidFill>
                  <a:latin typeface="Trebuchet MS Bold"/>
                  <a:ea typeface="Trebuchet MS Bold"/>
                  <a:cs typeface="Trebuchet MS Bold"/>
                  <a:sym typeface="Trebuchet MS Bold"/>
                </a:rPr>
                <a:t>Est. coverage</a:t>
              </a:r>
            </a:p>
          </p:txBody>
        </p:sp>
      </p:grpSp>
      <p:sp>
        <p:nvSpPr>
          <p:cNvPr name="AutoShape 91" id="91"/>
          <p:cNvSpPr/>
          <p:nvPr/>
        </p:nvSpPr>
        <p:spPr>
          <a:xfrm rot="5880">
            <a:off x="808663" y="7205091"/>
            <a:ext cx="16624964" cy="0"/>
          </a:xfrm>
          <a:prstGeom prst="line">
            <a:avLst/>
          </a:prstGeom>
          <a:ln cap="rnd" w="19050">
            <a:solidFill>
              <a:srgbClr val="D7E0E2"/>
            </a:solidFill>
            <a:prstDash val="solid"/>
            <a:headEnd type="none" len="sm" w="sm"/>
            <a:tailEnd type="none" len="sm" w="sm"/>
          </a:ln>
        </p:spPr>
      </p:sp>
      <p:grpSp>
        <p:nvGrpSpPr>
          <p:cNvPr name="Group 92" id="92"/>
          <p:cNvGrpSpPr/>
          <p:nvPr/>
        </p:nvGrpSpPr>
        <p:grpSpPr>
          <a:xfrm rot="0">
            <a:off x="822960" y="7324344"/>
            <a:ext cx="1783080" cy="576072"/>
            <a:chOff x="0" y="0"/>
            <a:chExt cx="2377440" cy="768096"/>
          </a:xfrm>
        </p:grpSpPr>
        <p:sp>
          <p:nvSpPr>
            <p:cNvPr name="Freeform 93" id="93"/>
            <p:cNvSpPr/>
            <p:nvPr/>
          </p:nvSpPr>
          <p:spPr>
            <a:xfrm flipH="false" flipV="false" rot="0">
              <a:off x="0" y="0"/>
              <a:ext cx="2377440" cy="768096"/>
            </a:xfrm>
            <a:custGeom>
              <a:avLst/>
              <a:gdLst/>
              <a:ahLst/>
              <a:cxnLst/>
              <a:rect r="r" b="b" t="t" l="l"/>
              <a:pathLst>
                <a:path h="768096" w="2377440">
                  <a:moveTo>
                    <a:pt x="0" y="0"/>
                  </a:moveTo>
                  <a:lnTo>
                    <a:pt x="2377440" y="0"/>
                  </a:lnTo>
                  <a:lnTo>
                    <a:pt x="2377440" y="768096"/>
                  </a:lnTo>
                  <a:lnTo>
                    <a:pt x="0" y="768096"/>
                  </a:lnTo>
                  <a:close/>
                </a:path>
              </a:pathLst>
            </a:custGeom>
            <a:blipFill>
              <a:blip r:embed="rId3">
                <a:alphaModFix amt="0"/>
              </a:blip>
              <a:stretch>
                <a:fillRect l="0" t="-10310" r="0" b="-10310"/>
              </a:stretch>
            </a:blipFill>
          </p:spPr>
        </p:sp>
        <p:sp>
          <p:nvSpPr>
            <p:cNvPr name="TextBox 94" id="94"/>
            <p:cNvSpPr txBox="true"/>
            <p:nvPr/>
          </p:nvSpPr>
          <p:spPr>
            <a:xfrm>
              <a:off x="0" y="-9525"/>
              <a:ext cx="2377440" cy="777621"/>
            </a:xfrm>
            <a:prstGeom prst="rect">
              <a:avLst/>
            </a:prstGeom>
          </p:spPr>
          <p:txBody>
            <a:bodyPr anchor="ctr" rtlCol="false" tIns="0" lIns="0" bIns="0" rIns="0"/>
            <a:lstStyle/>
            <a:p>
              <a:pPr algn="l">
                <a:lnSpc>
                  <a:spcPts val="3240"/>
                </a:lnSpc>
              </a:pPr>
              <a:r>
                <a:rPr lang="en-US" sz="2700" b="true">
                  <a:solidFill>
                    <a:srgbClr val="202C30"/>
                  </a:solidFill>
                  <a:latin typeface="Trebuchet MS Bold"/>
                  <a:ea typeface="Trebuchet MS Bold"/>
                  <a:cs typeface="Trebuchet MS Bold"/>
                  <a:sym typeface="Trebuchet MS Bold"/>
                </a:rPr>
                <a:t>P003</a:t>
              </a:r>
            </a:p>
          </p:txBody>
        </p:sp>
      </p:grpSp>
      <p:grpSp>
        <p:nvGrpSpPr>
          <p:cNvPr name="Group 95" id="95"/>
          <p:cNvGrpSpPr/>
          <p:nvPr/>
        </p:nvGrpSpPr>
        <p:grpSpPr>
          <a:xfrm rot="0">
            <a:off x="2880360" y="7324344"/>
            <a:ext cx="3017520" cy="576072"/>
            <a:chOff x="0" y="0"/>
            <a:chExt cx="4023360" cy="768096"/>
          </a:xfrm>
        </p:grpSpPr>
        <p:sp>
          <p:nvSpPr>
            <p:cNvPr name="Freeform 96" id="96"/>
            <p:cNvSpPr/>
            <p:nvPr/>
          </p:nvSpPr>
          <p:spPr>
            <a:xfrm flipH="false" flipV="false" rot="0">
              <a:off x="0" y="0"/>
              <a:ext cx="4023360" cy="768096"/>
            </a:xfrm>
            <a:custGeom>
              <a:avLst/>
              <a:gdLst/>
              <a:ahLst/>
              <a:cxnLst/>
              <a:rect r="r" b="b" t="t" l="l"/>
              <a:pathLst>
                <a:path h="768096" w="4023360">
                  <a:moveTo>
                    <a:pt x="0" y="0"/>
                  </a:moveTo>
                  <a:lnTo>
                    <a:pt x="4023360" y="0"/>
                  </a:lnTo>
                  <a:lnTo>
                    <a:pt x="4023360" y="768096"/>
                  </a:lnTo>
                  <a:lnTo>
                    <a:pt x="0" y="768096"/>
                  </a:lnTo>
                  <a:close/>
                </a:path>
              </a:pathLst>
            </a:custGeom>
            <a:blipFill>
              <a:blip r:embed="rId3">
                <a:alphaModFix amt="0"/>
              </a:blip>
              <a:stretch>
                <a:fillRect l="0" t="-52064" r="0" b="-52064"/>
              </a:stretch>
            </a:blipFill>
          </p:spPr>
        </p:sp>
        <p:sp>
          <p:nvSpPr>
            <p:cNvPr name="TextBox 97" id="97"/>
            <p:cNvSpPr txBox="true"/>
            <p:nvPr/>
          </p:nvSpPr>
          <p:spPr>
            <a:xfrm>
              <a:off x="0" y="-57150"/>
              <a:ext cx="4023360" cy="825246"/>
            </a:xfrm>
            <a:prstGeom prst="rect">
              <a:avLst/>
            </a:prstGeom>
          </p:spPr>
          <p:txBody>
            <a:bodyPr anchor="ctr" rtlCol="false" tIns="0" lIns="0" bIns="0" rIns="0"/>
            <a:lstStyle/>
            <a:p>
              <a:pPr algn="l">
                <a:lnSpc>
                  <a:spcPts val="3240"/>
                </a:lnSpc>
              </a:pPr>
              <a:r>
                <a:rPr lang="en-US" sz="2700">
                  <a:solidFill>
                    <a:srgbClr val="202C30"/>
                  </a:solidFill>
                  <a:latin typeface="Calibri (MS)"/>
                  <a:ea typeface="Calibri (MS)"/>
                  <a:cs typeface="Calibri (MS)"/>
                  <a:sym typeface="Calibri (MS)"/>
                </a:rPr>
                <a:t>45 units</a:t>
              </a:r>
            </a:p>
          </p:txBody>
        </p:sp>
      </p:grpSp>
      <p:grpSp>
        <p:nvGrpSpPr>
          <p:cNvPr name="Group 98" id="98"/>
          <p:cNvGrpSpPr/>
          <p:nvPr/>
        </p:nvGrpSpPr>
        <p:grpSpPr>
          <a:xfrm rot="0">
            <a:off x="6515100" y="7324344"/>
            <a:ext cx="6858000" cy="576072"/>
            <a:chOff x="0" y="0"/>
            <a:chExt cx="9144000" cy="768096"/>
          </a:xfrm>
        </p:grpSpPr>
        <p:sp>
          <p:nvSpPr>
            <p:cNvPr name="Freeform 99" id="99"/>
            <p:cNvSpPr/>
            <p:nvPr/>
          </p:nvSpPr>
          <p:spPr>
            <a:xfrm flipH="false" flipV="false" rot="0">
              <a:off x="0" y="0"/>
              <a:ext cx="9144000" cy="768096"/>
            </a:xfrm>
            <a:custGeom>
              <a:avLst/>
              <a:gdLst/>
              <a:ahLst/>
              <a:cxnLst/>
              <a:rect r="r" b="b" t="t" l="l"/>
              <a:pathLst>
                <a:path h="768096" w="9144000">
                  <a:moveTo>
                    <a:pt x="0" y="0"/>
                  </a:moveTo>
                  <a:lnTo>
                    <a:pt x="9144000" y="0"/>
                  </a:lnTo>
                  <a:lnTo>
                    <a:pt x="9144000" y="768096"/>
                  </a:lnTo>
                  <a:lnTo>
                    <a:pt x="0" y="768096"/>
                  </a:lnTo>
                  <a:close/>
                </a:path>
              </a:pathLst>
            </a:custGeom>
            <a:blipFill>
              <a:blip r:embed="rId3">
                <a:alphaModFix amt="0"/>
              </a:blip>
              <a:stretch>
                <a:fillRect l="0" t="-181964" r="0" b="-181964"/>
              </a:stretch>
            </a:blipFill>
          </p:spPr>
        </p:sp>
        <p:sp>
          <p:nvSpPr>
            <p:cNvPr name="TextBox 100" id="100"/>
            <p:cNvSpPr txBox="true"/>
            <p:nvPr/>
          </p:nvSpPr>
          <p:spPr>
            <a:xfrm>
              <a:off x="0" y="-57150"/>
              <a:ext cx="9144000" cy="825246"/>
            </a:xfrm>
            <a:prstGeom prst="rect">
              <a:avLst/>
            </a:prstGeom>
          </p:spPr>
          <p:txBody>
            <a:bodyPr anchor="ctr" rtlCol="false" tIns="0" lIns="0" bIns="0" rIns="0"/>
            <a:lstStyle/>
            <a:p>
              <a:pPr algn="l">
                <a:lnSpc>
                  <a:spcPts val="3240"/>
                </a:lnSpc>
              </a:pPr>
              <a:r>
                <a:rPr lang="en-US" sz="2700">
                  <a:solidFill>
                    <a:srgbClr val="202C30"/>
                  </a:solidFill>
                  <a:latin typeface="Calibri (MS)"/>
                  <a:ea typeface="Calibri (MS)"/>
                  <a:cs typeface="Calibri (MS)"/>
                  <a:sym typeface="Calibri (MS)"/>
                </a:rPr>
                <a:t>25 verified units</a:t>
              </a:r>
            </a:p>
          </p:txBody>
        </p:sp>
      </p:grpSp>
      <p:grpSp>
        <p:nvGrpSpPr>
          <p:cNvPr name="Group 101" id="101"/>
          <p:cNvGrpSpPr/>
          <p:nvPr/>
        </p:nvGrpSpPr>
        <p:grpSpPr>
          <a:xfrm rot="0">
            <a:off x="13921740" y="7324344"/>
            <a:ext cx="3497580" cy="576072"/>
            <a:chOff x="0" y="0"/>
            <a:chExt cx="4663440" cy="768096"/>
          </a:xfrm>
        </p:grpSpPr>
        <p:sp>
          <p:nvSpPr>
            <p:cNvPr name="Freeform 102" id="102"/>
            <p:cNvSpPr/>
            <p:nvPr/>
          </p:nvSpPr>
          <p:spPr>
            <a:xfrm flipH="false" flipV="false" rot="0">
              <a:off x="0" y="0"/>
              <a:ext cx="4663440" cy="768096"/>
            </a:xfrm>
            <a:custGeom>
              <a:avLst/>
              <a:gdLst/>
              <a:ahLst/>
              <a:cxnLst/>
              <a:rect r="r" b="b" t="t" l="l"/>
              <a:pathLst>
                <a:path h="768096" w="4663440">
                  <a:moveTo>
                    <a:pt x="0" y="0"/>
                  </a:moveTo>
                  <a:lnTo>
                    <a:pt x="4663440" y="0"/>
                  </a:lnTo>
                  <a:lnTo>
                    <a:pt x="4663440" y="768096"/>
                  </a:lnTo>
                  <a:lnTo>
                    <a:pt x="0" y="768096"/>
                  </a:lnTo>
                  <a:close/>
                </a:path>
              </a:pathLst>
            </a:custGeom>
            <a:blipFill>
              <a:blip r:embed="rId3">
                <a:alphaModFix amt="0"/>
              </a:blip>
              <a:stretch>
                <a:fillRect l="0" t="-68302" r="0" b="-68302"/>
              </a:stretch>
            </a:blipFill>
          </p:spPr>
        </p:sp>
        <p:sp>
          <p:nvSpPr>
            <p:cNvPr name="TextBox 103" id="103"/>
            <p:cNvSpPr txBox="true"/>
            <p:nvPr/>
          </p:nvSpPr>
          <p:spPr>
            <a:xfrm>
              <a:off x="0" y="-57150"/>
              <a:ext cx="4663440" cy="825246"/>
            </a:xfrm>
            <a:prstGeom prst="rect">
              <a:avLst/>
            </a:prstGeom>
          </p:spPr>
          <p:txBody>
            <a:bodyPr anchor="ctr" rtlCol="false" tIns="0" lIns="0" bIns="0" rIns="0"/>
            <a:lstStyle/>
            <a:p>
              <a:pPr algn="l">
                <a:lnSpc>
                  <a:spcPts val="3240"/>
                </a:lnSpc>
              </a:pPr>
              <a:r>
                <a:rPr lang="en-US" sz="2700">
                  <a:solidFill>
                    <a:srgbClr val="202C30"/>
                  </a:solidFill>
                  <a:latin typeface="Calibri (MS)"/>
                  <a:ea typeface="Calibri (MS)"/>
                  <a:cs typeface="Calibri (MS)"/>
                  <a:sym typeface="Calibri (MS)"/>
                </a:rPr>
                <a:t>~4.1 days</a:t>
              </a:r>
            </a:p>
          </p:txBody>
        </p:sp>
      </p:grpSp>
      <p:sp>
        <p:nvSpPr>
          <p:cNvPr name="AutoShape 104" id="104"/>
          <p:cNvSpPr/>
          <p:nvPr/>
        </p:nvSpPr>
        <p:spPr>
          <a:xfrm rot="5880">
            <a:off x="808663" y="7849743"/>
            <a:ext cx="16624964" cy="0"/>
          </a:xfrm>
          <a:prstGeom prst="line">
            <a:avLst/>
          </a:prstGeom>
          <a:ln cap="rnd" w="19050">
            <a:solidFill>
              <a:srgbClr val="D7E0E2"/>
            </a:solidFill>
            <a:prstDash val="solid"/>
            <a:headEnd type="none" len="sm" w="sm"/>
            <a:tailEnd type="none" len="sm" w="sm"/>
          </a:ln>
        </p:spPr>
      </p:sp>
      <p:grpSp>
        <p:nvGrpSpPr>
          <p:cNvPr name="Group 105" id="105"/>
          <p:cNvGrpSpPr/>
          <p:nvPr/>
        </p:nvGrpSpPr>
        <p:grpSpPr>
          <a:xfrm rot="0">
            <a:off x="822960" y="7968996"/>
            <a:ext cx="1783080" cy="576072"/>
            <a:chOff x="0" y="0"/>
            <a:chExt cx="2377440" cy="768096"/>
          </a:xfrm>
        </p:grpSpPr>
        <p:sp>
          <p:nvSpPr>
            <p:cNvPr name="Freeform 106" id="106"/>
            <p:cNvSpPr/>
            <p:nvPr/>
          </p:nvSpPr>
          <p:spPr>
            <a:xfrm flipH="false" flipV="false" rot="0">
              <a:off x="0" y="0"/>
              <a:ext cx="2377440" cy="768096"/>
            </a:xfrm>
            <a:custGeom>
              <a:avLst/>
              <a:gdLst/>
              <a:ahLst/>
              <a:cxnLst/>
              <a:rect r="r" b="b" t="t" l="l"/>
              <a:pathLst>
                <a:path h="768096" w="2377440">
                  <a:moveTo>
                    <a:pt x="0" y="0"/>
                  </a:moveTo>
                  <a:lnTo>
                    <a:pt x="2377440" y="0"/>
                  </a:lnTo>
                  <a:lnTo>
                    <a:pt x="2377440" y="768096"/>
                  </a:lnTo>
                  <a:lnTo>
                    <a:pt x="0" y="768096"/>
                  </a:lnTo>
                  <a:close/>
                </a:path>
              </a:pathLst>
            </a:custGeom>
            <a:blipFill>
              <a:blip r:embed="rId3">
                <a:alphaModFix amt="0"/>
              </a:blip>
              <a:stretch>
                <a:fillRect l="0" t="-10310" r="0" b="-10310"/>
              </a:stretch>
            </a:blipFill>
          </p:spPr>
        </p:sp>
        <p:sp>
          <p:nvSpPr>
            <p:cNvPr name="TextBox 107" id="107"/>
            <p:cNvSpPr txBox="true"/>
            <p:nvPr/>
          </p:nvSpPr>
          <p:spPr>
            <a:xfrm>
              <a:off x="0" y="-9525"/>
              <a:ext cx="2377440" cy="777621"/>
            </a:xfrm>
            <a:prstGeom prst="rect">
              <a:avLst/>
            </a:prstGeom>
          </p:spPr>
          <p:txBody>
            <a:bodyPr anchor="ctr" rtlCol="false" tIns="0" lIns="0" bIns="0" rIns="0"/>
            <a:lstStyle/>
            <a:p>
              <a:pPr algn="l">
                <a:lnSpc>
                  <a:spcPts val="3240"/>
                </a:lnSpc>
              </a:pPr>
              <a:r>
                <a:rPr lang="en-US" sz="2700" b="true">
                  <a:solidFill>
                    <a:srgbClr val="202C30"/>
                  </a:solidFill>
                  <a:latin typeface="Trebuchet MS Bold"/>
                  <a:ea typeface="Trebuchet MS Bold"/>
                  <a:cs typeface="Trebuchet MS Bold"/>
                  <a:sym typeface="Trebuchet MS Bold"/>
                </a:rPr>
                <a:t>P007</a:t>
              </a:r>
            </a:p>
          </p:txBody>
        </p:sp>
      </p:grpSp>
      <p:grpSp>
        <p:nvGrpSpPr>
          <p:cNvPr name="Group 108" id="108"/>
          <p:cNvGrpSpPr/>
          <p:nvPr/>
        </p:nvGrpSpPr>
        <p:grpSpPr>
          <a:xfrm rot="0">
            <a:off x="2880360" y="7968996"/>
            <a:ext cx="3017520" cy="576072"/>
            <a:chOff x="0" y="0"/>
            <a:chExt cx="4023360" cy="768096"/>
          </a:xfrm>
        </p:grpSpPr>
        <p:sp>
          <p:nvSpPr>
            <p:cNvPr name="Freeform 109" id="109"/>
            <p:cNvSpPr/>
            <p:nvPr/>
          </p:nvSpPr>
          <p:spPr>
            <a:xfrm flipH="false" flipV="false" rot="0">
              <a:off x="0" y="0"/>
              <a:ext cx="4023360" cy="768096"/>
            </a:xfrm>
            <a:custGeom>
              <a:avLst/>
              <a:gdLst/>
              <a:ahLst/>
              <a:cxnLst/>
              <a:rect r="r" b="b" t="t" l="l"/>
              <a:pathLst>
                <a:path h="768096" w="4023360">
                  <a:moveTo>
                    <a:pt x="0" y="0"/>
                  </a:moveTo>
                  <a:lnTo>
                    <a:pt x="4023360" y="0"/>
                  </a:lnTo>
                  <a:lnTo>
                    <a:pt x="4023360" y="768096"/>
                  </a:lnTo>
                  <a:lnTo>
                    <a:pt x="0" y="768096"/>
                  </a:lnTo>
                  <a:close/>
                </a:path>
              </a:pathLst>
            </a:custGeom>
            <a:blipFill>
              <a:blip r:embed="rId3">
                <a:alphaModFix amt="0"/>
              </a:blip>
              <a:stretch>
                <a:fillRect l="0" t="-52064" r="0" b="-52064"/>
              </a:stretch>
            </a:blipFill>
          </p:spPr>
        </p:sp>
        <p:sp>
          <p:nvSpPr>
            <p:cNvPr name="TextBox 110" id="110"/>
            <p:cNvSpPr txBox="true"/>
            <p:nvPr/>
          </p:nvSpPr>
          <p:spPr>
            <a:xfrm>
              <a:off x="0" y="-57150"/>
              <a:ext cx="4023360" cy="825246"/>
            </a:xfrm>
            <a:prstGeom prst="rect">
              <a:avLst/>
            </a:prstGeom>
          </p:spPr>
          <p:txBody>
            <a:bodyPr anchor="ctr" rtlCol="false" tIns="0" lIns="0" bIns="0" rIns="0"/>
            <a:lstStyle/>
            <a:p>
              <a:pPr algn="l">
                <a:lnSpc>
                  <a:spcPts val="3240"/>
                </a:lnSpc>
              </a:pPr>
              <a:r>
                <a:rPr lang="en-US" sz="2700">
                  <a:solidFill>
                    <a:srgbClr val="202C30"/>
                  </a:solidFill>
                  <a:latin typeface="Calibri (MS)"/>
                  <a:ea typeface="Calibri (MS)"/>
                  <a:cs typeface="Calibri (MS)"/>
                  <a:sym typeface="Calibri (MS)"/>
                </a:rPr>
                <a:t>35 units</a:t>
              </a:r>
            </a:p>
          </p:txBody>
        </p:sp>
      </p:grpSp>
      <p:grpSp>
        <p:nvGrpSpPr>
          <p:cNvPr name="Group 111" id="111"/>
          <p:cNvGrpSpPr/>
          <p:nvPr/>
        </p:nvGrpSpPr>
        <p:grpSpPr>
          <a:xfrm rot="0">
            <a:off x="6515100" y="7968996"/>
            <a:ext cx="6858000" cy="576072"/>
            <a:chOff x="0" y="0"/>
            <a:chExt cx="9144000" cy="768096"/>
          </a:xfrm>
        </p:grpSpPr>
        <p:sp>
          <p:nvSpPr>
            <p:cNvPr name="Freeform 112" id="112"/>
            <p:cNvSpPr/>
            <p:nvPr/>
          </p:nvSpPr>
          <p:spPr>
            <a:xfrm flipH="false" flipV="false" rot="0">
              <a:off x="0" y="0"/>
              <a:ext cx="9144000" cy="768096"/>
            </a:xfrm>
            <a:custGeom>
              <a:avLst/>
              <a:gdLst/>
              <a:ahLst/>
              <a:cxnLst/>
              <a:rect r="r" b="b" t="t" l="l"/>
              <a:pathLst>
                <a:path h="768096" w="9144000">
                  <a:moveTo>
                    <a:pt x="0" y="0"/>
                  </a:moveTo>
                  <a:lnTo>
                    <a:pt x="9144000" y="0"/>
                  </a:lnTo>
                  <a:lnTo>
                    <a:pt x="9144000" y="768096"/>
                  </a:lnTo>
                  <a:lnTo>
                    <a:pt x="0" y="768096"/>
                  </a:lnTo>
                  <a:close/>
                </a:path>
              </a:pathLst>
            </a:custGeom>
            <a:blipFill>
              <a:blip r:embed="rId3">
                <a:alphaModFix amt="0"/>
              </a:blip>
              <a:stretch>
                <a:fillRect l="0" t="-181964" r="0" b="-181964"/>
              </a:stretch>
            </a:blipFill>
          </p:spPr>
        </p:sp>
        <p:sp>
          <p:nvSpPr>
            <p:cNvPr name="TextBox 113" id="113"/>
            <p:cNvSpPr txBox="true"/>
            <p:nvPr/>
          </p:nvSpPr>
          <p:spPr>
            <a:xfrm>
              <a:off x="0" y="-57150"/>
              <a:ext cx="9144000" cy="825246"/>
            </a:xfrm>
            <a:prstGeom prst="rect">
              <a:avLst/>
            </a:prstGeom>
          </p:spPr>
          <p:txBody>
            <a:bodyPr anchor="ctr" rtlCol="false" tIns="0" lIns="0" bIns="0" rIns="0"/>
            <a:lstStyle/>
            <a:p>
              <a:pPr algn="l">
                <a:lnSpc>
                  <a:spcPts val="3240"/>
                </a:lnSpc>
              </a:pPr>
              <a:r>
                <a:rPr lang="en-US" sz="2700">
                  <a:solidFill>
                    <a:srgbClr val="202C30"/>
                  </a:solidFill>
                  <a:latin typeface="Calibri (MS)"/>
                  <a:ea typeface="Calibri (MS)"/>
                  <a:cs typeface="Calibri (MS)"/>
                  <a:sym typeface="Calibri (MS)"/>
                </a:rPr>
                <a:t>15-unit high-priority order</a:t>
              </a:r>
            </a:p>
          </p:txBody>
        </p:sp>
      </p:grpSp>
      <p:grpSp>
        <p:nvGrpSpPr>
          <p:cNvPr name="Group 114" id="114"/>
          <p:cNvGrpSpPr/>
          <p:nvPr/>
        </p:nvGrpSpPr>
        <p:grpSpPr>
          <a:xfrm rot="0">
            <a:off x="13921740" y="7968996"/>
            <a:ext cx="3497580" cy="576072"/>
            <a:chOff x="0" y="0"/>
            <a:chExt cx="4663440" cy="768096"/>
          </a:xfrm>
        </p:grpSpPr>
        <p:sp>
          <p:nvSpPr>
            <p:cNvPr name="Freeform 115" id="115"/>
            <p:cNvSpPr/>
            <p:nvPr/>
          </p:nvSpPr>
          <p:spPr>
            <a:xfrm flipH="false" flipV="false" rot="0">
              <a:off x="0" y="0"/>
              <a:ext cx="4663440" cy="768096"/>
            </a:xfrm>
            <a:custGeom>
              <a:avLst/>
              <a:gdLst/>
              <a:ahLst/>
              <a:cxnLst/>
              <a:rect r="r" b="b" t="t" l="l"/>
              <a:pathLst>
                <a:path h="768096" w="4663440">
                  <a:moveTo>
                    <a:pt x="0" y="0"/>
                  </a:moveTo>
                  <a:lnTo>
                    <a:pt x="4663440" y="0"/>
                  </a:lnTo>
                  <a:lnTo>
                    <a:pt x="4663440" y="768096"/>
                  </a:lnTo>
                  <a:lnTo>
                    <a:pt x="0" y="768096"/>
                  </a:lnTo>
                  <a:close/>
                </a:path>
              </a:pathLst>
            </a:custGeom>
            <a:blipFill>
              <a:blip r:embed="rId3">
                <a:alphaModFix amt="0"/>
              </a:blip>
              <a:stretch>
                <a:fillRect l="0" t="-68302" r="0" b="-68302"/>
              </a:stretch>
            </a:blipFill>
          </p:spPr>
        </p:sp>
        <p:sp>
          <p:nvSpPr>
            <p:cNvPr name="TextBox 116" id="116"/>
            <p:cNvSpPr txBox="true"/>
            <p:nvPr/>
          </p:nvSpPr>
          <p:spPr>
            <a:xfrm>
              <a:off x="0" y="-57150"/>
              <a:ext cx="4663440" cy="825246"/>
            </a:xfrm>
            <a:prstGeom prst="rect">
              <a:avLst/>
            </a:prstGeom>
          </p:spPr>
          <p:txBody>
            <a:bodyPr anchor="ctr" rtlCol="false" tIns="0" lIns="0" bIns="0" rIns="0"/>
            <a:lstStyle/>
            <a:p>
              <a:pPr algn="l">
                <a:lnSpc>
                  <a:spcPts val="3240"/>
                </a:lnSpc>
              </a:pPr>
              <a:r>
                <a:rPr lang="en-US" sz="2700">
                  <a:solidFill>
                    <a:srgbClr val="202C30"/>
                  </a:solidFill>
                  <a:latin typeface="Calibri (MS)"/>
                  <a:ea typeface="Calibri (MS)"/>
                  <a:cs typeface="Calibri (MS)"/>
                  <a:sym typeface="Calibri (MS)"/>
                </a:rPr>
                <a:t>~3.9 days</a:t>
              </a:r>
            </a:p>
          </p:txBody>
        </p:sp>
      </p:grpSp>
      <p:sp>
        <p:nvSpPr>
          <p:cNvPr name="AutoShape 117" id="117"/>
          <p:cNvSpPr/>
          <p:nvPr/>
        </p:nvSpPr>
        <p:spPr>
          <a:xfrm rot="5880">
            <a:off x="808663" y="8494395"/>
            <a:ext cx="16624964" cy="0"/>
          </a:xfrm>
          <a:prstGeom prst="line">
            <a:avLst/>
          </a:prstGeom>
          <a:ln cap="rnd" w="19050">
            <a:solidFill>
              <a:srgbClr val="D7E0E2"/>
            </a:solidFill>
            <a:prstDash val="solid"/>
            <a:headEnd type="none" len="sm" w="sm"/>
            <a:tailEnd type="none" len="sm" w="sm"/>
          </a:ln>
        </p:spPr>
      </p:sp>
      <p:grpSp>
        <p:nvGrpSpPr>
          <p:cNvPr name="Group 118" id="118"/>
          <p:cNvGrpSpPr/>
          <p:nvPr/>
        </p:nvGrpSpPr>
        <p:grpSpPr>
          <a:xfrm rot="0">
            <a:off x="822960" y="8613648"/>
            <a:ext cx="1783080" cy="576072"/>
            <a:chOff x="0" y="0"/>
            <a:chExt cx="2377440" cy="768096"/>
          </a:xfrm>
        </p:grpSpPr>
        <p:sp>
          <p:nvSpPr>
            <p:cNvPr name="Freeform 119" id="119"/>
            <p:cNvSpPr/>
            <p:nvPr/>
          </p:nvSpPr>
          <p:spPr>
            <a:xfrm flipH="false" flipV="false" rot="0">
              <a:off x="0" y="0"/>
              <a:ext cx="2377440" cy="768096"/>
            </a:xfrm>
            <a:custGeom>
              <a:avLst/>
              <a:gdLst/>
              <a:ahLst/>
              <a:cxnLst/>
              <a:rect r="r" b="b" t="t" l="l"/>
              <a:pathLst>
                <a:path h="768096" w="2377440">
                  <a:moveTo>
                    <a:pt x="0" y="0"/>
                  </a:moveTo>
                  <a:lnTo>
                    <a:pt x="2377440" y="0"/>
                  </a:lnTo>
                  <a:lnTo>
                    <a:pt x="2377440" y="768096"/>
                  </a:lnTo>
                  <a:lnTo>
                    <a:pt x="0" y="768096"/>
                  </a:lnTo>
                  <a:close/>
                </a:path>
              </a:pathLst>
            </a:custGeom>
            <a:blipFill>
              <a:blip r:embed="rId3">
                <a:alphaModFix amt="0"/>
              </a:blip>
              <a:stretch>
                <a:fillRect l="0" t="-10310" r="0" b="-10310"/>
              </a:stretch>
            </a:blipFill>
          </p:spPr>
        </p:sp>
        <p:sp>
          <p:nvSpPr>
            <p:cNvPr name="TextBox 120" id="120"/>
            <p:cNvSpPr txBox="true"/>
            <p:nvPr/>
          </p:nvSpPr>
          <p:spPr>
            <a:xfrm>
              <a:off x="0" y="-9525"/>
              <a:ext cx="2377440" cy="777621"/>
            </a:xfrm>
            <a:prstGeom prst="rect">
              <a:avLst/>
            </a:prstGeom>
          </p:spPr>
          <p:txBody>
            <a:bodyPr anchor="ctr" rtlCol="false" tIns="0" lIns="0" bIns="0" rIns="0"/>
            <a:lstStyle/>
            <a:p>
              <a:pPr algn="l">
                <a:lnSpc>
                  <a:spcPts val="3240"/>
                </a:lnSpc>
              </a:pPr>
              <a:r>
                <a:rPr lang="en-US" sz="2700" b="true">
                  <a:solidFill>
                    <a:srgbClr val="202C30"/>
                  </a:solidFill>
                  <a:latin typeface="Trebuchet MS Bold"/>
                  <a:ea typeface="Trebuchet MS Bold"/>
                  <a:cs typeface="Trebuchet MS Bold"/>
                  <a:sym typeface="Trebuchet MS Bold"/>
                </a:rPr>
                <a:t>P001</a:t>
              </a:r>
            </a:p>
          </p:txBody>
        </p:sp>
      </p:grpSp>
      <p:grpSp>
        <p:nvGrpSpPr>
          <p:cNvPr name="Group 121" id="121"/>
          <p:cNvGrpSpPr/>
          <p:nvPr/>
        </p:nvGrpSpPr>
        <p:grpSpPr>
          <a:xfrm rot="0">
            <a:off x="2880360" y="8613648"/>
            <a:ext cx="3017520" cy="576072"/>
            <a:chOff x="0" y="0"/>
            <a:chExt cx="4023360" cy="768096"/>
          </a:xfrm>
        </p:grpSpPr>
        <p:sp>
          <p:nvSpPr>
            <p:cNvPr name="Freeform 122" id="122"/>
            <p:cNvSpPr/>
            <p:nvPr/>
          </p:nvSpPr>
          <p:spPr>
            <a:xfrm flipH="false" flipV="false" rot="0">
              <a:off x="0" y="0"/>
              <a:ext cx="4023360" cy="768096"/>
            </a:xfrm>
            <a:custGeom>
              <a:avLst/>
              <a:gdLst/>
              <a:ahLst/>
              <a:cxnLst/>
              <a:rect r="r" b="b" t="t" l="l"/>
              <a:pathLst>
                <a:path h="768096" w="4023360">
                  <a:moveTo>
                    <a:pt x="0" y="0"/>
                  </a:moveTo>
                  <a:lnTo>
                    <a:pt x="4023360" y="0"/>
                  </a:lnTo>
                  <a:lnTo>
                    <a:pt x="4023360" y="768096"/>
                  </a:lnTo>
                  <a:lnTo>
                    <a:pt x="0" y="768096"/>
                  </a:lnTo>
                  <a:close/>
                </a:path>
              </a:pathLst>
            </a:custGeom>
            <a:blipFill>
              <a:blip r:embed="rId3">
                <a:alphaModFix amt="0"/>
              </a:blip>
              <a:stretch>
                <a:fillRect l="0" t="-52064" r="0" b="-52064"/>
              </a:stretch>
            </a:blipFill>
          </p:spPr>
        </p:sp>
        <p:sp>
          <p:nvSpPr>
            <p:cNvPr name="TextBox 123" id="123"/>
            <p:cNvSpPr txBox="true"/>
            <p:nvPr/>
          </p:nvSpPr>
          <p:spPr>
            <a:xfrm>
              <a:off x="0" y="-57150"/>
              <a:ext cx="4023360" cy="825246"/>
            </a:xfrm>
            <a:prstGeom prst="rect">
              <a:avLst/>
            </a:prstGeom>
          </p:spPr>
          <p:txBody>
            <a:bodyPr anchor="ctr" rtlCol="false" tIns="0" lIns="0" bIns="0" rIns="0"/>
            <a:lstStyle/>
            <a:p>
              <a:pPr algn="l">
                <a:lnSpc>
                  <a:spcPts val="3240"/>
                </a:lnSpc>
              </a:pPr>
              <a:r>
                <a:rPr lang="en-US" sz="2700">
                  <a:solidFill>
                    <a:srgbClr val="202C30"/>
                  </a:solidFill>
                  <a:latin typeface="Calibri (MS)"/>
                  <a:ea typeface="Calibri (MS)"/>
                  <a:cs typeface="Calibri (MS)"/>
                  <a:sym typeface="Calibri (MS)"/>
                </a:rPr>
                <a:t>120 units</a:t>
              </a:r>
            </a:p>
          </p:txBody>
        </p:sp>
      </p:grpSp>
      <p:grpSp>
        <p:nvGrpSpPr>
          <p:cNvPr name="Group 124" id="124"/>
          <p:cNvGrpSpPr/>
          <p:nvPr/>
        </p:nvGrpSpPr>
        <p:grpSpPr>
          <a:xfrm rot="0">
            <a:off x="6515100" y="8613648"/>
            <a:ext cx="6858000" cy="576072"/>
            <a:chOff x="0" y="0"/>
            <a:chExt cx="9144000" cy="768096"/>
          </a:xfrm>
        </p:grpSpPr>
        <p:sp>
          <p:nvSpPr>
            <p:cNvPr name="Freeform 125" id="125"/>
            <p:cNvSpPr/>
            <p:nvPr/>
          </p:nvSpPr>
          <p:spPr>
            <a:xfrm flipH="false" flipV="false" rot="0">
              <a:off x="0" y="0"/>
              <a:ext cx="9144000" cy="768096"/>
            </a:xfrm>
            <a:custGeom>
              <a:avLst/>
              <a:gdLst/>
              <a:ahLst/>
              <a:cxnLst/>
              <a:rect r="r" b="b" t="t" l="l"/>
              <a:pathLst>
                <a:path h="768096" w="9144000">
                  <a:moveTo>
                    <a:pt x="0" y="0"/>
                  </a:moveTo>
                  <a:lnTo>
                    <a:pt x="9144000" y="0"/>
                  </a:lnTo>
                  <a:lnTo>
                    <a:pt x="9144000" y="768096"/>
                  </a:lnTo>
                  <a:lnTo>
                    <a:pt x="0" y="768096"/>
                  </a:lnTo>
                  <a:close/>
                </a:path>
              </a:pathLst>
            </a:custGeom>
            <a:blipFill>
              <a:blip r:embed="rId3">
                <a:alphaModFix amt="0"/>
              </a:blip>
              <a:stretch>
                <a:fillRect l="0" t="-181964" r="0" b="-181964"/>
              </a:stretch>
            </a:blipFill>
          </p:spPr>
        </p:sp>
        <p:sp>
          <p:nvSpPr>
            <p:cNvPr name="TextBox 126" id="126"/>
            <p:cNvSpPr txBox="true"/>
            <p:nvPr/>
          </p:nvSpPr>
          <p:spPr>
            <a:xfrm>
              <a:off x="0" y="-57150"/>
              <a:ext cx="9144000" cy="825246"/>
            </a:xfrm>
            <a:prstGeom prst="rect">
              <a:avLst/>
            </a:prstGeom>
          </p:spPr>
          <p:txBody>
            <a:bodyPr anchor="ctr" rtlCol="false" tIns="0" lIns="0" bIns="0" rIns="0"/>
            <a:lstStyle/>
            <a:p>
              <a:pPr algn="l">
                <a:lnSpc>
                  <a:spcPts val="3240"/>
                </a:lnSpc>
              </a:pPr>
              <a:r>
                <a:rPr lang="en-US" sz="2700">
                  <a:solidFill>
                    <a:srgbClr val="202C30"/>
                  </a:solidFill>
                  <a:latin typeface="Calibri (MS)"/>
                  <a:ea typeface="Calibri (MS)"/>
                  <a:cs typeface="Calibri (MS)"/>
                  <a:sym typeface="Calibri (MS)"/>
                </a:rPr>
                <a:t>10-unit priority order</a:t>
              </a:r>
            </a:p>
          </p:txBody>
        </p:sp>
      </p:grpSp>
      <p:grpSp>
        <p:nvGrpSpPr>
          <p:cNvPr name="Group 127" id="127"/>
          <p:cNvGrpSpPr/>
          <p:nvPr/>
        </p:nvGrpSpPr>
        <p:grpSpPr>
          <a:xfrm rot="0">
            <a:off x="13921740" y="8613648"/>
            <a:ext cx="3497580" cy="576072"/>
            <a:chOff x="0" y="0"/>
            <a:chExt cx="4663440" cy="768096"/>
          </a:xfrm>
        </p:grpSpPr>
        <p:sp>
          <p:nvSpPr>
            <p:cNvPr name="Freeform 128" id="128"/>
            <p:cNvSpPr/>
            <p:nvPr/>
          </p:nvSpPr>
          <p:spPr>
            <a:xfrm flipH="false" flipV="false" rot="0">
              <a:off x="0" y="0"/>
              <a:ext cx="4663440" cy="768096"/>
            </a:xfrm>
            <a:custGeom>
              <a:avLst/>
              <a:gdLst/>
              <a:ahLst/>
              <a:cxnLst/>
              <a:rect r="r" b="b" t="t" l="l"/>
              <a:pathLst>
                <a:path h="768096" w="4663440">
                  <a:moveTo>
                    <a:pt x="0" y="0"/>
                  </a:moveTo>
                  <a:lnTo>
                    <a:pt x="4663440" y="0"/>
                  </a:lnTo>
                  <a:lnTo>
                    <a:pt x="4663440" y="768096"/>
                  </a:lnTo>
                  <a:lnTo>
                    <a:pt x="0" y="768096"/>
                  </a:lnTo>
                  <a:close/>
                </a:path>
              </a:pathLst>
            </a:custGeom>
            <a:blipFill>
              <a:blip r:embed="rId3">
                <a:alphaModFix amt="0"/>
              </a:blip>
              <a:stretch>
                <a:fillRect l="0" t="-68302" r="0" b="-68302"/>
              </a:stretch>
            </a:blipFill>
          </p:spPr>
        </p:sp>
        <p:sp>
          <p:nvSpPr>
            <p:cNvPr name="TextBox 129" id="129"/>
            <p:cNvSpPr txBox="true"/>
            <p:nvPr/>
          </p:nvSpPr>
          <p:spPr>
            <a:xfrm>
              <a:off x="0" y="-57150"/>
              <a:ext cx="4663440" cy="825246"/>
            </a:xfrm>
            <a:prstGeom prst="rect">
              <a:avLst/>
            </a:prstGeom>
          </p:spPr>
          <p:txBody>
            <a:bodyPr anchor="ctr" rtlCol="false" tIns="0" lIns="0" bIns="0" rIns="0"/>
            <a:lstStyle/>
            <a:p>
              <a:pPr algn="l">
                <a:lnSpc>
                  <a:spcPts val="3240"/>
                </a:lnSpc>
              </a:pPr>
              <a:r>
                <a:rPr lang="en-US" sz="2700">
                  <a:solidFill>
                    <a:srgbClr val="202C30"/>
                  </a:solidFill>
                  <a:latin typeface="Calibri (MS)"/>
                  <a:ea typeface="Calibri (MS)"/>
                  <a:cs typeface="Calibri (MS)"/>
                  <a:sym typeface="Calibri (MS)"/>
                </a:rPr>
                <a:t>~4.2 days</a:t>
              </a:r>
            </a:p>
          </p:txBody>
        </p:sp>
      </p:grpSp>
      <p:grpSp>
        <p:nvGrpSpPr>
          <p:cNvPr name="Group 130" id="130"/>
          <p:cNvGrpSpPr/>
          <p:nvPr/>
        </p:nvGrpSpPr>
        <p:grpSpPr>
          <a:xfrm rot="0">
            <a:off x="822960" y="9299448"/>
            <a:ext cx="16596360" cy="274320"/>
            <a:chOff x="0" y="0"/>
            <a:chExt cx="22128480" cy="365760"/>
          </a:xfrm>
        </p:grpSpPr>
        <p:sp>
          <p:nvSpPr>
            <p:cNvPr name="Freeform 131" id="131"/>
            <p:cNvSpPr/>
            <p:nvPr/>
          </p:nvSpPr>
          <p:spPr>
            <a:xfrm flipH="false" flipV="false" rot="0">
              <a:off x="0" y="0"/>
              <a:ext cx="22128480" cy="365760"/>
            </a:xfrm>
            <a:custGeom>
              <a:avLst/>
              <a:gdLst/>
              <a:ahLst/>
              <a:cxnLst/>
              <a:rect r="r" b="b" t="t" l="l"/>
              <a:pathLst>
                <a:path h="365760" w="22128480">
                  <a:moveTo>
                    <a:pt x="0" y="0"/>
                  </a:moveTo>
                  <a:lnTo>
                    <a:pt x="22128480" y="0"/>
                  </a:lnTo>
                  <a:lnTo>
                    <a:pt x="22128480" y="365760"/>
                  </a:lnTo>
                  <a:lnTo>
                    <a:pt x="0" y="365760"/>
                  </a:lnTo>
                  <a:close/>
                </a:path>
              </a:pathLst>
            </a:custGeom>
            <a:blipFill>
              <a:blip r:embed="rId3">
                <a:alphaModFix amt="0"/>
              </a:blip>
              <a:stretch>
                <a:fillRect l="0" t="-1128844" r="0" b="-1128844"/>
              </a:stretch>
            </a:blipFill>
          </p:spPr>
        </p:sp>
        <p:sp>
          <p:nvSpPr>
            <p:cNvPr name="TextBox 132" id="132"/>
            <p:cNvSpPr txBox="true"/>
            <p:nvPr/>
          </p:nvSpPr>
          <p:spPr>
            <a:xfrm>
              <a:off x="0" y="-9525"/>
              <a:ext cx="22128480" cy="375285"/>
            </a:xfrm>
            <a:prstGeom prst="rect">
              <a:avLst/>
            </a:prstGeom>
          </p:spPr>
          <p:txBody>
            <a:bodyPr anchor="ctr" rtlCol="false" tIns="0" lIns="0" bIns="0" rIns="0"/>
            <a:lstStyle/>
            <a:p>
              <a:pPr algn="l">
                <a:lnSpc>
                  <a:spcPts val="2340"/>
                </a:lnSpc>
              </a:pPr>
              <a:r>
                <a:rPr lang="en-US" sz="1950" b="true">
                  <a:solidFill>
                    <a:srgbClr val="BB4046"/>
                  </a:solidFill>
                  <a:latin typeface="Trebuchet MS Bold"/>
                  <a:ea typeface="Trebuchet MS Bold"/>
                  <a:cs typeface="Trebuchet MS Bold"/>
                  <a:sym typeface="Trebuchet MS Bold"/>
                </a:rPr>
                <a:t>Indicative results from synthetic demonstration data — not live business performance metrics.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370332"/>
            <a:ext cx="1371600" cy="411480"/>
            <a:chOff x="0" y="0"/>
            <a:chExt cx="1828800" cy="548640"/>
          </a:xfrm>
        </p:grpSpPr>
        <p:sp>
          <p:nvSpPr>
            <p:cNvPr name="Freeform 3" id="3"/>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4" id="4"/>
            <p:cNvSpPr txBox="true"/>
            <p:nvPr/>
          </p:nvSpPr>
          <p:spPr>
            <a:xfrm>
              <a:off x="0" y="-19050"/>
              <a:ext cx="1828800" cy="567690"/>
            </a:xfrm>
            <a:prstGeom prst="rect">
              <a:avLst/>
            </a:prstGeom>
          </p:spPr>
          <p:txBody>
            <a:bodyPr anchor="ctr" rtlCol="false" tIns="0" lIns="0" bIns="0" rIns="0"/>
            <a:lstStyle/>
            <a:p>
              <a:pPr algn="l">
                <a:lnSpc>
                  <a:spcPts val="2700"/>
                </a:lnSpc>
              </a:pPr>
              <a:r>
                <a:rPr lang="en-US" sz="2250" b="true">
                  <a:solidFill>
                    <a:srgbClr val="087E83"/>
                  </a:solidFill>
                  <a:latin typeface="Trebuchet MS Bold"/>
                  <a:ea typeface="Trebuchet MS Bold"/>
                  <a:cs typeface="Trebuchet MS Bold"/>
                  <a:sym typeface="Trebuchet MS Bold"/>
                </a:rPr>
                <a:t>ORBI</a:t>
              </a:r>
            </a:p>
          </p:txBody>
        </p:sp>
      </p:grpSp>
      <p:grpSp>
        <p:nvGrpSpPr>
          <p:cNvPr name="Group 5" id="5"/>
          <p:cNvGrpSpPr/>
          <p:nvPr/>
        </p:nvGrpSpPr>
        <p:grpSpPr>
          <a:xfrm rot="0">
            <a:off x="2263140" y="370332"/>
            <a:ext cx="13716000" cy="411480"/>
            <a:chOff x="0" y="0"/>
            <a:chExt cx="18288000" cy="548640"/>
          </a:xfrm>
        </p:grpSpPr>
        <p:sp>
          <p:nvSpPr>
            <p:cNvPr name="Freeform 6" id="6"/>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7" id="7"/>
            <p:cNvSpPr txBox="true"/>
            <p:nvPr/>
          </p:nvSpPr>
          <p:spPr>
            <a:xfrm>
              <a:off x="0" y="-47625"/>
              <a:ext cx="18288000" cy="596265"/>
            </a:xfrm>
            <a:prstGeom prst="rect">
              <a:avLst/>
            </a:prstGeom>
          </p:spPr>
          <p:txBody>
            <a:bodyPr anchor="ctr" rtlCol="false" tIns="0" lIns="0" bIns="0" rIns="0"/>
            <a:lstStyle/>
            <a:p>
              <a:pPr algn="l">
                <a:lnSpc>
                  <a:spcPts val="2340"/>
                </a:lnSpc>
              </a:pPr>
              <a:r>
                <a:rPr lang="en-US" sz="1950">
                  <a:solidFill>
                    <a:srgbClr val="51636A"/>
                  </a:solidFill>
                  <a:latin typeface="Calibri (MS)"/>
                  <a:ea typeface="Calibri (MS)"/>
                  <a:cs typeface="Calibri (MS)"/>
                  <a:sym typeface="Calibri (MS)"/>
                </a:rPr>
                <a:t>HOW ORBI CREATES VALUE</a:t>
              </a:r>
            </a:p>
          </p:txBody>
        </p:sp>
      </p:grpSp>
      <p:sp>
        <p:nvSpPr>
          <p:cNvPr name="AutoShape 8" id="8"/>
          <p:cNvSpPr/>
          <p:nvPr/>
        </p:nvSpPr>
        <p:spPr>
          <a:xfrm rot="5880">
            <a:off x="808663" y="9632823"/>
            <a:ext cx="16624964" cy="0"/>
          </a:xfrm>
          <a:prstGeom prst="line">
            <a:avLst/>
          </a:prstGeom>
          <a:ln cap="rnd" w="19050">
            <a:solidFill>
              <a:srgbClr val="D7E0E2"/>
            </a:solidFill>
            <a:prstDash val="solid"/>
            <a:headEnd type="none" len="sm" w="sm"/>
            <a:tailEnd type="none" len="sm" w="sm"/>
          </a:ln>
        </p:spPr>
      </p:sp>
      <p:grpSp>
        <p:nvGrpSpPr>
          <p:cNvPr name="Group 9" id="9"/>
          <p:cNvGrpSpPr/>
          <p:nvPr/>
        </p:nvGrpSpPr>
        <p:grpSpPr>
          <a:xfrm rot="0">
            <a:off x="822960" y="9779508"/>
            <a:ext cx="12344400" cy="274320"/>
            <a:chOff x="0" y="0"/>
            <a:chExt cx="16459200" cy="365760"/>
          </a:xfrm>
        </p:grpSpPr>
        <p:sp>
          <p:nvSpPr>
            <p:cNvPr name="Freeform 10" id="10"/>
            <p:cNvSpPr/>
            <p:nvPr/>
          </p:nvSpPr>
          <p:spPr>
            <a:xfrm flipH="false" flipV="false" rot="0">
              <a:off x="0" y="0"/>
              <a:ext cx="16459200" cy="365760"/>
            </a:xfrm>
            <a:custGeom>
              <a:avLst/>
              <a:gdLst/>
              <a:ahLst/>
              <a:cxnLst/>
              <a:rect r="r" b="b" t="t" l="l"/>
              <a:pathLst>
                <a:path h="365760" w="16459200">
                  <a:moveTo>
                    <a:pt x="0" y="0"/>
                  </a:moveTo>
                  <a:lnTo>
                    <a:pt x="16459200" y="0"/>
                  </a:lnTo>
                  <a:lnTo>
                    <a:pt x="16459200" y="365760"/>
                  </a:lnTo>
                  <a:lnTo>
                    <a:pt x="0" y="365760"/>
                  </a:lnTo>
                  <a:close/>
                </a:path>
              </a:pathLst>
            </a:custGeom>
            <a:blipFill>
              <a:blip r:embed="rId3">
                <a:alphaModFix amt="0"/>
              </a:blip>
              <a:stretch>
                <a:fillRect l="0" t="-826826" r="0" b="-826826"/>
              </a:stretch>
            </a:blipFill>
          </p:spPr>
        </p:sp>
        <p:sp>
          <p:nvSpPr>
            <p:cNvPr name="TextBox 11" id="11"/>
            <p:cNvSpPr txBox="true"/>
            <p:nvPr/>
          </p:nvSpPr>
          <p:spPr>
            <a:xfrm>
              <a:off x="0" y="-28575"/>
              <a:ext cx="16459200" cy="394335"/>
            </a:xfrm>
            <a:prstGeom prst="rect">
              <a:avLst/>
            </a:prstGeom>
          </p:spPr>
          <p:txBody>
            <a:bodyPr anchor="ctr" rtlCol="false" tIns="0" lIns="0" bIns="0" rIns="0"/>
            <a:lstStyle/>
            <a:p>
              <a:pPr algn="l">
                <a:lnSpc>
                  <a:spcPts val="1980"/>
                </a:lnSpc>
              </a:pPr>
              <a:r>
                <a:rPr lang="en-US" sz="1650">
                  <a:solidFill>
                    <a:srgbClr val="51636A"/>
                  </a:solidFill>
                  <a:latin typeface="Calibri (MS)"/>
                  <a:ea typeface="Calibri (MS)"/>
                  <a:cs typeface="Calibri (MS)"/>
                  <a:sym typeface="Calibri (MS)"/>
                </a:rPr>
                <a:t>Operations risk intelligence for retail SMEs</a:t>
              </a:r>
            </a:p>
          </p:txBody>
        </p:sp>
      </p:grpSp>
      <p:grpSp>
        <p:nvGrpSpPr>
          <p:cNvPr name="Group 12" id="12"/>
          <p:cNvGrpSpPr/>
          <p:nvPr/>
        </p:nvGrpSpPr>
        <p:grpSpPr>
          <a:xfrm rot="0">
            <a:off x="15979140" y="9752076"/>
            <a:ext cx="1440180" cy="342900"/>
            <a:chOff x="0" y="0"/>
            <a:chExt cx="1920240" cy="457200"/>
          </a:xfrm>
        </p:grpSpPr>
        <p:sp>
          <p:nvSpPr>
            <p:cNvPr name="Freeform 13" id="13"/>
            <p:cNvSpPr/>
            <p:nvPr/>
          </p:nvSpPr>
          <p:spPr>
            <a:xfrm flipH="false" flipV="false" rot="0">
              <a:off x="0" y="0"/>
              <a:ext cx="1920240" cy="457200"/>
            </a:xfrm>
            <a:custGeom>
              <a:avLst/>
              <a:gdLst/>
              <a:ahLst/>
              <a:cxnLst/>
              <a:rect r="r" b="b" t="t" l="l"/>
              <a:pathLst>
                <a:path h="457200" w="1920240">
                  <a:moveTo>
                    <a:pt x="0" y="0"/>
                  </a:moveTo>
                  <a:lnTo>
                    <a:pt x="1920240" y="0"/>
                  </a:lnTo>
                  <a:lnTo>
                    <a:pt x="1920240" y="457200"/>
                  </a:lnTo>
                  <a:lnTo>
                    <a:pt x="0" y="457200"/>
                  </a:lnTo>
                  <a:close/>
                </a:path>
              </a:pathLst>
            </a:custGeom>
            <a:blipFill>
              <a:blip r:embed="rId3">
                <a:alphaModFix amt="0"/>
              </a:blip>
              <a:stretch>
                <a:fillRect l="0" t="-31837" r="0" b="-31837"/>
              </a:stretch>
            </a:blipFill>
          </p:spPr>
        </p:sp>
        <p:sp>
          <p:nvSpPr>
            <p:cNvPr name="TextBox 14" id="14"/>
            <p:cNvSpPr txBox="true"/>
            <p:nvPr/>
          </p:nvSpPr>
          <p:spPr>
            <a:xfrm>
              <a:off x="0" y="-38100"/>
              <a:ext cx="1920240" cy="495300"/>
            </a:xfrm>
            <a:prstGeom prst="rect">
              <a:avLst/>
            </a:prstGeom>
          </p:spPr>
          <p:txBody>
            <a:bodyPr anchor="ctr" rtlCol="false" tIns="0" lIns="0" bIns="0" rIns="0"/>
            <a:lstStyle/>
            <a:p>
              <a:pPr algn="r">
                <a:lnSpc>
                  <a:spcPts val="2160"/>
                </a:lnSpc>
              </a:pPr>
              <a:r>
                <a:rPr lang="en-US" sz="1800">
                  <a:solidFill>
                    <a:srgbClr val="51636A"/>
                  </a:solidFill>
                  <a:latin typeface="Calibri (MS)"/>
                  <a:ea typeface="Calibri (MS)"/>
                  <a:cs typeface="Calibri (MS)"/>
                  <a:sym typeface="Calibri (MS)"/>
                </a:rPr>
                <a:t>07 / 08</a:t>
              </a:r>
            </a:p>
          </p:txBody>
        </p:sp>
      </p:grpSp>
      <p:grpSp>
        <p:nvGrpSpPr>
          <p:cNvPr name="Group 15" id="15"/>
          <p:cNvGrpSpPr/>
          <p:nvPr/>
        </p:nvGrpSpPr>
        <p:grpSpPr>
          <a:xfrm rot="0">
            <a:off x="822960" y="1234440"/>
            <a:ext cx="16596360" cy="1577340"/>
            <a:chOff x="0" y="0"/>
            <a:chExt cx="22128480" cy="2103120"/>
          </a:xfrm>
        </p:grpSpPr>
        <p:sp>
          <p:nvSpPr>
            <p:cNvPr name="Freeform 16" id="16"/>
            <p:cNvSpPr/>
            <p:nvPr/>
          </p:nvSpPr>
          <p:spPr>
            <a:xfrm flipH="false" flipV="false" rot="0">
              <a:off x="0" y="0"/>
              <a:ext cx="22128480" cy="2103120"/>
            </a:xfrm>
            <a:custGeom>
              <a:avLst/>
              <a:gdLst/>
              <a:ahLst/>
              <a:cxnLst/>
              <a:rect r="r" b="b" t="t" l="l"/>
              <a:pathLst>
                <a:path h="2103120" w="22128480">
                  <a:moveTo>
                    <a:pt x="0" y="0"/>
                  </a:moveTo>
                  <a:lnTo>
                    <a:pt x="22128480" y="0"/>
                  </a:lnTo>
                  <a:lnTo>
                    <a:pt x="22128480" y="2103120"/>
                  </a:lnTo>
                  <a:lnTo>
                    <a:pt x="0" y="2103120"/>
                  </a:lnTo>
                  <a:close/>
                </a:path>
              </a:pathLst>
            </a:custGeom>
            <a:blipFill>
              <a:blip r:embed="rId3">
                <a:alphaModFix amt="0"/>
              </a:blip>
              <a:stretch>
                <a:fillRect l="0" t="-155016" r="0" b="-155016"/>
              </a:stretch>
            </a:blipFill>
          </p:spPr>
        </p:sp>
        <p:sp>
          <p:nvSpPr>
            <p:cNvPr name="TextBox 17" id="17"/>
            <p:cNvSpPr txBox="true"/>
            <p:nvPr/>
          </p:nvSpPr>
          <p:spPr>
            <a:xfrm>
              <a:off x="0" y="-9525"/>
              <a:ext cx="22128480" cy="2112645"/>
            </a:xfrm>
            <a:prstGeom prst="rect">
              <a:avLst/>
            </a:prstGeom>
          </p:spPr>
          <p:txBody>
            <a:bodyPr anchor="ctr" rtlCol="false" tIns="0" lIns="0" bIns="0" rIns="0"/>
            <a:lstStyle/>
            <a:p>
              <a:pPr algn="l">
                <a:lnSpc>
                  <a:spcPts val="7200"/>
                </a:lnSpc>
              </a:pPr>
              <a:r>
                <a:rPr lang="en-US" sz="6000" b="true">
                  <a:solidFill>
                    <a:srgbClr val="202C30"/>
                  </a:solidFill>
                  <a:latin typeface="Trebuchet MS Bold"/>
                  <a:ea typeface="Trebuchet MS Bold"/>
                  <a:cs typeface="Trebuchet MS Bold"/>
                  <a:sym typeface="Trebuchet MS Bold"/>
                </a:rPr>
                <a:t>A Continuous Risk Management Loop</a:t>
              </a:r>
            </a:p>
          </p:txBody>
        </p:sp>
      </p:grpSp>
      <p:grpSp>
        <p:nvGrpSpPr>
          <p:cNvPr name="Group 18" id="18"/>
          <p:cNvGrpSpPr/>
          <p:nvPr/>
        </p:nvGrpSpPr>
        <p:grpSpPr>
          <a:xfrm rot="0">
            <a:off x="822960" y="2948940"/>
            <a:ext cx="4800600" cy="548640"/>
            <a:chOff x="0" y="0"/>
            <a:chExt cx="6400800" cy="731520"/>
          </a:xfrm>
        </p:grpSpPr>
        <p:sp>
          <p:nvSpPr>
            <p:cNvPr name="Freeform 19" id="19"/>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494" r="0" b="-120494"/>
              </a:stretch>
            </a:blipFill>
          </p:spPr>
        </p:sp>
        <p:sp>
          <p:nvSpPr>
            <p:cNvPr name="TextBox 20" id="20"/>
            <p:cNvSpPr txBox="true"/>
            <p:nvPr/>
          </p:nvSpPr>
          <p:spPr>
            <a:xfrm>
              <a:off x="0" y="-19050"/>
              <a:ext cx="6400800" cy="750570"/>
            </a:xfrm>
            <a:prstGeom prst="rect">
              <a:avLst/>
            </a:prstGeom>
          </p:spPr>
          <p:txBody>
            <a:bodyPr anchor="ctr" rtlCol="false" tIns="0" lIns="0" bIns="0" rIns="0"/>
            <a:lstStyle/>
            <a:p>
              <a:pPr algn="l">
                <a:lnSpc>
                  <a:spcPts val="4320"/>
                </a:lnSpc>
              </a:pPr>
              <a:r>
                <a:rPr lang="en-US" sz="3600" b="true">
                  <a:solidFill>
                    <a:srgbClr val="202C30"/>
                  </a:solidFill>
                  <a:latin typeface="Trebuchet MS Bold"/>
                  <a:ea typeface="Trebuchet MS Bold"/>
                  <a:cs typeface="Trebuchet MS Bold"/>
                  <a:sym typeface="Trebuchet MS Bold"/>
                </a:rPr>
                <a:t>Business Data</a:t>
              </a:r>
            </a:p>
          </p:txBody>
        </p:sp>
      </p:grpSp>
      <p:sp>
        <p:nvSpPr>
          <p:cNvPr name="AutoShape 21" id="21"/>
          <p:cNvSpPr/>
          <p:nvPr/>
        </p:nvSpPr>
        <p:spPr>
          <a:xfrm rot="70140">
            <a:off x="4799886" y="3227451"/>
            <a:ext cx="1400470" cy="0"/>
          </a:xfrm>
          <a:prstGeom prst="line">
            <a:avLst/>
          </a:prstGeom>
          <a:ln cap="rnd" w="19050">
            <a:solidFill>
              <a:srgbClr val="087E83"/>
            </a:solidFill>
            <a:prstDash val="solid"/>
            <a:headEnd type="none" len="sm" w="sm"/>
            <a:tailEnd type="triangle" len="med" w="lg"/>
          </a:ln>
        </p:spPr>
      </p:sp>
      <p:grpSp>
        <p:nvGrpSpPr>
          <p:cNvPr name="Group 22" id="22"/>
          <p:cNvGrpSpPr/>
          <p:nvPr/>
        </p:nvGrpSpPr>
        <p:grpSpPr>
          <a:xfrm rot="0">
            <a:off x="6480048" y="2927604"/>
            <a:ext cx="1661160" cy="522732"/>
            <a:chOff x="0" y="0"/>
            <a:chExt cx="2214880" cy="696976"/>
          </a:xfrm>
        </p:grpSpPr>
        <p:sp>
          <p:nvSpPr>
            <p:cNvPr name="Freeform 23" id="23"/>
            <p:cNvSpPr/>
            <p:nvPr/>
          </p:nvSpPr>
          <p:spPr>
            <a:xfrm flipH="false" flipV="false" rot="0">
              <a:off x="0" y="0"/>
              <a:ext cx="2214880" cy="696976"/>
            </a:xfrm>
            <a:custGeom>
              <a:avLst/>
              <a:gdLst/>
              <a:ahLst/>
              <a:cxnLst/>
              <a:rect r="r" b="b" t="t" l="l"/>
              <a:pathLst>
                <a:path h="696976" w="2214880">
                  <a:moveTo>
                    <a:pt x="0" y="0"/>
                  </a:moveTo>
                  <a:lnTo>
                    <a:pt x="2214880" y="0"/>
                  </a:lnTo>
                  <a:lnTo>
                    <a:pt x="2214880" y="696976"/>
                  </a:lnTo>
                  <a:lnTo>
                    <a:pt x="0" y="696976"/>
                  </a:lnTo>
                  <a:close/>
                </a:path>
              </a:pathLst>
            </a:custGeom>
            <a:solidFill>
              <a:srgbClr val="CFE8E3"/>
            </a:solidFill>
            <a:ln w="15240" cap="sq">
              <a:solidFill>
                <a:srgbClr val="CFE8E3"/>
              </a:solidFill>
              <a:prstDash val="solid"/>
              <a:miter/>
            </a:ln>
          </p:spPr>
        </p:sp>
      </p:grpSp>
      <p:grpSp>
        <p:nvGrpSpPr>
          <p:cNvPr name="Group 24" id="24"/>
          <p:cNvGrpSpPr/>
          <p:nvPr/>
        </p:nvGrpSpPr>
        <p:grpSpPr>
          <a:xfrm rot="0">
            <a:off x="6624828" y="2935224"/>
            <a:ext cx="1371600" cy="507492"/>
            <a:chOff x="0" y="0"/>
            <a:chExt cx="1828800" cy="676656"/>
          </a:xfrm>
        </p:grpSpPr>
        <p:sp>
          <p:nvSpPr>
            <p:cNvPr name="Freeform 25" id="25"/>
            <p:cNvSpPr/>
            <p:nvPr/>
          </p:nvSpPr>
          <p:spPr>
            <a:xfrm flipH="false" flipV="false" rot="0">
              <a:off x="0" y="0"/>
              <a:ext cx="1828800" cy="676656"/>
            </a:xfrm>
            <a:custGeom>
              <a:avLst/>
              <a:gdLst/>
              <a:ahLst/>
              <a:cxnLst/>
              <a:rect r="r" b="b" t="t" l="l"/>
              <a:pathLst>
                <a:path h="676656" w="1828800">
                  <a:moveTo>
                    <a:pt x="0" y="0"/>
                  </a:moveTo>
                  <a:lnTo>
                    <a:pt x="1828800" y="0"/>
                  </a:lnTo>
                  <a:lnTo>
                    <a:pt x="1828800" y="676656"/>
                  </a:lnTo>
                  <a:lnTo>
                    <a:pt x="0" y="676656"/>
                  </a:lnTo>
                  <a:close/>
                </a:path>
              </a:pathLst>
            </a:custGeom>
            <a:blipFill>
              <a:blip r:embed="rId3">
                <a:alphaModFix amt="0"/>
              </a:blip>
              <a:stretch>
                <a:fillRect l="0" t="-2662" r="0" b="-2662"/>
              </a:stretch>
            </a:blipFill>
          </p:spPr>
        </p:sp>
        <p:sp>
          <p:nvSpPr>
            <p:cNvPr name="TextBox 26" id="26"/>
            <p:cNvSpPr txBox="true"/>
            <p:nvPr/>
          </p:nvSpPr>
          <p:spPr>
            <a:xfrm>
              <a:off x="0" y="-19050"/>
              <a:ext cx="1828800" cy="695706"/>
            </a:xfrm>
            <a:prstGeom prst="rect">
              <a:avLst/>
            </a:prstGeom>
          </p:spPr>
          <p:txBody>
            <a:bodyPr anchor="ctr" rtlCol="false" tIns="0" lIns="0" bIns="0" rIns="0"/>
            <a:lstStyle/>
            <a:p>
              <a:pPr algn="l">
                <a:lnSpc>
                  <a:spcPts val="2160"/>
                </a:lnSpc>
              </a:pPr>
              <a:r>
                <a:rPr lang="en-US" sz="1800" b="true">
                  <a:solidFill>
                    <a:srgbClr val="087E83"/>
                  </a:solidFill>
                  <a:latin typeface="Trebuchet MS Bold"/>
                  <a:ea typeface="Trebuchet MS Bold"/>
                  <a:cs typeface="Trebuchet MS Bold"/>
                  <a:sym typeface="Trebuchet MS Bold"/>
                </a:rPr>
                <a:t>ORBI</a:t>
              </a:r>
            </a:p>
          </p:txBody>
        </p:sp>
      </p:grpSp>
      <p:grpSp>
        <p:nvGrpSpPr>
          <p:cNvPr name="Group 27" id="27"/>
          <p:cNvGrpSpPr/>
          <p:nvPr/>
        </p:nvGrpSpPr>
        <p:grpSpPr>
          <a:xfrm rot="0">
            <a:off x="813435" y="4105275"/>
            <a:ext cx="869442" cy="869442"/>
            <a:chOff x="0" y="0"/>
            <a:chExt cx="1159256" cy="1159256"/>
          </a:xfrm>
        </p:grpSpPr>
        <p:sp>
          <p:nvSpPr>
            <p:cNvPr name="Freeform 28" id="28"/>
            <p:cNvSpPr/>
            <p:nvPr/>
          </p:nvSpPr>
          <p:spPr>
            <a:xfrm flipH="false" flipV="false" rot="0">
              <a:off x="0" y="0"/>
              <a:ext cx="1159256" cy="1159256"/>
            </a:xfrm>
            <a:custGeom>
              <a:avLst/>
              <a:gdLst/>
              <a:ahLst/>
              <a:cxnLst/>
              <a:rect r="r" b="b" t="t" l="l"/>
              <a:pathLst>
                <a:path h="1159256" w="1159256">
                  <a:moveTo>
                    <a:pt x="0" y="579628"/>
                  </a:moveTo>
                  <a:cubicBezTo>
                    <a:pt x="0" y="259461"/>
                    <a:pt x="259461" y="0"/>
                    <a:pt x="579628" y="0"/>
                  </a:cubicBezTo>
                  <a:cubicBezTo>
                    <a:pt x="899795" y="0"/>
                    <a:pt x="1159256" y="259461"/>
                    <a:pt x="1159256" y="579628"/>
                  </a:cubicBezTo>
                  <a:cubicBezTo>
                    <a:pt x="1159256" y="899795"/>
                    <a:pt x="899795" y="1159256"/>
                    <a:pt x="579628" y="1159256"/>
                  </a:cubicBezTo>
                  <a:cubicBezTo>
                    <a:pt x="259461" y="1159256"/>
                    <a:pt x="0" y="899795"/>
                    <a:pt x="0" y="579628"/>
                  </a:cubicBezTo>
                  <a:close/>
                </a:path>
              </a:pathLst>
            </a:custGeom>
            <a:solidFill>
              <a:srgbClr val="087E83"/>
            </a:solidFill>
            <a:ln w="19050" cap="sq">
              <a:solidFill>
                <a:srgbClr val="087E83"/>
              </a:solidFill>
              <a:prstDash val="solid"/>
              <a:miter/>
            </a:ln>
          </p:spPr>
        </p:sp>
      </p:grpSp>
      <p:grpSp>
        <p:nvGrpSpPr>
          <p:cNvPr name="Group 29" id="29"/>
          <p:cNvGrpSpPr/>
          <p:nvPr/>
        </p:nvGrpSpPr>
        <p:grpSpPr>
          <a:xfrm rot="0">
            <a:off x="822960" y="4114800"/>
            <a:ext cx="850392" cy="850392"/>
            <a:chOff x="0" y="0"/>
            <a:chExt cx="1133856" cy="1133856"/>
          </a:xfrm>
        </p:grpSpPr>
        <p:sp>
          <p:nvSpPr>
            <p:cNvPr name="Freeform 30" id="30"/>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3">
                <a:alphaModFix amt="0"/>
              </a:blip>
              <a:stretch>
                <a:fillRect l="-78303" t="0" r="-78303" b="0"/>
              </a:stretch>
            </a:blipFill>
          </p:spPr>
        </p:sp>
        <p:sp>
          <p:nvSpPr>
            <p:cNvPr name="TextBox 31" id="31"/>
            <p:cNvSpPr txBox="true"/>
            <p:nvPr/>
          </p:nvSpPr>
          <p:spPr>
            <a:xfrm>
              <a:off x="0" y="-9525"/>
              <a:ext cx="1133856" cy="1143381"/>
            </a:xfrm>
            <a:prstGeom prst="rect">
              <a:avLst/>
            </a:prstGeom>
          </p:spPr>
          <p:txBody>
            <a:bodyPr anchor="ctr" rtlCol="false" tIns="0" lIns="0" bIns="0" rIns="0"/>
            <a:lstStyle/>
            <a:p>
              <a:pPr algn="ctr">
                <a:lnSpc>
                  <a:spcPts val="3960"/>
                </a:lnSpc>
              </a:pPr>
              <a:r>
                <a:rPr lang="en-US" sz="3300" b="true">
                  <a:solidFill>
                    <a:srgbClr val="FFFFFF"/>
                  </a:solidFill>
                  <a:latin typeface="Trebuchet MS Bold"/>
                  <a:ea typeface="Trebuchet MS Bold"/>
                  <a:cs typeface="Trebuchet MS Bold"/>
                  <a:sym typeface="Trebuchet MS Bold"/>
                </a:rPr>
                <a:t>1</a:t>
              </a:r>
            </a:p>
          </p:txBody>
        </p:sp>
      </p:grpSp>
      <p:sp>
        <p:nvSpPr>
          <p:cNvPr name="AutoShape 32" id="32"/>
          <p:cNvSpPr/>
          <p:nvPr/>
        </p:nvSpPr>
        <p:spPr>
          <a:xfrm rot="36720">
            <a:off x="1974456" y="4530471"/>
            <a:ext cx="2675915" cy="0"/>
          </a:xfrm>
          <a:prstGeom prst="line">
            <a:avLst/>
          </a:prstGeom>
          <a:ln cap="rnd" w="19050">
            <a:solidFill>
              <a:srgbClr val="087E83"/>
            </a:solidFill>
            <a:prstDash val="solid"/>
            <a:headEnd type="none" len="sm" w="sm"/>
            <a:tailEnd type="triangle" len="med" w="lg"/>
          </a:ln>
        </p:spPr>
      </p:sp>
      <p:grpSp>
        <p:nvGrpSpPr>
          <p:cNvPr name="Group 33" id="33"/>
          <p:cNvGrpSpPr/>
          <p:nvPr/>
        </p:nvGrpSpPr>
        <p:grpSpPr>
          <a:xfrm rot="0">
            <a:off x="822960" y="5239512"/>
            <a:ext cx="3977640" cy="617220"/>
            <a:chOff x="0" y="0"/>
            <a:chExt cx="5303520" cy="822960"/>
          </a:xfrm>
        </p:grpSpPr>
        <p:sp>
          <p:nvSpPr>
            <p:cNvPr name="Freeform 34" id="34"/>
            <p:cNvSpPr/>
            <p:nvPr/>
          </p:nvSpPr>
          <p:spPr>
            <a:xfrm flipH="false" flipV="false" rot="0">
              <a:off x="0" y="0"/>
              <a:ext cx="5303520" cy="822960"/>
            </a:xfrm>
            <a:custGeom>
              <a:avLst/>
              <a:gdLst/>
              <a:ahLst/>
              <a:cxnLst/>
              <a:rect r="r" b="b" t="t" l="l"/>
              <a:pathLst>
                <a:path h="822960" w="5303520">
                  <a:moveTo>
                    <a:pt x="0" y="0"/>
                  </a:moveTo>
                  <a:lnTo>
                    <a:pt x="5303520" y="0"/>
                  </a:lnTo>
                  <a:lnTo>
                    <a:pt x="5303520" y="822960"/>
                  </a:lnTo>
                  <a:lnTo>
                    <a:pt x="0" y="822960"/>
                  </a:lnTo>
                  <a:close/>
                </a:path>
              </a:pathLst>
            </a:custGeom>
            <a:blipFill>
              <a:blip r:embed="rId3">
                <a:alphaModFix amt="0"/>
              </a:blip>
              <a:stretch>
                <a:fillRect l="0" t="-75570" r="0" b="-75570"/>
              </a:stretch>
            </a:blipFill>
          </p:spPr>
        </p:sp>
        <p:sp>
          <p:nvSpPr>
            <p:cNvPr name="TextBox 35" id="35"/>
            <p:cNvSpPr txBox="true"/>
            <p:nvPr/>
          </p:nvSpPr>
          <p:spPr>
            <a:xfrm>
              <a:off x="0" y="-9525"/>
              <a:ext cx="5303520" cy="832485"/>
            </a:xfrm>
            <a:prstGeom prst="rect">
              <a:avLst/>
            </a:prstGeom>
          </p:spPr>
          <p:txBody>
            <a:bodyPr anchor="ctr" rtlCol="false" tIns="0" lIns="0" bIns="0" rIns="0"/>
            <a:lstStyle/>
            <a:p>
              <a:pPr algn="l">
                <a:lnSpc>
                  <a:spcPts val="4680"/>
                </a:lnSpc>
              </a:pPr>
              <a:r>
                <a:rPr lang="en-US" sz="3900" b="true">
                  <a:solidFill>
                    <a:srgbClr val="202C30"/>
                  </a:solidFill>
                  <a:latin typeface="Trebuchet MS Bold"/>
                  <a:ea typeface="Trebuchet MS Bold"/>
                  <a:cs typeface="Trebuchet MS Bold"/>
                  <a:sym typeface="Trebuchet MS Bold"/>
                </a:rPr>
                <a:t>Detect</a:t>
              </a:r>
            </a:p>
          </p:txBody>
        </p:sp>
      </p:grpSp>
      <p:grpSp>
        <p:nvGrpSpPr>
          <p:cNvPr name="Group 36" id="36"/>
          <p:cNvGrpSpPr/>
          <p:nvPr/>
        </p:nvGrpSpPr>
        <p:grpSpPr>
          <a:xfrm rot="0">
            <a:off x="822960" y="5993892"/>
            <a:ext cx="3977640" cy="1014984"/>
            <a:chOff x="0" y="0"/>
            <a:chExt cx="5303520" cy="1353312"/>
          </a:xfrm>
        </p:grpSpPr>
        <p:sp>
          <p:nvSpPr>
            <p:cNvPr name="Freeform 37" id="37"/>
            <p:cNvSpPr/>
            <p:nvPr/>
          </p:nvSpPr>
          <p:spPr>
            <a:xfrm flipH="false" flipV="false" rot="0">
              <a:off x="0" y="0"/>
              <a:ext cx="5303520" cy="1353312"/>
            </a:xfrm>
            <a:custGeom>
              <a:avLst/>
              <a:gdLst/>
              <a:ahLst/>
              <a:cxnLst/>
              <a:rect r="r" b="b" t="t" l="l"/>
              <a:pathLst>
                <a:path h="1353312" w="5303520">
                  <a:moveTo>
                    <a:pt x="0" y="0"/>
                  </a:moveTo>
                  <a:lnTo>
                    <a:pt x="5303520" y="0"/>
                  </a:lnTo>
                  <a:lnTo>
                    <a:pt x="5303520" y="1353312"/>
                  </a:lnTo>
                  <a:lnTo>
                    <a:pt x="0" y="1353312"/>
                  </a:lnTo>
                  <a:close/>
                </a:path>
              </a:pathLst>
            </a:custGeom>
            <a:blipFill>
              <a:blip r:embed="rId3">
                <a:alphaModFix amt="0"/>
              </a:blip>
              <a:stretch>
                <a:fillRect l="0" t="-26360" r="0" b="-26360"/>
              </a:stretch>
            </a:blipFill>
          </p:spPr>
        </p:sp>
        <p:sp>
          <p:nvSpPr>
            <p:cNvPr name="TextBox 38" id="38"/>
            <p:cNvSpPr txBox="true"/>
            <p:nvPr/>
          </p:nvSpPr>
          <p:spPr>
            <a:xfrm>
              <a:off x="0" y="-66675"/>
              <a:ext cx="5303520" cy="1419987"/>
            </a:xfrm>
            <a:prstGeom prst="rect">
              <a:avLst/>
            </a:prstGeom>
          </p:spPr>
          <p:txBody>
            <a:bodyPr anchor="ctr" rtlCol="false" tIns="0" lIns="0" bIns="0" rIns="0"/>
            <a:lstStyle/>
            <a:p>
              <a:pPr algn="l">
                <a:lnSpc>
                  <a:spcPts val="3779"/>
                </a:lnSpc>
              </a:pPr>
              <a:r>
                <a:rPr lang="en-US" sz="3150">
                  <a:solidFill>
                    <a:srgbClr val="51636A"/>
                  </a:solidFill>
                  <a:latin typeface="Calibri (MS)"/>
                  <a:ea typeface="Calibri (MS)"/>
                  <a:cs typeface="Calibri (MS)"/>
                  <a:sym typeface="Calibri (MS)"/>
                </a:rPr>
                <a:t>Find abnormal or</a:t>
              </a:r>
            </a:p>
            <a:p>
              <a:pPr algn="l">
                <a:lnSpc>
                  <a:spcPts val="3779"/>
                </a:lnSpc>
              </a:pPr>
              <a:r>
                <a:rPr lang="en-US" sz="3150">
                  <a:solidFill>
                    <a:srgbClr val="51636A"/>
                  </a:solidFill>
                  <a:latin typeface="Calibri (MS)"/>
                  <a:ea typeface="Calibri (MS)"/>
                  <a:cs typeface="Calibri (MS)"/>
                  <a:sym typeface="Calibri (MS)"/>
                </a:rPr>
                <a:t>risky signals.</a:t>
              </a:r>
            </a:p>
          </p:txBody>
        </p:sp>
      </p:grpSp>
      <p:grpSp>
        <p:nvGrpSpPr>
          <p:cNvPr name="Group 39" id="39"/>
          <p:cNvGrpSpPr/>
          <p:nvPr/>
        </p:nvGrpSpPr>
        <p:grpSpPr>
          <a:xfrm rot="0">
            <a:off x="5051679" y="4105275"/>
            <a:ext cx="869442" cy="869442"/>
            <a:chOff x="0" y="0"/>
            <a:chExt cx="1159256" cy="1159256"/>
          </a:xfrm>
        </p:grpSpPr>
        <p:sp>
          <p:nvSpPr>
            <p:cNvPr name="Freeform 40" id="40"/>
            <p:cNvSpPr/>
            <p:nvPr/>
          </p:nvSpPr>
          <p:spPr>
            <a:xfrm flipH="false" flipV="false" rot="0">
              <a:off x="0" y="0"/>
              <a:ext cx="1159256" cy="1159256"/>
            </a:xfrm>
            <a:custGeom>
              <a:avLst/>
              <a:gdLst/>
              <a:ahLst/>
              <a:cxnLst/>
              <a:rect r="r" b="b" t="t" l="l"/>
              <a:pathLst>
                <a:path h="1159256" w="1159256">
                  <a:moveTo>
                    <a:pt x="0" y="579628"/>
                  </a:moveTo>
                  <a:cubicBezTo>
                    <a:pt x="0" y="259461"/>
                    <a:pt x="259461" y="0"/>
                    <a:pt x="579628" y="0"/>
                  </a:cubicBezTo>
                  <a:cubicBezTo>
                    <a:pt x="899795" y="0"/>
                    <a:pt x="1159256" y="259461"/>
                    <a:pt x="1159256" y="579628"/>
                  </a:cubicBezTo>
                  <a:cubicBezTo>
                    <a:pt x="1159256" y="899795"/>
                    <a:pt x="899795" y="1159256"/>
                    <a:pt x="579628" y="1159256"/>
                  </a:cubicBezTo>
                  <a:cubicBezTo>
                    <a:pt x="259461" y="1159256"/>
                    <a:pt x="0" y="899795"/>
                    <a:pt x="0" y="579628"/>
                  </a:cubicBezTo>
                  <a:close/>
                </a:path>
              </a:pathLst>
            </a:custGeom>
            <a:solidFill>
              <a:srgbClr val="087E83"/>
            </a:solidFill>
            <a:ln w="19050" cap="sq">
              <a:solidFill>
                <a:srgbClr val="087E83"/>
              </a:solidFill>
              <a:prstDash val="solid"/>
              <a:miter/>
            </a:ln>
          </p:spPr>
        </p:sp>
      </p:grpSp>
      <p:grpSp>
        <p:nvGrpSpPr>
          <p:cNvPr name="Group 41" id="41"/>
          <p:cNvGrpSpPr/>
          <p:nvPr/>
        </p:nvGrpSpPr>
        <p:grpSpPr>
          <a:xfrm rot="0">
            <a:off x="5061204" y="4114800"/>
            <a:ext cx="850392" cy="850392"/>
            <a:chOff x="0" y="0"/>
            <a:chExt cx="1133856" cy="1133856"/>
          </a:xfrm>
        </p:grpSpPr>
        <p:sp>
          <p:nvSpPr>
            <p:cNvPr name="Freeform 42" id="42"/>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3">
                <a:alphaModFix amt="0"/>
              </a:blip>
              <a:stretch>
                <a:fillRect l="-78303" t="0" r="-78303" b="0"/>
              </a:stretch>
            </a:blipFill>
          </p:spPr>
        </p:sp>
        <p:sp>
          <p:nvSpPr>
            <p:cNvPr name="TextBox 43" id="43"/>
            <p:cNvSpPr txBox="true"/>
            <p:nvPr/>
          </p:nvSpPr>
          <p:spPr>
            <a:xfrm>
              <a:off x="0" y="-9525"/>
              <a:ext cx="1133856" cy="1143381"/>
            </a:xfrm>
            <a:prstGeom prst="rect">
              <a:avLst/>
            </a:prstGeom>
          </p:spPr>
          <p:txBody>
            <a:bodyPr anchor="ctr" rtlCol="false" tIns="0" lIns="0" bIns="0" rIns="0"/>
            <a:lstStyle/>
            <a:p>
              <a:pPr algn="ctr">
                <a:lnSpc>
                  <a:spcPts val="3960"/>
                </a:lnSpc>
              </a:pPr>
              <a:r>
                <a:rPr lang="en-US" sz="3300" b="true">
                  <a:solidFill>
                    <a:srgbClr val="FFFFFF"/>
                  </a:solidFill>
                  <a:latin typeface="Trebuchet MS Bold"/>
                  <a:ea typeface="Trebuchet MS Bold"/>
                  <a:cs typeface="Trebuchet MS Bold"/>
                  <a:sym typeface="Trebuchet MS Bold"/>
                </a:rPr>
                <a:t>2</a:t>
              </a:r>
            </a:p>
          </p:txBody>
        </p:sp>
      </p:grpSp>
      <p:sp>
        <p:nvSpPr>
          <p:cNvPr name="AutoShape 44" id="44"/>
          <p:cNvSpPr/>
          <p:nvPr/>
        </p:nvSpPr>
        <p:spPr>
          <a:xfrm rot="36720">
            <a:off x="6212700" y="4530471"/>
            <a:ext cx="2675915" cy="0"/>
          </a:xfrm>
          <a:prstGeom prst="line">
            <a:avLst/>
          </a:prstGeom>
          <a:ln cap="rnd" w="19050">
            <a:solidFill>
              <a:srgbClr val="087E83"/>
            </a:solidFill>
            <a:prstDash val="solid"/>
            <a:headEnd type="none" len="sm" w="sm"/>
            <a:tailEnd type="triangle" len="med" w="lg"/>
          </a:ln>
        </p:spPr>
      </p:sp>
      <p:grpSp>
        <p:nvGrpSpPr>
          <p:cNvPr name="Group 45" id="45"/>
          <p:cNvGrpSpPr/>
          <p:nvPr/>
        </p:nvGrpSpPr>
        <p:grpSpPr>
          <a:xfrm rot="0">
            <a:off x="5061204" y="5239512"/>
            <a:ext cx="3977640" cy="617220"/>
            <a:chOff x="0" y="0"/>
            <a:chExt cx="5303520" cy="822960"/>
          </a:xfrm>
        </p:grpSpPr>
        <p:sp>
          <p:nvSpPr>
            <p:cNvPr name="Freeform 46" id="46"/>
            <p:cNvSpPr/>
            <p:nvPr/>
          </p:nvSpPr>
          <p:spPr>
            <a:xfrm flipH="false" flipV="false" rot="0">
              <a:off x="0" y="0"/>
              <a:ext cx="5303520" cy="822960"/>
            </a:xfrm>
            <a:custGeom>
              <a:avLst/>
              <a:gdLst/>
              <a:ahLst/>
              <a:cxnLst/>
              <a:rect r="r" b="b" t="t" l="l"/>
              <a:pathLst>
                <a:path h="822960" w="5303520">
                  <a:moveTo>
                    <a:pt x="0" y="0"/>
                  </a:moveTo>
                  <a:lnTo>
                    <a:pt x="5303520" y="0"/>
                  </a:lnTo>
                  <a:lnTo>
                    <a:pt x="5303520" y="822960"/>
                  </a:lnTo>
                  <a:lnTo>
                    <a:pt x="0" y="822960"/>
                  </a:lnTo>
                  <a:close/>
                </a:path>
              </a:pathLst>
            </a:custGeom>
            <a:blipFill>
              <a:blip r:embed="rId3">
                <a:alphaModFix amt="0"/>
              </a:blip>
              <a:stretch>
                <a:fillRect l="0" t="-75570" r="0" b="-75570"/>
              </a:stretch>
            </a:blipFill>
          </p:spPr>
        </p:sp>
        <p:sp>
          <p:nvSpPr>
            <p:cNvPr name="TextBox 47" id="47"/>
            <p:cNvSpPr txBox="true"/>
            <p:nvPr/>
          </p:nvSpPr>
          <p:spPr>
            <a:xfrm>
              <a:off x="0" y="-9525"/>
              <a:ext cx="5303520" cy="832485"/>
            </a:xfrm>
            <a:prstGeom prst="rect">
              <a:avLst/>
            </a:prstGeom>
          </p:spPr>
          <p:txBody>
            <a:bodyPr anchor="ctr" rtlCol="false" tIns="0" lIns="0" bIns="0" rIns="0"/>
            <a:lstStyle/>
            <a:p>
              <a:pPr algn="l">
                <a:lnSpc>
                  <a:spcPts val="4680"/>
                </a:lnSpc>
              </a:pPr>
              <a:r>
                <a:rPr lang="en-US" sz="3900" b="true">
                  <a:solidFill>
                    <a:srgbClr val="202C30"/>
                  </a:solidFill>
                  <a:latin typeface="Trebuchet MS Bold"/>
                  <a:ea typeface="Trebuchet MS Bold"/>
                  <a:cs typeface="Trebuchet MS Bold"/>
                  <a:sym typeface="Trebuchet MS Bold"/>
                </a:rPr>
                <a:t>Connect</a:t>
              </a:r>
            </a:p>
          </p:txBody>
        </p:sp>
      </p:grpSp>
      <p:grpSp>
        <p:nvGrpSpPr>
          <p:cNvPr name="Group 48" id="48"/>
          <p:cNvGrpSpPr/>
          <p:nvPr/>
        </p:nvGrpSpPr>
        <p:grpSpPr>
          <a:xfrm rot="0">
            <a:off x="5061204" y="5993892"/>
            <a:ext cx="3977640" cy="1014984"/>
            <a:chOff x="0" y="0"/>
            <a:chExt cx="5303520" cy="1353312"/>
          </a:xfrm>
        </p:grpSpPr>
        <p:sp>
          <p:nvSpPr>
            <p:cNvPr name="Freeform 49" id="49"/>
            <p:cNvSpPr/>
            <p:nvPr/>
          </p:nvSpPr>
          <p:spPr>
            <a:xfrm flipH="false" flipV="false" rot="0">
              <a:off x="0" y="0"/>
              <a:ext cx="5303520" cy="1353312"/>
            </a:xfrm>
            <a:custGeom>
              <a:avLst/>
              <a:gdLst/>
              <a:ahLst/>
              <a:cxnLst/>
              <a:rect r="r" b="b" t="t" l="l"/>
              <a:pathLst>
                <a:path h="1353312" w="5303520">
                  <a:moveTo>
                    <a:pt x="0" y="0"/>
                  </a:moveTo>
                  <a:lnTo>
                    <a:pt x="5303520" y="0"/>
                  </a:lnTo>
                  <a:lnTo>
                    <a:pt x="5303520" y="1353312"/>
                  </a:lnTo>
                  <a:lnTo>
                    <a:pt x="0" y="1353312"/>
                  </a:lnTo>
                  <a:close/>
                </a:path>
              </a:pathLst>
            </a:custGeom>
            <a:blipFill>
              <a:blip r:embed="rId3">
                <a:alphaModFix amt="0"/>
              </a:blip>
              <a:stretch>
                <a:fillRect l="0" t="-26360" r="0" b="-26360"/>
              </a:stretch>
            </a:blipFill>
          </p:spPr>
        </p:sp>
        <p:sp>
          <p:nvSpPr>
            <p:cNvPr name="TextBox 50" id="50"/>
            <p:cNvSpPr txBox="true"/>
            <p:nvPr/>
          </p:nvSpPr>
          <p:spPr>
            <a:xfrm>
              <a:off x="0" y="-66675"/>
              <a:ext cx="5303520" cy="1419987"/>
            </a:xfrm>
            <a:prstGeom prst="rect">
              <a:avLst/>
            </a:prstGeom>
          </p:spPr>
          <p:txBody>
            <a:bodyPr anchor="ctr" rtlCol="false" tIns="0" lIns="0" bIns="0" rIns="0"/>
            <a:lstStyle/>
            <a:p>
              <a:pPr algn="l">
                <a:lnSpc>
                  <a:spcPts val="3779"/>
                </a:lnSpc>
              </a:pPr>
              <a:r>
                <a:rPr lang="en-US" sz="3150">
                  <a:solidFill>
                    <a:srgbClr val="51636A"/>
                  </a:solidFill>
                  <a:latin typeface="Calibri (MS)"/>
                  <a:ea typeface="Calibri (MS)"/>
                  <a:cs typeface="Calibri (MS)"/>
                  <a:sym typeface="Calibri (MS)"/>
                </a:rPr>
                <a:t>Relate stock, orders,</a:t>
              </a:r>
            </a:p>
            <a:p>
              <a:pPr algn="l">
                <a:lnSpc>
                  <a:spcPts val="3779"/>
                </a:lnSpc>
              </a:pPr>
              <a:r>
                <a:rPr lang="en-US" sz="3150">
                  <a:solidFill>
                    <a:srgbClr val="51636A"/>
                  </a:solidFill>
                  <a:latin typeface="Calibri (MS)"/>
                  <a:ea typeface="Calibri (MS)"/>
                  <a:cs typeface="Calibri (MS)"/>
                  <a:sym typeface="Calibri (MS)"/>
                </a:rPr>
                <a:t>sales and suppliers.</a:t>
              </a:r>
            </a:p>
          </p:txBody>
        </p:sp>
      </p:grpSp>
      <p:grpSp>
        <p:nvGrpSpPr>
          <p:cNvPr name="Group 51" id="51"/>
          <p:cNvGrpSpPr/>
          <p:nvPr/>
        </p:nvGrpSpPr>
        <p:grpSpPr>
          <a:xfrm rot="0">
            <a:off x="9289923" y="4105275"/>
            <a:ext cx="869442" cy="869442"/>
            <a:chOff x="0" y="0"/>
            <a:chExt cx="1159256" cy="1159256"/>
          </a:xfrm>
        </p:grpSpPr>
        <p:sp>
          <p:nvSpPr>
            <p:cNvPr name="Freeform 52" id="52"/>
            <p:cNvSpPr/>
            <p:nvPr/>
          </p:nvSpPr>
          <p:spPr>
            <a:xfrm flipH="false" flipV="false" rot="0">
              <a:off x="0" y="0"/>
              <a:ext cx="1159256" cy="1159256"/>
            </a:xfrm>
            <a:custGeom>
              <a:avLst/>
              <a:gdLst/>
              <a:ahLst/>
              <a:cxnLst/>
              <a:rect r="r" b="b" t="t" l="l"/>
              <a:pathLst>
                <a:path h="1159256" w="1159256">
                  <a:moveTo>
                    <a:pt x="0" y="579628"/>
                  </a:moveTo>
                  <a:cubicBezTo>
                    <a:pt x="0" y="259461"/>
                    <a:pt x="259461" y="0"/>
                    <a:pt x="579628" y="0"/>
                  </a:cubicBezTo>
                  <a:cubicBezTo>
                    <a:pt x="899795" y="0"/>
                    <a:pt x="1159256" y="259461"/>
                    <a:pt x="1159256" y="579628"/>
                  </a:cubicBezTo>
                  <a:cubicBezTo>
                    <a:pt x="1159256" y="899795"/>
                    <a:pt x="899795" y="1159256"/>
                    <a:pt x="579628" y="1159256"/>
                  </a:cubicBezTo>
                  <a:cubicBezTo>
                    <a:pt x="259461" y="1159256"/>
                    <a:pt x="0" y="899795"/>
                    <a:pt x="0" y="579628"/>
                  </a:cubicBezTo>
                  <a:close/>
                </a:path>
              </a:pathLst>
            </a:custGeom>
            <a:solidFill>
              <a:srgbClr val="087E83"/>
            </a:solidFill>
            <a:ln w="19050" cap="sq">
              <a:solidFill>
                <a:srgbClr val="087E83"/>
              </a:solidFill>
              <a:prstDash val="solid"/>
              <a:miter/>
            </a:ln>
          </p:spPr>
        </p:sp>
      </p:grpSp>
      <p:grpSp>
        <p:nvGrpSpPr>
          <p:cNvPr name="Group 53" id="53"/>
          <p:cNvGrpSpPr/>
          <p:nvPr/>
        </p:nvGrpSpPr>
        <p:grpSpPr>
          <a:xfrm rot="0">
            <a:off x="9299448" y="4114800"/>
            <a:ext cx="850392" cy="850392"/>
            <a:chOff x="0" y="0"/>
            <a:chExt cx="1133856" cy="1133856"/>
          </a:xfrm>
        </p:grpSpPr>
        <p:sp>
          <p:nvSpPr>
            <p:cNvPr name="Freeform 54" id="54"/>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3">
                <a:alphaModFix amt="0"/>
              </a:blip>
              <a:stretch>
                <a:fillRect l="-78303" t="0" r="-78303" b="0"/>
              </a:stretch>
            </a:blipFill>
          </p:spPr>
        </p:sp>
        <p:sp>
          <p:nvSpPr>
            <p:cNvPr name="TextBox 55" id="55"/>
            <p:cNvSpPr txBox="true"/>
            <p:nvPr/>
          </p:nvSpPr>
          <p:spPr>
            <a:xfrm>
              <a:off x="0" y="-9525"/>
              <a:ext cx="1133856" cy="1143381"/>
            </a:xfrm>
            <a:prstGeom prst="rect">
              <a:avLst/>
            </a:prstGeom>
          </p:spPr>
          <p:txBody>
            <a:bodyPr anchor="ctr" rtlCol="false" tIns="0" lIns="0" bIns="0" rIns="0"/>
            <a:lstStyle/>
            <a:p>
              <a:pPr algn="ctr">
                <a:lnSpc>
                  <a:spcPts val="3960"/>
                </a:lnSpc>
              </a:pPr>
              <a:r>
                <a:rPr lang="en-US" sz="3300" b="true">
                  <a:solidFill>
                    <a:srgbClr val="FFFFFF"/>
                  </a:solidFill>
                  <a:latin typeface="Trebuchet MS Bold"/>
                  <a:ea typeface="Trebuchet MS Bold"/>
                  <a:cs typeface="Trebuchet MS Bold"/>
                  <a:sym typeface="Trebuchet MS Bold"/>
                </a:rPr>
                <a:t>3</a:t>
              </a:r>
            </a:p>
          </p:txBody>
        </p:sp>
      </p:grpSp>
      <p:sp>
        <p:nvSpPr>
          <p:cNvPr name="AutoShape 56" id="56"/>
          <p:cNvSpPr/>
          <p:nvPr/>
        </p:nvSpPr>
        <p:spPr>
          <a:xfrm rot="36720">
            <a:off x="10450944" y="4530471"/>
            <a:ext cx="2675915" cy="0"/>
          </a:xfrm>
          <a:prstGeom prst="line">
            <a:avLst/>
          </a:prstGeom>
          <a:ln cap="rnd" w="19050">
            <a:solidFill>
              <a:srgbClr val="087E83"/>
            </a:solidFill>
            <a:prstDash val="solid"/>
            <a:headEnd type="none" len="sm" w="sm"/>
            <a:tailEnd type="triangle" len="med" w="lg"/>
          </a:ln>
        </p:spPr>
      </p:sp>
      <p:grpSp>
        <p:nvGrpSpPr>
          <p:cNvPr name="Group 57" id="57"/>
          <p:cNvGrpSpPr/>
          <p:nvPr/>
        </p:nvGrpSpPr>
        <p:grpSpPr>
          <a:xfrm rot="0">
            <a:off x="9299448" y="5239512"/>
            <a:ext cx="3977640" cy="617220"/>
            <a:chOff x="0" y="0"/>
            <a:chExt cx="5303520" cy="822960"/>
          </a:xfrm>
        </p:grpSpPr>
        <p:sp>
          <p:nvSpPr>
            <p:cNvPr name="Freeform 58" id="58"/>
            <p:cNvSpPr/>
            <p:nvPr/>
          </p:nvSpPr>
          <p:spPr>
            <a:xfrm flipH="false" flipV="false" rot="0">
              <a:off x="0" y="0"/>
              <a:ext cx="5303520" cy="822960"/>
            </a:xfrm>
            <a:custGeom>
              <a:avLst/>
              <a:gdLst/>
              <a:ahLst/>
              <a:cxnLst/>
              <a:rect r="r" b="b" t="t" l="l"/>
              <a:pathLst>
                <a:path h="822960" w="5303520">
                  <a:moveTo>
                    <a:pt x="0" y="0"/>
                  </a:moveTo>
                  <a:lnTo>
                    <a:pt x="5303520" y="0"/>
                  </a:lnTo>
                  <a:lnTo>
                    <a:pt x="5303520" y="822960"/>
                  </a:lnTo>
                  <a:lnTo>
                    <a:pt x="0" y="822960"/>
                  </a:lnTo>
                  <a:close/>
                </a:path>
              </a:pathLst>
            </a:custGeom>
            <a:blipFill>
              <a:blip r:embed="rId3">
                <a:alphaModFix amt="0"/>
              </a:blip>
              <a:stretch>
                <a:fillRect l="0" t="-75570" r="0" b="-75570"/>
              </a:stretch>
            </a:blipFill>
          </p:spPr>
        </p:sp>
        <p:sp>
          <p:nvSpPr>
            <p:cNvPr name="TextBox 59" id="59"/>
            <p:cNvSpPr txBox="true"/>
            <p:nvPr/>
          </p:nvSpPr>
          <p:spPr>
            <a:xfrm>
              <a:off x="0" y="-9525"/>
              <a:ext cx="5303520" cy="832485"/>
            </a:xfrm>
            <a:prstGeom prst="rect">
              <a:avLst/>
            </a:prstGeom>
          </p:spPr>
          <p:txBody>
            <a:bodyPr anchor="ctr" rtlCol="false" tIns="0" lIns="0" bIns="0" rIns="0"/>
            <a:lstStyle/>
            <a:p>
              <a:pPr algn="l">
                <a:lnSpc>
                  <a:spcPts val="4680"/>
                </a:lnSpc>
              </a:pPr>
              <a:r>
                <a:rPr lang="en-US" sz="3900" b="true">
                  <a:solidFill>
                    <a:srgbClr val="202C30"/>
                  </a:solidFill>
                  <a:latin typeface="Trebuchet MS Bold"/>
                  <a:ea typeface="Trebuchet MS Bold"/>
                  <a:cs typeface="Trebuchet MS Bold"/>
                  <a:sym typeface="Trebuchet MS Bold"/>
                </a:rPr>
                <a:t>Prioritize</a:t>
              </a:r>
            </a:p>
          </p:txBody>
        </p:sp>
      </p:grpSp>
      <p:grpSp>
        <p:nvGrpSpPr>
          <p:cNvPr name="Group 60" id="60"/>
          <p:cNvGrpSpPr/>
          <p:nvPr/>
        </p:nvGrpSpPr>
        <p:grpSpPr>
          <a:xfrm rot="0">
            <a:off x="9299448" y="5993892"/>
            <a:ext cx="3977640" cy="1014984"/>
            <a:chOff x="0" y="0"/>
            <a:chExt cx="5303520" cy="1353312"/>
          </a:xfrm>
        </p:grpSpPr>
        <p:sp>
          <p:nvSpPr>
            <p:cNvPr name="Freeform 61" id="61"/>
            <p:cNvSpPr/>
            <p:nvPr/>
          </p:nvSpPr>
          <p:spPr>
            <a:xfrm flipH="false" flipV="false" rot="0">
              <a:off x="0" y="0"/>
              <a:ext cx="5303520" cy="1353312"/>
            </a:xfrm>
            <a:custGeom>
              <a:avLst/>
              <a:gdLst/>
              <a:ahLst/>
              <a:cxnLst/>
              <a:rect r="r" b="b" t="t" l="l"/>
              <a:pathLst>
                <a:path h="1353312" w="5303520">
                  <a:moveTo>
                    <a:pt x="0" y="0"/>
                  </a:moveTo>
                  <a:lnTo>
                    <a:pt x="5303520" y="0"/>
                  </a:lnTo>
                  <a:lnTo>
                    <a:pt x="5303520" y="1353312"/>
                  </a:lnTo>
                  <a:lnTo>
                    <a:pt x="0" y="1353312"/>
                  </a:lnTo>
                  <a:close/>
                </a:path>
              </a:pathLst>
            </a:custGeom>
            <a:blipFill>
              <a:blip r:embed="rId3">
                <a:alphaModFix amt="0"/>
              </a:blip>
              <a:stretch>
                <a:fillRect l="0" t="-26360" r="0" b="-26360"/>
              </a:stretch>
            </a:blipFill>
          </p:spPr>
        </p:sp>
        <p:sp>
          <p:nvSpPr>
            <p:cNvPr name="TextBox 62" id="62"/>
            <p:cNvSpPr txBox="true"/>
            <p:nvPr/>
          </p:nvSpPr>
          <p:spPr>
            <a:xfrm>
              <a:off x="0" y="-66675"/>
              <a:ext cx="5303520" cy="1419987"/>
            </a:xfrm>
            <a:prstGeom prst="rect">
              <a:avLst/>
            </a:prstGeom>
          </p:spPr>
          <p:txBody>
            <a:bodyPr anchor="ctr" rtlCol="false" tIns="0" lIns="0" bIns="0" rIns="0"/>
            <a:lstStyle/>
            <a:p>
              <a:pPr algn="l">
                <a:lnSpc>
                  <a:spcPts val="3779"/>
                </a:lnSpc>
              </a:pPr>
              <a:r>
                <a:rPr lang="en-US" sz="3150">
                  <a:solidFill>
                    <a:srgbClr val="51636A"/>
                  </a:solidFill>
                  <a:latin typeface="Calibri (MS)"/>
                  <a:ea typeface="Calibri (MS)"/>
                  <a:cs typeface="Calibri (MS)"/>
                  <a:sym typeface="Calibri (MS)"/>
                </a:rPr>
                <a:t>Rank by severity</a:t>
              </a:r>
            </a:p>
            <a:p>
              <a:pPr algn="l">
                <a:lnSpc>
                  <a:spcPts val="3779"/>
                </a:lnSpc>
              </a:pPr>
              <a:r>
                <a:rPr lang="en-US" sz="3150">
                  <a:solidFill>
                    <a:srgbClr val="51636A"/>
                  </a:solidFill>
                  <a:latin typeface="Calibri (MS)"/>
                  <a:ea typeface="Calibri (MS)"/>
                  <a:cs typeface="Calibri (MS)"/>
                  <a:sym typeface="Calibri (MS)"/>
                </a:rPr>
                <a:t>and urgency.</a:t>
              </a:r>
            </a:p>
          </p:txBody>
        </p:sp>
      </p:grpSp>
      <p:grpSp>
        <p:nvGrpSpPr>
          <p:cNvPr name="Group 63" id="63"/>
          <p:cNvGrpSpPr/>
          <p:nvPr/>
        </p:nvGrpSpPr>
        <p:grpSpPr>
          <a:xfrm rot="0">
            <a:off x="13528167" y="4105275"/>
            <a:ext cx="869442" cy="869442"/>
            <a:chOff x="0" y="0"/>
            <a:chExt cx="1159256" cy="1159256"/>
          </a:xfrm>
        </p:grpSpPr>
        <p:sp>
          <p:nvSpPr>
            <p:cNvPr name="Freeform 64" id="64"/>
            <p:cNvSpPr/>
            <p:nvPr/>
          </p:nvSpPr>
          <p:spPr>
            <a:xfrm flipH="false" flipV="false" rot="0">
              <a:off x="0" y="0"/>
              <a:ext cx="1159256" cy="1159256"/>
            </a:xfrm>
            <a:custGeom>
              <a:avLst/>
              <a:gdLst/>
              <a:ahLst/>
              <a:cxnLst/>
              <a:rect r="r" b="b" t="t" l="l"/>
              <a:pathLst>
                <a:path h="1159256" w="1159256">
                  <a:moveTo>
                    <a:pt x="0" y="579628"/>
                  </a:moveTo>
                  <a:cubicBezTo>
                    <a:pt x="0" y="259461"/>
                    <a:pt x="259461" y="0"/>
                    <a:pt x="579628" y="0"/>
                  </a:cubicBezTo>
                  <a:cubicBezTo>
                    <a:pt x="899795" y="0"/>
                    <a:pt x="1159256" y="259461"/>
                    <a:pt x="1159256" y="579628"/>
                  </a:cubicBezTo>
                  <a:cubicBezTo>
                    <a:pt x="1159256" y="899795"/>
                    <a:pt x="899795" y="1159256"/>
                    <a:pt x="579628" y="1159256"/>
                  </a:cubicBezTo>
                  <a:cubicBezTo>
                    <a:pt x="259461" y="1159256"/>
                    <a:pt x="0" y="899795"/>
                    <a:pt x="0" y="579628"/>
                  </a:cubicBezTo>
                  <a:close/>
                </a:path>
              </a:pathLst>
            </a:custGeom>
            <a:solidFill>
              <a:srgbClr val="087E83"/>
            </a:solidFill>
            <a:ln w="19050" cap="sq">
              <a:solidFill>
                <a:srgbClr val="087E83"/>
              </a:solidFill>
              <a:prstDash val="solid"/>
              <a:miter/>
            </a:ln>
          </p:spPr>
        </p:sp>
      </p:grpSp>
      <p:grpSp>
        <p:nvGrpSpPr>
          <p:cNvPr name="Group 65" id="65"/>
          <p:cNvGrpSpPr/>
          <p:nvPr/>
        </p:nvGrpSpPr>
        <p:grpSpPr>
          <a:xfrm rot="0">
            <a:off x="13537692" y="4114800"/>
            <a:ext cx="850392" cy="850392"/>
            <a:chOff x="0" y="0"/>
            <a:chExt cx="1133856" cy="1133856"/>
          </a:xfrm>
        </p:grpSpPr>
        <p:sp>
          <p:nvSpPr>
            <p:cNvPr name="Freeform 66" id="66"/>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3">
                <a:alphaModFix amt="0"/>
              </a:blip>
              <a:stretch>
                <a:fillRect l="-78303" t="0" r="-78303" b="0"/>
              </a:stretch>
            </a:blipFill>
          </p:spPr>
        </p:sp>
        <p:sp>
          <p:nvSpPr>
            <p:cNvPr name="TextBox 67" id="67"/>
            <p:cNvSpPr txBox="true"/>
            <p:nvPr/>
          </p:nvSpPr>
          <p:spPr>
            <a:xfrm>
              <a:off x="0" y="-9525"/>
              <a:ext cx="1133856" cy="1143381"/>
            </a:xfrm>
            <a:prstGeom prst="rect">
              <a:avLst/>
            </a:prstGeom>
          </p:spPr>
          <p:txBody>
            <a:bodyPr anchor="ctr" rtlCol="false" tIns="0" lIns="0" bIns="0" rIns="0"/>
            <a:lstStyle/>
            <a:p>
              <a:pPr algn="ctr">
                <a:lnSpc>
                  <a:spcPts val="3960"/>
                </a:lnSpc>
              </a:pPr>
              <a:r>
                <a:rPr lang="en-US" sz="3300" b="true">
                  <a:solidFill>
                    <a:srgbClr val="FFFFFF"/>
                  </a:solidFill>
                  <a:latin typeface="Trebuchet MS Bold"/>
                  <a:ea typeface="Trebuchet MS Bold"/>
                  <a:cs typeface="Trebuchet MS Bold"/>
                  <a:sym typeface="Trebuchet MS Bold"/>
                </a:rPr>
                <a:t>4</a:t>
              </a:r>
            </a:p>
          </p:txBody>
        </p:sp>
      </p:grpSp>
      <p:grpSp>
        <p:nvGrpSpPr>
          <p:cNvPr name="Group 68" id="68"/>
          <p:cNvGrpSpPr/>
          <p:nvPr/>
        </p:nvGrpSpPr>
        <p:grpSpPr>
          <a:xfrm rot="0">
            <a:off x="13537692" y="5239512"/>
            <a:ext cx="3977640" cy="617220"/>
            <a:chOff x="0" y="0"/>
            <a:chExt cx="5303520" cy="822960"/>
          </a:xfrm>
        </p:grpSpPr>
        <p:sp>
          <p:nvSpPr>
            <p:cNvPr name="Freeform 69" id="69"/>
            <p:cNvSpPr/>
            <p:nvPr/>
          </p:nvSpPr>
          <p:spPr>
            <a:xfrm flipH="false" flipV="false" rot="0">
              <a:off x="0" y="0"/>
              <a:ext cx="5303520" cy="822960"/>
            </a:xfrm>
            <a:custGeom>
              <a:avLst/>
              <a:gdLst/>
              <a:ahLst/>
              <a:cxnLst/>
              <a:rect r="r" b="b" t="t" l="l"/>
              <a:pathLst>
                <a:path h="822960" w="5303520">
                  <a:moveTo>
                    <a:pt x="0" y="0"/>
                  </a:moveTo>
                  <a:lnTo>
                    <a:pt x="5303520" y="0"/>
                  </a:lnTo>
                  <a:lnTo>
                    <a:pt x="5303520" y="822960"/>
                  </a:lnTo>
                  <a:lnTo>
                    <a:pt x="0" y="822960"/>
                  </a:lnTo>
                  <a:close/>
                </a:path>
              </a:pathLst>
            </a:custGeom>
            <a:blipFill>
              <a:blip r:embed="rId3">
                <a:alphaModFix amt="0"/>
              </a:blip>
              <a:stretch>
                <a:fillRect l="0" t="-75570" r="0" b="-75570"/>
              </a:stretch>
            </a:blipFill>
          </p:spPr>
        </p:sp>
        <p:sp>
          <p:nvSpPr>
            <p:cNvPr name="TextBox 70" id="70"/>
            <p:cNvSpPr txBox="true"/>
            <p:nvPr/>
          </p:nvSpPr>
          <p:spPr>
            <a:xfrm>
              <a:off x="0" y="-9525"/>
              <a:ext cx="5303520" cy="832485"/>
            </a:xfrm>
            <a:prstGeom prst="rect">
              <a:avLst/>
            </a:prstGeom>
          </p:spPr>
          <p:txBody>
            <a:bodyPr anchor="ctr" rtlCol="false" tIns="0" lIns="0" bIns="0" rIns="0"/>
            <a:lstStyle/>
            <a:p>
              <a:pPr algn="l">
                <a:lnSpc>
                  <a:spcPts val="4680"/>
                </a:lnSpc>
              </a:pPr>
              <a:r>
                <a:rPr lang="en-US" sz="3900" b="true">
                  <a:solidFill>
                    <a:srgbClr val="202C30"/>
                  </a:solidFill>
                  <a:latin typeface="Trebuchet MS Bold"/>
                  <a:ea typeface="Trebuchet MS Bold"/>
                  <a:cs typeface="Trebuchet MS Bold"/>
                  <a:sym typeface="Trebuchet MS Bold"/>
                </a:rPr>
                <a:t>Recommend</a:t>
              </a:r>
            </a:p>
          </p:txBody>
        </p:sp>
      </p:grpSp>
      <p:grpSp>
        <p:nvGrpSpPr>
          <p:cNvPr name="Group 71" id="71"/>
          <p:cNvGrpSpPr/>
          <p:nvPr/>
        </p:nvGrpSpPr>
        <p:grpSpPr>
          <a:xfrm rot="0">
            <a:off x="13537692" y="5993892"/>
            <a:ext cx="3977640" cy="1014984"/>
            <a:chOff x="0" y="0"/>
            <a:chExt cx="5303520" cy="1353312"/>
          </a:xfrm>
        </p:grpSpPr>
        <p:sp>
          <p:nvSpPr>
            <p:cNvPr name="Freeform 72" id="72"/>
            <p:cNvSpPr/>
            <p:nvPr/>
          </p:nvSpPr>
          <p:spPr>
            <a:xfrm flipH="false" flipV="false" rot="0">
              <a:off x="0" y="0"/>
              <a:ext cx="5303520" cy="1353312"/>
            </a:xfrm>
            <a:custGeom>
              <a:avLst/>
              <a:gdLst/>
              <a:ahLst/>
              <a:cxnLst/>
              <a:rect r="r" b="b" t="t" l="l"/>
              <a:pathLst>
                <a:path h="1353312" w="5303520">
                  <a:moveTo>
                    <a:pt x="0" y="0"/>
                  </a:moveTo>
                  <a:lnTo>
                    <a:pt x="5303520" y="0"/>
                  </a:lnTo>
                  <a:lnTo>
                    <a:pt x="5303520" y="1353312"/>
                  </a:lnTo>
                  <a:lnTo>
                    <a:pt x="0" y="1353312"/>
                  </a:lnTo>
                  <a:close/>
                </a:path>
              </a:pathLst>
            </a:custGeom>
            <a:blipFill>
              <a:blip r:embed="rId3">
                <a:alphaModFix amt="0"/>
              </a:blip>
              <a:stretch>
                <a:fillRect l="0" t="-26360" r="0" b="-26360"/>
              </a:stretch>
            </a:blipFill>
          </p:spPr>
        </p:sp>
        <p:sp>
          <p:nvSpPr>
            <p:cNvPr name="TextBox 73" id="73"/>
            <p:cNvSpPr txBox="true"/>
            <p:nvPr/>
          </p:nvSpPr>
          <p:spPr>
            <a:xfrm>
              <a:off x="0" y="-66675"/>
              <a:ext cx="5303520" cy="1419987"/>
            </a:xfrm>
            <a:prstGeom prst="rect">
              <a:avLst/>
            </a:prstGeom>
          </p:spPr>
          <p:txBody>
            <a:bodyPr anchor="ctr" rtlCol="false" tIns="0" lIns="0" bIns="0" rIns="0"/>
            <a:lstStyle/>
            <a:p>
              <a:pPr algn="l">
                <a:lnSpc>
                  <a:spcPts val="3779"/>
                </a:lnSpc>
              </a:pPr>
              <a:r>
                <a:rPr lang="en-US" sz="3150">
                  <a:solidFill>
                    <a:srgbClr val="51636A"/>
                  </a:solidFill>
                  <a:latin typeface="Calibri (MS)"/>
                  <a:ea typeface="Calibri (MS)"/>
                  <a:cs typeface="Calibri (MS)"/>
                  <a:sym typeface="Calibri (MS)"/>
                </a:rPr>
                <a:t>Generate concrete</a:t>
              </a:r>
            </a:p>
            <a:p>
              <a:pPr algn="l">
                <a:lnSpc>
                  <a:spcPts val="3779"/>
                </a:lnSpc>
              </a:pPr>
              <a:r>
                <a:rPr lang="en-US" sz="3150">
                  <a:solidFill>
                    <a:srgbClr val="51636A"/>
                  </a:solidFill>
                  <a:latin typeface="Calibri (MS)"/>
                  <a:ea typeface="Calibri (MS)"/>
                  <a:cs typeface="Calibri (MS)"/>
                  <a:sym typeface="Calibri (MS)"/>
                </a:rPr>
                <a:t>preventive actions.</a:t>
              </a:r>
            </a:p>
          </p:txBody>
        </p:sp>
      </p:grpSp>
      <p:grpSp>
        <p:nvGrpSpPr>
          <p:cNvPr name="Group 74" id="74"/>
          <p:cNvGrpSpPr/>
          <p:nvPr/>
        </p:nvGrpSpPr>
        <p:grpSpPr>
          <a:xfrm rot="0">
            <a:off x="815340" y="7508748"/>
            <a:ext cx="7421880" cy="934212"/>
            <a:chOff x="0" y="0"/>
            <a:chExt cx="9895840" cy="1245616"/>
          </a:xfrm>
        </p:grpSpPr>
        <p:sp>
          <p:nvSpPr>
            <p:cNvPr name="Freeform 75" id="75"/>
            <p:cNvSpPr/>
            <p:nvPr/>
          </p:nvSpPr>
          <p:spPr>
            <a:xfrm flipH="false" flipV="false" rot="0">
              <a:off x="0" y="0"/>
              <a:ext cx="9895840" cy="1245616"/>
            </a:xfrm>
            <a:custGeom>
              <a:avLst/>
              <a:gdLst/>
              <a:ahLst/>
              <a:cxnLst/>
              <a:rect r="r" b="b" t="t" l="l"/>
              <a:pathLst>
                <a:path h="1245616" w="9895840">
                  <a:moveTo>
                    <a:pt x="0" y="0"/>
                  </a:moveTo>
                  <a:lnTo>
                    <a:pt x="9895840" y="0"/>
                  </a:lnTo>
                  <a:lnTo>
                    <a:pt x="9895840" y="1245616"/>
                  </a:lnTo>
                  <a:lnTo>
                    <a:pt x="0" y="1245616"/>
                  </a:lnTo>
                  <a:close/>
                </a:path>
              </a:pathLst>
            </a:custGeom>
            <a:solidFill>
              <a:srgbClr val="202C30"/>
            </a:solidFill>
            <a:ln w="15240" cap="sq">
              <a:solidFill>
                <a:srgbClr val="202C30"/>
              </a:solidFill>
              <a:prstDash val="solid"/>
              <a:miter/>
            </a:ln>
          </p:spPr>
        </p:sp>
      </p:grpSp>
      <p:grpSp>
        <p:nvGrpSpPr>
          <p:cNvPr name="Group 76" id="76"/>
          <p:cNvGrpSpPr/>
          <p:nvPr/>
        </p:nvGrpSpPr>
        <p:grpSpPr>
          <a:xfrm rot="0">
            <a:off x="1165860" y="7626096"/>
            <a:ext cx="6720840" cy="548640"/>
            <a:chOff x="0" y="0"/>
            <a:chExt cx="8961120" cy="731520"/>
          </a:xfrm>
        </p:grpSpPr>
        <p:sp>
          <p:nvSpPr>
            <p:cNvPr name="Freeform 77" id="77"/>
            <p:cNvSpPr/>
            <p:nvPr/>
          </p:nvSpPr>
          <p:spPr>
            <a:xfrm flipH="false" flipV="false" rot="0">
              <a:off x="0" y="0"/>
              <a:ext cx="8961120" cy="731520"/>
            </a:xfrm>
            <a:custGeom>
              <a:avLst/>
              <a:gdLst/>
              <a:ahLst/>
              <a:cxnLst/>
              <a:rect r="r" b="b" t="t" l="l"/>
              <a:pathLst>
                <a:path h="731520" w="8961120">
                  <a:moveTo>
                    <a:pt x="0" y="0"/>
                  </a:moveTo>
                  <a:lnTo>
                    <a:pt x="8961120" y="0"/>
                  </a:lnTo>
                  <a:lnTo>
                    <a:pt x="8961120" y="731520"/>
                  </a:lnTo>
                  <a:lnTo>
                    <a:pt x="0" y="731520"/>
                  </a:lnTo>
                  <a:close/>
                </a:path>
              </a:pathLst>
            </a:custGeom>
            <a:blipFill>
              <a:blip r:embed="rId3">
                <a:alphaModFix amt="0"/>
              </a:blip>
              <a:stretch>
                <a:fillRect l="0" t="-188691" r="0" b="-188691"/>
              </a:stretch>
            </a:blipFill>
          </p:spPr>
        </p:sp>
        <p:sp>
          <p:nvSpPr>
            <p:cNvPr name="TextBox 78" id="78"/>
            <p:cNvSpPr txBox="true"/>
            <p:nvPr/>
          </p:nvSpPr>
          <p:spPr>
            <a:xfrm>
              <a:off x="0" y="-9525"/>
              <a:ext cx="8961120" cy="741045"/>
            </a:xfrm>
            <a:prstGeom prst="rect">
              <a:avLst/>
            </a:prstGeom>
          </p:spPr>
          <p:txBody>
            <a:bodyPr anchor="ctr" rtlCol="false" tIns="0" lIns="0" bIns="0" rIns="0"/>
            <a:lstStyle/>
            <a:p>
              <a:pPr algn="l">
                <a:lnSpc>
                  <a:spcPts val="4500"/>
                </a:lnSpc>
              </a:pPr>
              <a:r>
                <a:rPr lang="en-US" sz="3750" b="true">
                  <a:solidFill>
                    <a:srgbClr val="FFFFFF"/>
                  </a:solidFill>
                  <a:latin typeface="Trebuchet MS Bold"/>
                  <a:ea typeface="Trebuchet MS Bold"/>
                  <a:cs typeface="Trebuchet MS Bold"/>
                  <a:sym typeface="Trebuchet MS Bold"/>
                </a:rPr>
                <a:t>Human decision</a:t>
              </a:r>
            </a:p>
          </p:txBody>
        </p:sp>
      </p:grpSp>
      <p:sp>
        <p:nvSpPr>
          <p:cNvPr name="AutoShape 79" id="79"/>
          <p:cNvSpPr/>
          <p:nvPr/>
        </p:nvSpPr>
        <p:spPr>
          <a:xfrm rot="87240">
            <a:off x="8599180" y="7986903"/>
            <a:ext cx="1126217" cy="0"/>
          </a:xfrm>
          <a:prstGeom prst="line">
            <a:avLst/>
          </a:prstGeom>
          <a:ln cap="rnd" w="19050">
            <a:solidFill>
              <a:srgbClr val="087E83"/>
            </a:solidFill>
            <a:prstDash val="solid"/>
            <a:headEnd type="none" len="sm" w="sm"/>
            <a:tailEnd type="triangle" len="med" w="lg"/>
          </a:ln>
        </p:spPr>
      </p:sp>
      <p:grpSp>
        <p:nvGrpSpPr>
          <p:cNvPr name="Group 80" id="80"/>
          <p:cNvGrpSpPr/>
          <p:nvPr/>
        </p:nvGrpSpPr>
        <p:grpSpPr>
          <a:xfrm rot="0">
            <a:off x="10012680" y="7584948"/>
            <a:ext cx="7406640" cy="781812"/>
            <a:chOff x="0" y="0"/>
            <a:chExt cx="9875520" cy="1042416"/>
          </a:xfrm>
        </p:grpSpPr>
        <p:sp>
          <p:nvSpPr>
            <p:cNvPr name="Freeform 81" id="81"/>
            <p:cNvSpPr/>
            <p:nvPr/>
          </p:nvSpPr>
          <p:spPr>
            <a:xfrm flipH="false" flipV="false" rot="0">
              <a:off x="0" y="0"/>
              <a:ext cx="9875520" cy="1042416"/>
            </a:xfrm>
            <a:custGeom>
              <a:avLst/>
              <a:gdLst/>
              <a:ahLst/>
              <a:cxnLst/>
              <a:rect r="r" b="b" t="t" l="l"/>
              <a:pathLst>
                <a:path h="1042416" w="9875520">
                  <a:moveTo>
                    <a:pt x="0" y="0"/>
                  </a:moveTo>
                  <a:lnTo>
                    <a:pt x="9875520" y="0"/>
                  </a:lnTo>
                  <a:lnTo>
                    <a:pt x="9875520" y="1042416"/>
                  </a:lnTo>
                  <a:lnTo>
                    <a:pt x="0" y="1042416"/>
                  </a:lnTo>
                  <a:close/>
                </a:path>
              </a:pathLst>
            </a:custGeom>
            <a:blipFill>
              <a:blip r:embed="rId3">
                <a:alphaModFix amt="0"/>
              </a:blip>
              <a:stretch>
                <a:fillRect l="0" t="-134595" r="0" b="-134595"/>
              </a:stretch>
            </a:blipFill>
          </p:spPr>
        </p:sp>
        <p:sp>
          <p:nvSpPr>
            <p:cNvPr name="TextBox 82" id="82"/>
            <p:cNvSpPr txBox="true"/>
            <p:nvPr/>
          </p:nvSpPr>
          <p:spPr>
            <a:xfrm>
              <a:off x="0" y="-19050"/>
              <a:ext cx="9875520" cy="1061466"/>
            </a:xfrm>
            <a:prstGeom prst="rect">
              <a:avLst/>
            </a:prstGeom>
          </p:spPr>
          <p:txBody>
            <a:bodyPr anchor="ctr" rtlCol="false" tIns="0" lIns="0" bIns="0" rIns="0"/>
            <a:lstStyle/>
            <a:p>
              <a:pPr algn="l">
                <a:lnSpc>
                  <a:spcPts val="4320"/>
                </a:lnSpc>
              </a:pPr>
              <a:r>
                <a:rPr lang="en-US" sz="3600" b="true">
                  <a:solidFill>
                    <a:srgbClr val="087E83"/>
                  </a:solidFill>
                  <a:latin typeface="Trebuchet MS Bold"/>
                  <a:ea typeface="Trebuchet MS Bold"/>
                  <a:cs typeface="Trebuchet MS Bold"/>
                  <a:sym typeface="Trebuchet MS Bold"/>
                </a:rPr>
                <a:t>Better Operational Visibility</a:t>
              </a:r>
            </a:p>
          </p:txBody>
        </p:sp>
      </p:grpSp>
      <p:grpSp>
        <p:nvGrpSpPr>
          <p:cNvPr name="Group 83" id="83"/>
          <p:cNvGrpSpPr/>
          <p:nvPr/>
        </p:nvGrpSpPr>
        <p:grpSpPr>
          <a:xfrm rot="0">
            <a:off x="822960" y="8641080"/>
            <a:ext cx="16596360" cy="384048"/>
            <a:chOff x="0" y="0"/>
            <a:chExt cx="22128480" cy="512064"/>
          </a:xfrm>
        </p:grpSpPr>
        <p:sp>
          <p:nvSpPr>
            <p:cNvPr name="Freeform 84" id="84"/>
            <p:cNvSpPr/>
            <p:nvPr/>
          </p:nvSpPr>
          <p:spPr>
            <a:xfrm flipH="false" flipV="false" rot="0">
              <a:off x="0" y="0"/>
              <a:ext cx="22128480" cy="512064"/>
            </a:xfrm>
            <a:custGeom>
              <a:avLst/>
              <a:gdLst/>
              <a:ahLst/>
              <a:cxnLst/>
              <a:rect r="r" b="b" t="t" l="l"/>
              <a:pathLst>
                <a:path h="512064" w="22128480">
                  <a:moveTo>
                    <a:pt x="0" y="0"/>
                  </a:moveTo>
                  <a:lnTo>
                    <a:pt x="22128480" y="0"/>
                  </a:lnTo>
                  <a:lnTo>
                    <a:pt x="22128480" y="512064"/>
                  </a:lnTo>
                  <a:lnTo>
                    <a:pt x="0" y="512064"/>
                  </a:lnTo>
                  <a:close/>
                </a:path>
              </a:pathLst>
            </a:custGeom>
            <a:blipFill>
              <a:blip r:embed="rId3">
                <a:alphaModFix amt="0"/>
              </a:blip>
              <a:stretch>
                <a:fillRect l="0" t="-792032" r="0" b="-792032"/>
              </a:stretch>
            </a:blipFill>
          </p:spPr>
        </p:sp>
        <p:sp>
          <p:nvSpPr>
            <p:cNvPr name="TextBox 85" id="85"/>
            <p:cNvSpPr txBox="true"/>
            <p:nvPr/>
          </p:nvSpPr>
          <p:spPr>
            <a:xfrm>
              <a:off x="0" y="-9525"/>
              <a:ext cx="22128480" cy="521589"/>
            </a:xfrm>
            <a:prstGeom prst="rect">
              <a:avLst/>
            </a:prstGeom>
          </p:spPr>
          <p:txBody>
            <a:bodyPr anchor="ctr" rtlCol="false" tIns="0" lIns="0" bIns="0" rIns="0"/>
            <a:lstStyle/>
            <a:p>
              <a:pPr algn="l">
                <a:lnSpc>
                  <a:spcPts val="3240"/>
                </a:lnSpc>
              </a:pPr>
              <a:r>
                <a:rPr lang="en-US" sz="2700" b="true">
                  <a:solidFill>
                    <a:srgbClr val="087E83"/>
                  </a:solidFill>
                  <a:latin typeface="Trebuchet MS Bold"/>
                  <a:ea typeface="Trebuchet MS Bold"/>
                  <a:cs typeface="Trebuchet MS Bold"/>
                  <a:sym typeface="Trebuchet MS Bold"/>
                </a:rPr>
                <a:t>Orbi recommends. Humans decide.</a:t>
              </a:r>
            </a:p>
          </p:txBody>
        </p:sp>
      </p:grpSp>
      <p:grpSp>
        <p:nvGrpSpPr>
          <p:cNvPr name="Group 86" id="86"/>
          <p:cNvGrpSpPr/>
          <p:nvPr/>
        </p:nvGrpSpPr>
        <p:grpSpPr>
          <a:xfrm rot="0">
            <a:off x="822960" y="9162288"/>
            <a:ext cx="16596360" cy="329184"/>
            <a:chOff x="0" y="0"/>
            <a:chExt cx="22128480" cy="438912"/>
          </a:xfrm>
        </p:grpSpPr>
        <p:sp>
          <p:nvSpPr>
            <p:cNvPr name="Freeform 87" id="87"/>
            <p:cNvSpPr/>
            <p:nvPr/>
          </p:nvSpPr>
          <p:spPr>
            <a:xfrm flipH="false" flipV="false" rot="0">
              <a:off x="0" y="0"/>
              <a:ext cx="22128480" cy="438912"/>
            </a:xfrm>
            <a:custGeom>
              <a:avLst/>
              <a:gdLst/>
              <a:ahLst/>
              <a:cxnLst/>
              <a:rect r="r" b="b" t="t" l="l"/>
              <a:pathLst>
                <a:path h="438912" w="22128480">
                  <a:moveTo>
                    <a:pt x="0" y="0"/>
                  </a:moveTo>
                  <a:lnTo>
                    <a:pt x="22128480" y="0"/>
                  </a:lnTo>
                  <a:lnTo>
                    <a:pt x="22128480" y="438912"/>
                  </a:lnTo>
                  <a:lnTo>
                    <a:pt x="0" y="438912"/>
                  </a:lnTo>
                  <a:close/>
                </a:path>
              </a:pathLst>
            </a:custGeom>
            <a:blipFill>
              <a:blip r:embed="rId3">
                <a:alphaModFix amt="0"/>
              </a:blip>
              <a:stretch>
                <a:fillRect l="0" t="-932370" r="0" b="-932370"/>
              </a:stretch>
            </a:blipFill>
          </p:spPr>
        </p:sp>
        <p:sp>
          <p:nvSpPr>
            <p:cNvPr name="TextBox 88" id="88"/>
            <p:cNvSpPr txBox="true"/>
            <p:nvPr/>
          </p:nvSpPr>
          <p:spPr>
            <a:xfrm>
              <a:off x="0" y="-57150"/>
              <a:ext cx="22128480" cy="496062"/>
            </a:xfrm>
            <a:prstGeom prst="rect">
              <a:avLst/>
            </a:prstGeom>
          </p:spPr>
          <p:txBody>
            <a:bodyPr anchor="ctr" rtlCol="false" tIns="0" lIns="0" bIns="0" rIns="0"/>
            <a:lstStyle/>
            <a:p>
              <a:pPr algn="l">
                <a:lnSpc>
                  <a:spcPts val="2700"/>
                </a:lnSpc>
              </a:pPr>
              <a:r>
                <a:rPr lang="en-US" sz="2250">
                  <a:solidFill>
                    <a:srgbClr val="51636A"/>
                  </a:solidFill>
                  <a:latin typeface="Calibri (MS)"/>
                  <a:ea typeface="Calibri (MS)"/>
                  <a:cs typeface="Calibri (MS)"/>
                  <a:sym typeface="Calibri (MS)"/>
                </a:rPr>
                <a:t>No automatic ordering, cancellations or customer contact. Orbi flags insufficient data and discrepancies.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02C30"/>
        </a:solidFill>
      </p:bgPr>
    </p:bg>
    <p:spTree>
      <p:nvGrpSpPr>
        <p:cNvPr id="1" name=""/>
        <p:cNvGrpSpPr/>
        <p:nvPr/>
      </p:nvGrpSpPr>
      <p:grpSpPr>
        <a:xfrm>
          <a:off x="0" y="0"/>
          <a:ext cx="0" cy="0"/>
          <a:chOff x="0" y="0"/>
          <a:chExt cx="0" cy="0"/>
        </a:xfrm>
      </p:grpSpPr>
      <p:grpSp>
        <p:nvGrpSpPr>
          <p:cNvPr name="Group 2" id="2"/>
          <p:cNvGrpSpPr/>
          <p:nvPr/>
        </p:nvGrpSpPr>
        <p:grpSpPr>
          <a:xfrm rot="0">
            <a:off x="822960" y="370332"/>
            <a:ext cx="1371600" cy="411480"/>
            <a:chOff x="0" y="0"/>
            <a:chExt cx="1828800" cy="548640"/>
          </a:xfrm>
        </p:grpSpPr>
        <p:sp>
          <p:nvSpPr>
            <p:cNvPr name="Freeform 3" id="3"/>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4" id="4"/>
            <p:cNvSpPr txBox="true"/>
            <p:nvPr/>
          </p:nvSpPr>
          <p:spPr>
            <a:xfrm>
              <a:off x="0" y="-19050"/>
              <a:ext cx="1828800" cy="567690"/>
            </a:xfrm>
            <a:prstGeom prst="rect">
              <a:avLst/>
            </a:prstGeom>
          </p:spPr>
          <p:txBody>
            <a:bodyPr anchor="ctr" rtlCol="false" tIns="0" lIns="0" bIns="0" rIns="0"/>
            <a:lstStyle/>
            <a:p>
              <a:pPr algn="l">
                <a:lnSpc>
                  <a:spcPts val="2700"/>
                </a:lnSpc>
              </a:pPr>
              <a:r>
                <a:rPr lang="en-US" sz="2250" b="true">
                  <a:solidFill>
                    <a:srgbClr val="CFE8E3"/>
                  </a:solidFill>
                  <a:latin typeface="Trebuchet MS Bold"/>
                  <a:ea typeface="Trebuchet MS Bold"/>
                  <a:cs typeface="Trebuchet MS Bold"/>
                  <a:sym typeface="Trebuchet MS Bold"/>
                </a:rPr>
                <a:t>ORBI</a:t>
              </a:r>
            </a:p>
          </p:txBody>
        </p:sp>
      </p:grpSp>
      <p:grpSp>
        <p:nvGrpSpPr>
          <p:cNvPr name="Group 5" id="5"/>
          <p:cNvGrpSpPr/>
          <p:nvPr/>
        </p:nvGrpSpPr>
        <p:grpSpPr>
          <a:xfrm rot="0">
            <a:off x="2263140" y="370332"/>
            <a:ext cx="13716000" cy="411480"/>
            <a:chOff x="0" y="0"/>
            <a:chExt cx="18288000" cy="548640"/>
          </a:xfrm>
        </p:grpSpPr>
        <p:sp>
          <p:nvSpPr>
            <p:cNvPr name="Freeform 6" id="6"/>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7" id="7"/>
            <p:cNvSpPr txBox="true"/>
            <p:nvPr/>
          </p:nvSpPr>
          <p:spPr>
            <a:xfrm>
              <a:off x="0" y="-47625"/>
              <a:ext cx="18288000" cy="596265"/>
            </a:xfrm>
            <a:prstGeom prst="rect">
              <a:avLst/>
            </a:prstGeom>
          </p:spPr>
          <p:txBody>
            <a:bodyPr anchor="ctr" rtlCol="false" tIns="0" lIns="0" bIns="0" rIns="0"/>
            <a:lstStyle/>
            <a:p>
              <a:pPr algn="l">
                <a:lnSpc>
                  <a:spcPts val="2340"/>
                </a:lnSpc>
              </a:pPr>
              <a:r>
                <a:rPr lang="en-US" sz="1950">
                  <a:solidFill>
                    <a:srgbClr val="B9CED1"/>
                  </a:solidFill>
                  <a:latin typeface="Calibri (MS)"/>
                  <a:ea typeface="Calibri (MS)"/>
                  <a:cs typeface="Calibri (MS)"/>
                  <a:sym typeface="Calibri (MS)"/>
                </a:rPr>
                <a:t>CLOSING</a:t>
              </a:r>
            </a:p>
          </p:txBody>
        </p:sp>
      </p:grpSp>
      <p:sp>
        <p:nvSpPr>
          <p:cNvPr name="AutoShape 8" id="8"/>
          <p:cNvSpPr/>
          <p:nvPr/>
        </p:nvSpPr>
        <p:spPr>
          <a:xfrm rot="5880">
            <a:off x="808663" y="9632823"/>
            <a:ext cx="16624964" cy="0"/>
          </a:xfrm>
          <a:prstGeom prst="line">
            <a:avLst/>
          </a:prstGeom>
          <a:ln cap="rnd" w="19050">
            <a:solidFill>
              <a:srgbClr val="46565B"/>
            </a:solidFill>
            <a:prstDash val="solid"/>
            <a:headEnd type="none" len="sm" w="sm"/>
            <a:tailEnd type="none" len="sm" w="sm"/>
          </a:ln>
        </p:spPr>
      </p:sp>
      <p:grpSp>
        <p:nvGrpSpPr>
          <p:cNvPr name="Group 9" id="9"/>
          <p:cNvGrpSpPr/>
          <p:nvPr/>
        </p:nvGrpSpPr>
        <p:grpSpPr>
          <a:xfrm rot="0">
            <a:off x="822960" y="9779508"/>
            <a:ext cx="12344400" cy="274320"/>
            <a:chOff x="0" y="0"/>
            <a:chExt cx="16459200" cy="365760"/>
          </a:xfrm>
        </p:grpSpPr>
        <p:sp>
          <p:nvSpPr>
            <p:cNvPr name="Freeform 10" id="10"/>
            <p:cNvSpPr/>
            <p:nvPr/>
          </p:nvSpPr>
          <p:spPr>
            <a:xfrm flipH="false" flipV="false" rot="0">
              <a:off x="0" y="0"/>
              <a:ext cx="16459200" cy="365760"/>
            </a:xfrm>
            <a:custGeom>
              <a:avLst/>
              <a:gdLst/>
              <a:ahLst/>
              <a:cxnLst/>
              <a:rect r="r" b="b" t="t" l="l"/>
              <a:pathLst>
                <a:path h="365760" w="16459200">
                  <a:moveTo>
                    <a:pt x="0" y="0"/>
                  </a:moveTo>
                  <a:lnTo>
                    <a:pt x="16459200" y="0"/>
                  </a:lnTo>
                  <a:lnTo>
                    <a:pt x="16459200" y="365760"/>
                  </a:lnTo>
                  <a:lnTo>
                    <a:pt x="0" y="365760"/>
                  </a:lnTo>
                  <a:close/>
                </a:path>
              </a:pathLst>
            </a:custGeom>
            <a:blipFill>
              <a:blip r:embed="rId3">
                <a:alphaModFix amt="0"/>
              </a:blip>
              <a:stretch>
                <a:fillRect l="0" t="-826826" r="0" b="-826826"/>
              </a:stretch>
            </a:blipFill>
          </p:spPr>
        </p:sp>
        <p:sp>
          <p:nvSpPr>
            <p:cNvPr name="TextBox 11" id="11"/>
            <p:cNvSpPr txBox="true"/>
            <p:nvPr/>
          </p:nvSpPr>
          <p:spPr>
            <a:xfrm>
              <a:off x="0" y="-28575"/>
              <a:ext cx="16459200" cy="394335"/>
            </a:xfrm>
            <a:prstGeom prst="rect">
              <a:avLst/>
            </a:prstGeom>
          </p:spPr>
          <p:txBody>
            <a:bodyPr anchor="ctr" rtlCol="false" tIns="0" lIns="0" bIns="0" rIns="0"/>
            <a:lstStyle/>
            <a:p>
              <a:pPr algn="l">
                <a:lnSpc>
                  <a:spcPts val="1980"/>
                </a:lnSpc>
              </a:pPr>
              <a:r>
                <a:rPr lang="en-US" sz="1650">
                  <a:solidFill>
                    <a:srgbClr val="B9CED1"/>
                  </a:solidFill>
                  <a:latin typeface="Calibri (MS)"/>
                  <a:ea typeface="Calibri (MS)"/>
                  <a:cs typeface="Calibri (MS)"/>
                  <a:sym typeface="Calibri (MS)"/>
                </a:rPr>
                <a:t>Operations risk intelligence for retail SMEs</a:t>
              </a:r>
            </a:p>
          </p:txBody>
        </p:sp>
      </p:grpSp>
      <p:grpSp>
        <p:nvGrpSpPr>
          <p:cNvPr name="Group 12" id="12"/>
          <p:cNvGrpSpPr/>
          <p:nvPr/>
        </p:nvGrpSpPr>
        <p:grpSpPr>
          <a:xfrm rot="0">
            <a:off x="15979140" y="9752076"/>
            <a:ext cx="1440180" cy="342900"/>
            <a:chOff x="0" y="0"/>
            <a:chExt cx="1920240" cy="457200"/>
          </a:xfrm>
        </p:grpSpPr>
        <p:sp>
          <p:nvSpPr>
            <p:cNvPr name="Freeform 13" id="13"/>
            <p:cNvSpPr/>
            <p:nvPr/>
          </p:nvSpPr>
          <p:spPr>
            <a:xfrm flipH="false" flipV="false" rot="0">
              <a:off x="0" y="0"/>
              <a:ext cx="1920240" cy="457200"/>
            </a:xfrm>
            <a:custGeom>
              <a:avLst/>
              <a:gdLst/>
              <a:ahLst/>
              <a:cxnLst/>
              <a:rect r="r" b="b" t="t" l="l"/>
              <a:pathLst>
                <a:path h="457200" w="1920240">
                  <a:moveTo>
                    <a:pt x="0" y="0"/>
                  </a:moveTo>
                  <a:lnTo>
                    <a:pt x="1920240" y="0"/>
                  </a:lnTo>
                  <a:lnTo>
                    <a:pt x="1920240" y="457200"/>
                  </a:lnTo>
                  <a:lnTo>
                    <a:pt x="0" y="457200"/>
                  </a:lnTo>
                  <a:close/>
                </a:path>
              </a:pathLst>
            </a:custGeom>
            <a:blipFill>
              <a:blip r:embed="rId3">
                <a:alphaModFix amt="0"/>
              </a:blip>
              <a:stretch>
                <a:fillRect l="0" t="-31837" r="0" b="-31837"/>
              </a:stretch>
            </a:blipFill>
          </p:spPr>
        </p:sp>
        <p:sp>
          <p:nvSpPr>
            <p:cNvPr name="TextBox 14" id="14"/>
            <p:cNvSpPr txBox="true"/>
            <p:nvPr/>
          </p:nvSpPr>
          <p:spPr>
            <a:xfrm>
              <a:off x="0" y="-38100"/>
              <a:ext cx="1920240" cy="495300"/>
            </a:xfrm>
            <a:prstGeom prst="rect">
              <a:avLst/>
            </a:prstGeom>
          </p:spPr>
          <p:txBody>
            <a:bodyPr anchor="ctr" rtlCol="false" tIns="0" lIns="0" bIns="0" rIns="0"/>
            <a:lstStyle/>
            <a:p>
              <a:pPr algn="r">
                <a:lnSpc>
                  <a:spcPts val="2160"/>
                </a:lnSpc>
              </a:pPr>
              <a:r>
                <a:rPr lang="en-US" sz="1800">
                  <a:solidFill>
                    <a:srgbClr val="B9CED1"/>
                  </a:solidFill>
                  <a:latin typeface="Calibri (MS)"/>
                  <a:ea typeface="Calibri (MS)"/>
                  <a:cs typeface="Calibri (MS)"/>
                  <a:sym typeface="Calibri (MS)"/>
                </a:rPr>
                <a:t>08 / 08</a:t>
              </a:r>
            </a:p>
          </p:txBody>
        </p:sp>
      </p:grpSp>
      <p:grpSp>
        <p:nvGrpSpPr>
          <p:cNvPr name="Group 15" id="15"/>
          <p:cNvGrpSpPr/>
          <p:nvPr/>
        </p:nvGrpSpPr>
        <p:grpSpPr>
          <a:xfrm rot="0">
            <a:off x="891540" y="1508760"/>
            <a:ext cx="16322040" cy="2057400"/>
            <a:chOff x="0" y="0"/>
            <a:chExt cx="21762720" cy="2743200"/>
          </a:xfrm>
        </p:grpSpPr>
        <p:sp>
          <p:nvSpPr>
            <p:cNvPr name="Freeform 16" id="16"/>
            <p:cNvSpPr/>
            <p:nvPr/>
          </p:nvSpPr>
          <p:spPr>
            <a:xfrm flipH="false" flipV="false" rot="0">
              <a:off x="0" y="0"/>
              <a:ext cx="21762720" cy="2743200"/>
            </a:xfrm>
            <a:custGeom>
              <a:avLst/>
              <a:gdLst/>
              <a:ahLst/>
              <a:cxnLst/>
              <a:rect r="r" b="b" t="t" l="l"/>
              <a:pathLst>
                <a:path h="2743200" w="21762720">
                  <a:moveTo>
                    <a:pt x="0" y="0"/>
                  </a:moveTo>
                  <a:lnTo>
                    <a:pt x="21762720" y="0"/>
                  </a:lnTo>
                  <a:lnTo>
                    <a:pt x="21762720" y="2743200"/>
                  </a:lnTo>
                  <a:lnTo>
                    <a:pt x="0" y="2743200"/>
                  </a:lnTo>
                  <a:close/>
                </a:path>
              </a:pathLst>
            </a:custGeom>
            <a:blipFill>
              <a:blip r:embed="rId3">
                <a:alphaModFix amt="0"/>
              </a:blip>
              <a:stretch>
                <a:fillRect l="0" t="-104581" r="0" b="-104581"/>
              </a:stretch>
            </a:blipFill>
          </p:spPr>
        </p:sp>
        <p:sp>
          <p:nvSpPr>
            <p:cNvPr name="TextBox 17" id="17"/>
            <p:cNvSpPr txBox="true"/>
            <p:nvPr/>
          </p:nvSpPr>
          <p:spPr>
            <a:xfrm>
              <a:off x="0" y="-9525"/>
              <a:ext cx="21762720" cy="2752725"/>
            </a:xfrm>
            <a:prstGeom prst="rect">
              <a:avLst/>
            </a:prstGeom>
          </p:spPr>
          <p:txBody>
            <a:bodyPr anchor="ctr" rtlCol="false" tIns="0" lIns="0" bIns="0" rIns="0"/>
            <a:lstStyle/>
            <a:p>
              <a:pPr algn="l">
                <a:lnSpc>
                  <a:spcPts val="8820"/>
                </a:lnSpc>
              </a:pPr>
              <a:r>
                <a:rPr lang="en-US" sz="7350" b="true">
                  <a:solidFill>
                    <a:srgbClr val="FFFFFF"/>
                  </a:solidFill>
                  <a:latin typeface="Trebuchet MS Bold"/>
                  <a:ea typeface="Trebuchet MS Bold"/>
                  <a:cs typeface="Trebuchet MS Bold"/>
                  <a:sym typeface="Trebuchet MS Bold"/>
                </a:rPr>
                <a:t>Retail SMEs don't</a:t>
              </a:r>
            </a:p>
            <a:p>
              <a:pPr algn="l">
                <a:lnSpc>
                  <a:spcPts val="8820"/>
                </a:lnSpc>
              </a:pPr>
              <a:r>
                <a:rPr lang="en-US" sz="7350" b="true">
                  <a:solidFill>
                    <a:srgbClr val="FFFFFF"/>
                  </a:solidFill>
                  <a:latin typeface="Trebuchet MS Bold"/>
                  <a:ea typeface="Trebuchet MS Bold"/>
                  <a:cs typeface="Trebuchet MS Bold"/>
                  <a:sym typeface="Trebuchet MS Bold"/>
                </a:rPr>
                <a:t>need more data.</a:t>
              </a:r>
            </a:p>
          </p:txBody>
        </p:sp>
      </p:grpSp>
      <p:grpSp>
        <p:nvGrpSpPr>
          <p:cNvPr name="Group 18" id="18"/>
          <p:cNvGrpSpPr/>
          <p:nvPr/>
        </p:nvGrpSpPr>
        <p:grpSpPr>
          <a:xfrm rot="0">
            <a:off x="891540" y="4128516"/>
            <a:ext cx="16047720" cy="1440180"/>
            <a:chOff x="0" y="0"/>
            <a:chExt cx="21396960" cy="1920240"/>
          </a:xfrm>
        </p:grpSpPr>
        <p:sp>
          <p:nvSpPr>
            <p:cNvPr name="Freeform 19" id="19"/>
            <p:cNvSpPr/>
            <p:nvPr/>
          </p:nvSpPr>
          <p:spPr>
            <a:xfrm flipH="false" flipV="false" rot="0">
              <a:off x="0" y="0"/>
              <a:ext cx="21396961" cy="1920240"/>
            </a:xfrm>
            <a:custGeom>
              <a:avLst/>
              <a:gdLst/>
              <a:ahLst/>
              <a:cxnLst/>
              <a:rect r="r" b="b" t="t" l="l"/>
              <a:pathLst>
                <a:path h="1920240" w="21396961">
                  <a:moveTo>
                    <a:pt x="0" y="0"/>
                  </a:moveTo>
                  <a:lnTo>
                    <a:pt x="21396961" y="0"/>
                  </a:lnTo>
                  <a:lnTo>
                    <a:pt x="21396961" y="1920240"/>
                  </a:lnTo>
                  <a:lnTo>
                    <a:pt x="0" y="1920240"/>
                  </a:lnTo>
                  <a:close/>
                </a:path>
              </a:pathLst>
            </a:custGeom>
            <a:blipFill>
              <a:blip r:embed="rId3">
                <a:alphaModFix amt="0"/>
              </a:blip>
              <a:stretch>
                <a:fillRect l="0" t="-167119" r="0" b="-167119"/>
              </a:stretch>
            </a:blipFill>
          </p:spPr>
        </p:sp>
        <p:sp>
          <p:nvSpPr>
            <p:cNvPr name="TextBox 20" id="20"/>
            <p:cNvSpPr txBox="true"/>
            <p:nvPr/>
          </p:nvSpPr>
          <p:spPr>
            <a:xfrm>
              <a:off x="0" y="-9525"/>
              <a:ext cx="21396960" cy="1929765"/>
            </a:xfrm>
            <a:prstGeom prst="rect">
              <a:avLst/>
            </a:prstGeom>
          </p:spPr>
          <p:txBody>
            <a:bodyPr anchor="ctr" rtlCol="false" tIns="0" lIns="0" bIns="0" rIns="0"/>
            <a:lstStyle/>
            <a:p>
              <a:pPr algn="l">
                <a:lnSpc>
                  <a:spcPts val="5759"/>
                </a:lnSpc>
              </a:pPr>
              <a:r>
                <a:rPr lang="en-US" sz="4800" b="true">
                  <a:solidFill>
                    <a:srgbClr val="CFE8E3"/>
                  </a:solidFill>
                  <a:latin typeface="Trebuchet MS Bold"/>
                  <a:ea typeface="Trebuchet MS Bold"/>
                  <a:cs typeface="Trebuchet MS Bold"/>
                  <a:sym typeface="Trebuchet MS Bold"/>
                </a:rPr>
                <a:t>They need to know what their data is telling them</a:t>
              </a:r>
            </a:p>
            <a:p>
              <a:pPr algn="l">
                <a:lnSpc>
                  <a:spcPts val="5759"/>
                </a:lnSpc>
              </a:pPr>
              <a:r>
                <a:rPr lang="en-US" sz="4800" b="true">
                  <a:solidFill>
                    <a:srgbClr val="CFE8E3"/>
                  </a:solidFill>
                  <a:latin typeface="Trebuchet MS Bold"/>
                  <a:ea typeface="Trebuchet MS Bold"/>
                  <a:cs typeface="Trebuchet MS Bold"/>
                  <a:sym typeface="Trebuchet MS Bold"/>
                </a:rPr>
                <a:t>before it's too late.</a:t>
              </a:r>
            </a:p>
          </p:txBody>
        </p:sp>
      </p:grpSp>
      <p:grpSp>
        <p:nvGrpSpPr>
          <p:cNvPr name="Group 21" id="21"/>
          <p:cNvGrpSpPr/>
          <p:nvPr/>
        </p:nvGrpSpPr>
        <p:grpSpPr>
          <a:xfrm rot="0">
            <a:off x="891540" y="6185916"/>
            <a:ext cx="16322040" cy="754380"/>
            <a:chOff x="0" y="0"/>
            <a:chExt cx="21762720" cy="1005840"/>
          </a:xfrm>
        </p:grpSpPr>
        <p:sp>
          <p:nvSpPr>
            <p:cNvPr name="Freeform 22" id="22"/>
            <p:cNvSpPr/>
            <p:nvPr/>
          </p:nvSpPr>
          <p:spPr>
            <a:xfrm flipH="false" flipV="false" rot="0">
              <a:off x="0" y="0"/>
              <a:ext cx="21762720" cy="1005840"/>
            </a:xfrm>
            <a:custGeom>
              <a:avLst/>
              <a:gdLst/>
              <a:ahLst/>
              <a:cxnLst/>
              <a:rect r="r" b="b" t="t" l="l"/>
              <a:pathLst>
                <a:path h="1005840" w="21762720">
                  <a:moveTo>
                    <a:pt x="0" y="0"/>
                  </a:moveTo>
                  <a:lnTo>
                    <a:pt x="21762720" y="0"/>
                  </a:lnTo>
                  <a:lnTo>
                    <a:pt x="21762720" y="1005840"/>
                  </a:lnTo>
                  <a:lnTo>
                    <a:pt x="0" y="1005840"/>
                  </a:lnTo>
                  <a:close/>
                </a:path>
              </a:pathLst>
            </a:custGeom>
            <a:blipFill>
              <a:blip r:embed="rId3">
                <a:alphaModFix amt="0"/>
              </a:blip>
              <a:stretch>
                <a:fillRect l="0" t="-371585" r="0" b="-371585"/>
              </a:stretch>
            </a:blipFill>
          </p:spPr>
        </p:sp>
        <p:sp>
          <p:nvSpPr>
            <p:cNvPr name="TextBox 23" id="23"/>
            <p:cNvSpPr txBox="true"/>
            <p:nvPr/>
          </p:nvSpPr>
          <p:spPr>
            <a:xfrm>
              <a:off x="0" y="-76200"/>
              <a:ext cx="21762720" cy="1082040"/>
            </a:xfrm>
            <a:prstGeom prst="rect">
              <a:avLst/>
            </a:prstGeom>
          </p:spPr>
          <p:txBody>
            <a:bodyPr anchor="ctr" rtlCol="false" tIns="0" lIns="0" bIns="0" rIns="0"/>
            <a:lstStyle/>
            <a:p>
              <a:pPr algn="l">
                <a:lnSpc>
                  <a:spcPts val="4500"/>
                </a:lnSpc>
              </a:pPr>
              <a:r>
                <a:rPr lang="en-US" sz="3750">
                  <a:solidFill>
                    <a:srgbClr val="B9CED1"/>
                  </a:solidFill>
                  <a:latin typeface="Calibri (MS)"/>
                  <a:ea typeface="Calibri (MS)"/>
                  <a:cs typeface="Calibri (MS)"/>
                  <a:sym typeface="Calibri (MS)"/>
                </a:rPr>
                <a:t>Orbi turns scattered operational signals into prioritized actions.</a:t>
              </a:r>
            </a:p>
          </p:txBody>
        </p:sp>
      </p:grpSp>
      <p:grpSp>
        <p:nvGrpSpPr>
          <p:cNvPr name="Group 24" id="24"/>
          <p:cNvGrpSpPr/>
          <p:nvPr/>
        </p:nvGrpSpPr>
        <p:grpSpPr>
          <a:xfrm rot="0">
            <a:off x="882015" y="7808595"/>
            <a:ext cx="457962" cy="457962"/>
            <a:chOff x="0" y="0"/>
            <a:chExt cx="610616" cy="610616"/>
          </a:xfrm>
        </p:grpSpPr>
        <p:sp>
          <p:nvSpPr>
            <p:cNvPr name="Freeform 25" id="25"/>
            <p:cNvSpPr/>
            <p:nvPr/>
          </p:nvSpPr>
          <p:spPr>
            <a:xfrm flipH="false" flipV="false" rot="0">
              <a:off x="0" y="0"/>
              <a:ext cx="610616" cy="610616"/>
            </a:xfrm>
            <a:custGeom>
              <a:avLst/>
              <a:gdLst/>
              <a:ahLst/>
              <a:cxnLst/>
              <a:rect r="r" b="b" t="t" l="l"/>
              <a:pathLst>
                <a:path h="610616" w="610616">
                  <a:moveTo>
                    <a:pt x="0" y="305308"/>
                  </a:moveTo>
                  <a:cubicBezTo>
                    <a:pt x="0" y="136652"/>
                    <a:pt x="136652" y="0"/>
                    <a:pt x="305308" y="0"/>
                  </a:cubicBezTo>
                  <a:cubicBezTo>
                    <a:pt x="473964" y="0"/>
                    <a:pt x="610616" y="136652"/>
                    <a:pt x="610616" y="305308"/>
                  </a:cubicBezTo>
                  <a:cubicBezTo>
                    <a:pt x="610616" y="473964"/>
                    <a:pt x="473964" y="610616"/>
                    <a:pt x="305308" y="610616"/>
                  </a:cubicBezTo>
                  <a:cubicBezTo>
                    <a:pt x="136652" y="610616"/>
                    <a:pt x="0" y="473964"/>
                    <a:pt x="0" y="305308"/>
                  </a:cubicBezTo>
                  <a:close/>
                </a:path>
              </a:pathLst>
            </a:custGeom>
            <a:solidFill>
              <a:srgbClr val="087E83"/>
            </a:solidFill>
            <a:ln w="19050" cap="sq">
              <a:solidFill>
                <a:srgbClr val="087E83"/>
              </a:solidFill>
              <a:prstDash val="solid"/>
              <a:miter/>
            </a:ln>
          </p:spPr>
        </p:sp>
      </p:grpSp>
      <p:grpSp>
        <p:nvGrpSpPr>
          <p:cNvPr name="Group 26" id="26"/>
          <p:cNvGrpSpPr/>
          <p:nvPr/>
        </p:nvGrpSpPr>
        <p:grpSpPr>
          <a:xfrm rot="0">
            <a:off x="891540" y="7818120"/>
            <a:ext cx="438912" cy="438912"/>
            <a:chOff x="0" y="0"/>
            <a:chExt cx="585216" cy="585216"/>
          </a:xfrm>
        </p:grpSpPr>
        <p:sp>
          <p:nvSpPr>
            <p:cNvPr name="Freeform 27" id="27"/>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3">
                <a:alphaModFix amt="0"/>
              </a:blip>
              <a:stretch>
                <a:fillRect l="-78303" t="0" r="-78303" b="0"/>
              </a:stretch>
            </a:blipFill>
          </p:spPr>
        </p:sp>
        <p:sp>
          <p:nvSpPr>
            <p:cNvPr name="TextBox 28" id="28"/>
            <p:cNvSpPr txBox="true"/>
            <p:nvPr/>
          </p:nvSpPr>
          <p:spPr>
            <a:xfrm>
              <a:off x="0" y="-9525"/>
              <a:ext cx="585216" cy="594741"/>
            </a:xfrm>
            <a:prstGeom prst="rect">
              <a:avLst/>
            </a:prstGeom>
          </p:spPr>
          <p:txBody>
            <a:bodyPr anchor="ctr" rtlCol="false" tIns="0" lIns="0" bIns="0" rIns="0"/>
            <a:lstStyle/>
            <a:p>
              <a:pPr algn="ctr">
                <a:lnSpc>
                  <a:spcPts val="1980"/>
                </a:lnSpc>
              </a:pPr>
              <a:r>
                <a:rPr lang="en-US" sz="1650" b="true">
                  <a:solidFill>
                    <a:srgbClr val="FFFFFF"/>
                  </a:solidFill>
                  <a:latin typeface="Trebuchet MS Bold"/>
                  <a:ea typeface="Trebuchet MS Bold"/>
                  <a:cs typeface="Trebuchet MS Bold"/>
                  <a:sym typeface="Trebuchet MS Bold"/>
                </a:rPr>
                <a:t>01</a:t>
              </a:r>
            </a:p>
          </p:txBody>
        </p:sp>
      </p:grpSp>
      <p:grpSp>
        <p:nvGrpSpPr>
          <p:cNvPr name="Group 29" id="29"/>
          <p:cNvGrpSpPr/>
          <p:nvPr/>
        </p:nvGrpSpPr>
        <p:grpSpPr>
          <a:xfrm rot="0">
            <a:off x="891540" y="8503920"/>
            <a:ext cx="5486400" cy="617220"/>
            <a:chOff x="0" y="0"/>
            <a:chExt cx="7315200" cy="822960"/>
          </a:xfrm>
        </p:grpSpPr>
        <p:sp>
          <p:nvSpPr>
            <p:cNvPr name="Freeform 30" id="30"/>
            <p:cNvSpPr/>
            <p:nvPr/>
          </p:nvSpPr>
          <p:spPr>
            <a:xfrm flipH="false" flipV="false" rot="0">
              <a:off x="0" y="0"/>
              <a:ext cx="7315200" cy="822960"/>
            </a:xfrm>
            <a:custGeom>
              <a:avLst/>
              <a:gdLst/>
              <a:ahLst/>
              <a:cxnLst/>
              <a:rect r="r" b="b" t="t" l="l"/>
              <a:pathLst>
                <a:path h="822960" w="7315200">
                  <a:moveTo>
                    <a:pt x="0" y="0"/>
                  </a:moveTo>
                  <a:lnTo>
                    <a:pt x="7315200" y="0"/>
                  </a:lnTo>
                  <a:lnTo>
                    <a:pt x="7315200" y="822960"/>
                  </a:lnTo>
                  <a:lnTo>
                    <a:pt x="0" y="822960"/>
                  </a:lnTo>
                  <a:close/>
                </a:path>
              </a:pathLst>
            </a:custGeom>
            <a:blipFill>
              <a:blip r:embed="rId3">
                <a:alphaModFix amt="0"/>
              </a:blip>
              <a:stretch>
                <a:fillRect l="0" t="-123200" r="0" b="-123200"/>
              </a:stretch>
            </a:blipFill>
          </p:spPr>
        </p:sp>
        <p:sp>
          <p:nvSpPr>
            <p:cNvPr name="TextBox 31" id="31"/>
            <p:cNvSpPr txBox="true"/>
            <p:nvPr/>
          </p:nvSpPr>
          <p:spPr>
            <a:xfrm>
              <a:off x="0" y="-9525"/>
              <a:ext cx="7315200" cy="832485"/>
            </a:xfrm>
            <a:prstGeom prst="rect">
              <a:avLst/>
            </a:prstGeom>
          </p:spPr>
          <p:txBody>
            <a:bodyPr anchor="ctr" rtlCol="false" tIns="0" lIns="0" bIns="0" rIns="0"/>
            <a:lstStyle/>
            <a:p>
              <a:pPr algn="l">
                <a:lnSpc>
                  <a:spcPts val="4500"/>
                </a:lnSpc>
              </a:pPr>
              <a:r>
                <a:rPr lang="en-US" sz="3750" b="true">
                  <a:solidFill>
                    <a:srgbClr val="FFFFFF"/>
                  </a:solidFill>
                  <a:latin typeface="Trebuchet MS Bold"/>
                  <a:ea typeface="Trebuchet MS Bold"/>
                  <a:cs typeface="Trebuchet MS Bold"/>
                  <a:sym typeface="Trebuchet MS Bold"/>
                </a:rPr>
                <a:t>Detect earlier.</a:t>
              </a:r>
            </a:p>
          </p:txBody>
        </p:sp>
      </p:grpSp>
      <p:grpSp>
        <p:nvGrpSpPr>
          <p:cNvPr name="Group 32" id="32"/>
          <p:cNvGrpSpPr/>
          <p:nvPr/>
        </p:nvGrpSpPr>
        <p:grpSpPr>
          <a:xfrm rot="0">
            <a:off x="6505575" y="7808595"/>
            <a:ext cx="457962" cy="457962"/>
            <a:chOff x="0" y="0"/>
            <a:chExt cx="610616" cy="610616"/>
          </a:xfrm>
        </p:grpSpPr>
        <p:sp>
          <p:nvSpPr>
            <p:cNvPr name="Freeform 33" id="33"/>
            <p:cNvSpPr/>
            <p:nvPr/>
          </p:nvSpPr>
          <p:spPr>
            <a:xfrm flipH="false" flipV="false" rot="0">
              <a:off x="0" y="0"/>
              <a:ext cx="610616" cy="610616"/>
            </a:xfrm>
            <a:custGeom>
              <a:avLst/>
              <a:gdLst/>
              <a:ahLst/>
              <a:cxnLst/>
              <a:rect r="r" b="b" t="t" l="l"/>
              <a:pathLst>
                <a:path h="610616" w="610616">
                  <a:moveTo>
                    <a:pt x="0" y="305308"/>
                  </a:moveTo>
                  <a:cubicBezTo>
                    <a:pt x="0" y="136652"/>
                    <a:pt x="136652" y="0"/>
                    <a:pt x="305308" y="0"/>
                  </a:cubicBezTo>
                  <a:cubicBezTo>
                    <a:pt x="473964" y="0"/>
                    <a:pt x="610616" y="136652"/>
                    <a:pt x="610616" y="305308"/>
                  </a:cubicBezTo>
                  <a:cubicBezTo>
                    <a:pt x="610616" y="473964"/>
                    <a:pt x="473964" y="610616"/>
                    <a:pt x="305308" y="610616"/>
                  </a:cubicBezTo>
                  <a:cubicBezTo>
                    <a:pt x="136652" y="610616"/>
                    <a:pt x="0" y="473964"/>
                    <a:pt x="0" y="305308"/>
                  </a:cubicBezTo>
                  <a:close/>
                </a:path>
              </a:pathLst>
            </a:custGeom>
            <a:solidFill>
              <a:srgbClr val="087E83"/>
            </a:solidFill>
            <a:ln w="19050" cap="sq">
              <a:solidFill>
                <a:srgbClr val="087E83"/>
              </a:solidFill>
              <a:prstDash val="solid"/>
              <a:miter/>
            </a:ln>
          </p:spPr>
        </p:sp>
      </p:grpSp>
      <p:grpSp>
        <p:nvGrpSpPr>
          <p:cNvPr name="Group 34" id="34"/>
          <p:cNvGrpSpPr/>
          <p:nvPr/>
        </p:nvGrpSpPr>
        <p:grpSpPr>
          <a:xfrm rot="0">
            <a:off x="6515100" y="7818120"/>
            <a:ext cx="438912" cy="438912"/>
            <a:chOff x="0" y="0"/>
            <a:chExt cx="585216" cy="585216"/>
          </a:xfrm>
        </p:grpSpPr>
        <p:sp>
          <p:nvSpPr>
            <p:cNvPr name="Freeform 35" id="35"/>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3">
                <a:alphaModFix amt="0"/>
              </a:blip>
              <a:stretch>
                <a:fillRect l="-78303" t="0" r="-78303" b="0"/>
              </a:stretch>
            </a:blipFill>
          </p:spPr>
        </p:sp>
        <p:sp>
          <p:nvSpPr>
            <p:cNvPr name="TextBox 36" id="36"/>
            <p:cNvSpPr txBox="true"/>
            <p:nvPr/>
          </p:nvSpPr>
          <p:spPr>
            <a:xfrm>
              <a:off x="0" y="-9525"/>
              <a:ext cx="585216" cy="594741"/>
            </a:xfrm>
            <a:prstGeom prst="rect">
              <a:avLst/>
            </a:prstGeom>
          </p:spPr>
          <p:txBody>
            <a:bodyPr anchor="ctr" rtlCol="false" tIns="0" lIns="0" bIns="0" rIns="0"/>
            <a:lstStyle/>
            <a:p>
              <a:pPr algn="ctr">
                <a:lnSpc>
                  <a:spcPts val="1980"/>
                </a:lnSpc>
              </a:pPr>
              <a:r>
                <a:rPr lang="en-US" sz="1650" b="true">
                  <a:solidFill>
                    <a:srgbClr val="FFFFFF"/>
                  </a:solidFill>
                  <a:latin typeface="Trebuchet MS Bold"/>
                  <a:ea typeface="Trebuchet MS Bold"/>
                  <a:cs typeface="Trebuchet MS Bold"/>
                  <a:sym typeface="Trebuchet MS Bold"/>
                </a:rPr>
                <a:t>02</a:t>
              </a:r>
            </a:p>
          </p:txBody>
        </p:sp>
      </p:grpSp>
      <p:grpSp>
        <p:nvGrpSpPr>
          <p:cNvPr name="Group 37" id="37"/>
          <p:cNvGrpSpPr/>
          <p:nvPr/>
        </p:nvGrpSpPr>
        <p:grpSpPr>
          <a:xfrm rot="0">
            <a:off x="6515100" y="8503920"/>
            <a:ext cx="5486400" cy="617220"/>
            <a:chOff x="0" y="0"/>
            <a:chExt cx="7315200" cy="822960"/>
          </a:xfrm>
        </p:grpSpPr>
        <p:sp>
          <p:nvSpPr>
            <p:cNvPr name="Freeform 38" id="38"/>
            <p:cNvSpPr/>
            <p:nvPr/>
          </p:nvSpPr>
          <p:spPr>
            <a:xfrm flipH="false" flipV="false" rot="0">
              <a:off x="0" y="0"/>
              <a:ext cx="7315200" cy="822960"/>
            </a:xfrm>
            <a:custGeom>
              <a:avLst/>
              <a:gdLst/>
              <a:ahLst/>
              <a:cxnLst/>
              <a:rect r="r" b="b" t="t" l="l"/>
              <a:pathLst>
                <a:path h="822960" w="7315200">
                  <a:moveTo>
                    <a:pt x="0" y="0"/>
                  </a:moveTo>
                  <a:lnTo>
                    <a:pt x="7315200" y="0"/>
                  </a:lnTo>
                  <a:lnTo>
                    <a:pt x="7315200" y="822960"/>
                  </a:lnTo>
                  <a:lnTo>
                    <a:pt x="0" y="822960"/>
                  </a:lnTo>
                  <a:close/>
                </a:path>
              </a:pathLst>
            </a:custGeom>
            <a:blipFill>
              <a:blip r:embed="rId3">
                <a:alphaModFix amt="0"/>
              </a:blip>
              <a:stretch>
                <a:fillRect l="0" t="-123200" r="0" b="-123200"/>
              </a:stretch>
            </a:blipFill>
          </p:spPr>
        </p:sp>
        <p:sp>
          <p:nvSpPr>
            <p:cNvPr name="TextBox 39" id="39"/>
            <p:cNvSpPr txBox="true"/>
            <p:nvPr/>
          </p:nvSpPr>
          <p:spPr>
            <a:xfrm>
              <a:off x="0" y="-9525"/>
              <a:ext cx="7315200" cy="832485"/>
            </a:xfrm>
            <a:prstGeom prst="rect">
              <a:avLst/>
            </a:prstGeom>
          </p:spPr>
          <p:txBody>
            <a:bodyPr anchor="ctr" rtlCol="false" tIns="0" lIns="0" bIns="0" rIns="0"/>
            <a:lstStyle/>
            <a:p>
              <a:pPr algn="l">
                <a:lnSpc>
                  <a:spcPts val="4500"/>
                </a:lnSpc>
              </a:pPr>
              <a:r>
                <a:rPr lang="en-US" sz="3750" b="true">
                  <a:solidFill>
                    <a:srgbClr val="FFFFFF"/>
                  </a:solidFill>
                  <a:latin typeface="Trebuchet MS Bold"/>
                  <a:ea typeface="Trebuchet MS Bold"/>
                  <a:cs typeface="Trebuchet MS Bold"/>
                  <a:sym typeface="Trebuchet MS Bold"/>
                </a:rPr>
                <a:t>Decide faster.</a:t>
              </a:r>
            </a:p>
          </p:txBody>
        </p:sp>
      </p:grpSp>
      <p:grpSp>
        <p:nvGrpSpPr>
          <p:cNvPr name="Group 40" id="40"/>
          <p:cNvGrpSpPr/>
          <p:nvPr/>
        </p:nvGrpSpPr>
        <p:grpSpPr>
          <a:xfrm rot="0">
            <a:off x="12129135" y="7808595"/>
            <a:ext cx="457962" cy="457962"/>
            <a:chOff x="0" y="0"/>
            <a:chExt cx="610616" cy="610616"/>
          </a:xfrm>
        </p:grpSpPr>
        <p:sp>
          <p:nvSpPr>
            <p:cNvPr name="Freeform 41" id="41"/>
            <p:cNvSpPr/>
            <p:nvPr/>
          </p:nvSpPr>
          <p:spPr>
            <a:xfrm flipH="false" flipV="false" rot="0">
              <a:off x="0" y="0"/>
              <a:ext cx="610616" cy="610616"/>
            </a:xfrm>
            <a:custGeom>
              <a:avLst/>
              <a:gdLst/>
              <a:ahLst/>
              <a:cxnLst/>
              <a:rect r="r" b="b" t="t" l="l"/>
              <a:pathLst>
                <a:path h="610616" w="610616">
                  <a:moveTo>
                    <a:pt x="0" y="305308"/>
                  </a:moveTo>
                  <a:cubicBezTo>
                    <a:pt x="0" y="136652"/>
                    <a:pt x="136652" y="0"/>
                    <a:pt x="305308" y="0"/>
                  </a:cubicBezTo>
                  <a:cubicBezTo>
                    <a:pt x="473964" y="0"/>
                    <a:pt x="610616" y="136652"/>
                    <a:pt x="610616" y="305308"/>
                  </a:cubicBezTo>
                  <a:cubicBezTo>
                    <a:pt x="610616" y="473964"/>
                    <a:pt x="473964" y="610616"/>
                    <a:pt x="305308" y="610616"/>
                  </a:cubicBezTo>
                  <a:cubicBezTo>
                    <a:pt x="136652" y="610616"/>
                    <a:pt x="0" y="473964"/>
                    <a:pt x="0" y="305308"/>
                  </a:cubicBezTo>
                  <a:close/>
                </a:path>
              </a:pathLst>
            </a:custGeom>
            <a:solidFill>
              <a:srgbClr val="087E83"/>
            </a:solidFill>
            <a:ln w="19050" cap="sq">
              <a:solidFill>
                <a:srgbClr val="087E83"/>
              </a:solidFill>
              <a:prstDash val="solid"/>
              <a:miter/>
            </a:ln>
          </p:spPr>
        </p:sp>
      </p:grpSp>
      <p:grpSp>
        <p:nvGrpSpPr>
          <p:cNvPr name="Group 42" id="42"/>
          <p:cNvGrpSpPr/>
          <p:nvPr/>
        </p:nvGrpSpPr>
        <p:grpSpPr>
          <a:xfrm rot="0">
            <a:off x="12138660" y="7818120"/>
            <a:ext cx="438912" cy="438912"/>
            <a:chOff x="0" y="0"/>
            <a:chExt cx="585216" cy="585216"/>
          </a:xfrm>
        </p:grpSpPr>
        <p:sp>
          <p:nvSpPr>
            <p:cNvPr name="Freeform 43" id="43"/>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3">
                <a:alphaModFix amt="0"/>
              </a:blip>
              <a:stretch>
                <a:fillRect l="-78303" t="0" r="-78303" b="0"/>
              </a:stretch>
            </a:blipFill>
          </p:spPr>
        </p:sp>
        <p:sp>
          <p:nvSpPr>
            <p:cNvPr name="TextBox 44" id="44"/>
            <p:cNvSpPr txBox="true"/>
            <p:nvPr/>
          </p:nvSpPr>
          <p:spPr>
            <a:xfrm>
              <a:off x="0" y="-9525"/>
              <a:ext cx="585216" cy="594741"/>
            </a:xfrm>
            <a:prstGeom prst="rect">
              <a:avLst/>
            </a:prstGeom>
          </p:spPr>
          <p:txBody>
            <a:bodyPr anchor="ctr" rtlCol="false" tIns="0" lIns="0" bIns="0" rIns="0"/>
            <a:lstStyle/>
            <a:p>
              <a:pPr algn="ctr">
                <a:lnSpc>
                  <a:spcPts val="1980"/>
                </a:lnSpc>
              </a:pPr>
              <a:r>
                <a:rPr lang="en-US" sz="1650" b="true">
                  <a:solidFill>
                    <a:srgbClr val="FFFFFF"/>
                  </a:solidFill>
                  <a:latin typeface="Trebuchet MS Bold"/>
                  <a:ea typeface="Trebuchet MS Bold"/>
                  <a:cs typeface="Trebuchet MS Bold"/>
                  <a:sym typeface="Trebuchet MS Bold"/>
                </a:rPr>
                <a:t>03</a:t>
              </a:r>
            </a:p>
          </p:txBody>
        </p:sp>
      </p:grpSp>
      <p:grpSp>
        <p:nvGrpSpPr>
          <p:cNvPr name="Group 45" id="45"/>
          <p:cNvGrpSpPr/>
          <p:nvPr/>
        </p:nvGrpSpPr>
        <p:grpSpPr>
          <a:xfrm rot="0">
            <a:off x="12138660" y="8503920"/>
            <a:ext cx="5486400" cy="617220"/>
            <a:chOff x="0" y="0"/>
            <a:chExt cx="7315200" cy="822960"/>
          </a:xfrm>
        </p:grpSpPr>
        <p:sp>
          <p:nvSpPr>
            <p:cNvPr name="Freeform 46" id="46"/>
            <p:cNvSpPr/>
            <p:nvPr/>
          </p:nvSpPr>
          <p:spPr>
            <a:xfrm flipH="false" flipV="false" rot="0">
              <a:off x="0" y="0"/>
              <a:ext cx="7315200" cy="822960"/>
            </a:xfrm>
            <a:custGeom>
              <a:avLst/>
              <a:gdLst/>
              <a:ahLst/>
              <a:cxnLst/>
              <a:rect r="r" b="b" t="t" l="l"/>
              <a:pathLst>
                <a:path h="822960" w="7315200">
                  <a:moveTo>
                    <a:pt x="0" y="0"/>
                  </a:moveTo>
                  <a:lnTo>
                    <a:pt x="7315200" y="0"/>
                  </a:lnTo>
                  <a:lnTo>
                    <a:pt x="7315200" y="822960"/>
                  </a:lnTo>
                  <a:lnTo>
                    <a:pt x="0" y="822960"/>
                  </a:lnTo>
                  <a:close/>
                </a:path>
              </a:pathLst>
            </a:custGeom>
            <a:blipFill>
              <a:blip r:embed="rId3">
                <a:alphaModFix amt="0"/>
              </a:blip>
              <a:stretch>
                <a:fillRect l="0" t="-123200" r="0" b="-123200"/>
              </a:stretch>
            </a:blipFill>
          </p:spPr>
        </p:sp>
        <p:sp>
          <p:nvSpPr>
            <p:cNvPr name="TextBox 47" id="47"/>
            <p:cNvSpPr txBox="true"/>
            <p:nvPr/>
          </p:nvSpPr>
          <p:spPr>
            <a:xfrm>
              <a:off x="0" y="-9525"/>
              <a:ext cx="7315200" cy="832485"/>
            </a:xfrm>
            <a:prstGeom prst="rect">
              <a:avLst/>
            </a:prstGeom>
          </p:spPr>
          <p:txBody>
            <a:bodyPr anchor="ctr" rtlCol="false" tIns="0" lIns="0" bIns="0" rIns="0"/>
            <a:lstStyle/>
            <a:p>
              <a:pPr algn="l">
                <a:lnSpc>
                  <a:spcPts val="4500"/>
                </a:lnSpc>
              </a:pPr>
              <a:r>
                <a:rPr lang="en-US" sz="3750" b="true">
                  <a:solidFill>
                    <a:srgbClr val="FFFFFF"/>
                  </a:solidFill>
                  <a:latin typeface="Trebuchet MS Bold"/>
                  <a:ea typeface="Trebuchet MS Bold"/>
                  <a:cs typeface="Trebuchet MS Bold"/>
                  <a:sym typeface="Trebuchet MS Bold"/>
                </a:rPr>
                <a:t>Act before disruption.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DAHW82ZFCnM</dc:identifier>
  <dcterms:modified xsi:type="dcterms:W3CDTF">2011-08-01T06:04:30Z</dcterms:modified>
  <cp:revision>1</cp:revision>
  <dc:title>Orbi_Retail_SME_Risk_Analyst.pptx</dc:title>
</cp:coreProperties>
</file>